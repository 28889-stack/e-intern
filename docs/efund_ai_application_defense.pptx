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5787c5345b40ce" /><Relationship Type="http://schemas.openxmlformats.org/officeDocument/2006/relationships/extended-properties" Target="/docProps/app.xml" Id="Re0795bc340834ba6" /><Relationship Type="http://schemas.openxmlformats.org/officeDocument/2006/relationships/officeDocument" Target="/ppt/presentation.xml" Id="R037f24f47a8242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0e539b4de443d2"/>
  </p:sldMasterIdLst>
  <p:notesMasterIdLst>
    <p:notesMasterId xmlns:r="http://schemas.openxmlformats.org/officeDocument/2006/relationships" r:id="Rda2607c3b47440b8"/>
  </p:notesMasterIdLst>
  <p:sldIdLst>
    <p:sldId xmlns:r="http://schemas.openxmlformats.org/officeDocument/2006/relationships" id="256" r:id="R59a235fc0beb4e8e"/>
    <p:sldId xmlns:r="http://schemas.openxmlformats.org/officeDocument/2006/relationships" id="257" r:id="R41c7f5cf5aa844ce"/>
    <p:sldId xmlns:r="http://schemas.openxmlformats.org/officeDocument/2006/relationships" id="258" r:id="R4762bfcd59b241b5"/>
    <p:sldId xmlns:r="http://schemas.openxmlformats.org/officeDocument/2006/relationships" id="259" r:id="R9580dd5cce2949b4"/>
    <p:sldId xmlns:r="http://schemas.openxmlformats.org/officeDocument/2006/relationships" id="260" r:id="R790ea02dcb3144a3"/>
    <p:sldId xmlns:r="http://schemas.openxmlformats.org/officeDocument/2006/relationships" id="261" r:id="R9bac55fac4ea48f1"/>
    <p:sldId xmlns:r="http://schemas.openxmlformats.org/officeDocument/2006/relationships" id="262" r:id="R23ccb1cdb0f94221"/>
    <p:sldId xmlns:r="http://schemas.openxmlformats.org/officeDocument/2006/relationships" id="263" r:id="R44c59028b4b5405a"/>
    <p:sldId xmlns:r="http://schemas.openxmlformats.org/officeDocument/2006/relationships" id="264" r:id="R3308d40e7d574e3a"/>
    <p:sldId xmlns:r="http://schemas.openxmlformats.org/officeDocument/2006/relationships" id="265" r:id="R049005ca4e9a4ee8"/>
    <p:sldId xmlns:r="http://schemas.openxmlformats.org/officeDocument/2006/relationships" id="266" r:id="Rfe7c98877ca74c39"/>
    <p:sldId xmlns:r="http://schemas.openxmlformats.org/officeDocument/2006/relationships" id="267" r:id="R7a3b0572d30d4af7"/>
    <p:sldId xmlns:r="http://schemas.openxmlformats.org/officeDocument/2006/relationships" id="268" r:id="R220183b759ad4d7f"/>
    <p:sldId xmlns:r="http://schemas.openxmlformats.org/officeDocument/2006/relationships" id="269" r:id="R0ce652dd69004f18"/>
    <p:sldId xmlns:r="http://schemas.openxmlformats.org/officeDocument/2006/relationships" id="270" r:id="Reb267b4e6d9648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9b8494a5184840" /><Relationship Type="http://schemas.openxmlformats.org/officeDocument/2006/relationships/slideMaster" Target="/ppt/slideMasters/slideMaster1.xml" Id="Raa0e539b4de443d2" /><Relationship Type="http://schemas.openxmlformats.org/officeDocument/2006/relationships/notesMaster" Target="/ppt/notesMasters/notesMaster1.xml" Id="Rda2607c3b47440b8" /><Relationship Type="http://schemas.openxmlformats.org/officeDocument/2006/relationships/presProps" Target="/ppt/presProps.xml" Id="R379a5bbc97e8416a" /><Relationship Type="http://schemas.openxmlformats.org/officeDocument/2006/relationships/tableStyles" Target="/ppt/tableStyles.xml" Id="R0caab1a8fedd46ec" /><Relationship Type="http://schemas.openxmlformats.org/officeDocument/2006/relationships/slide" Target="/ppt/slides/slide1.xml" Id="R59a235fc0beb4e8e" /><Relationship Type="http://schemas.openxmlformats.org/officeDocument/2006/relationships/slide" Target="/ppt/slides/slide2.xml" Id="R41c7f5cf5aa844ce" /><Relationship Type="http://schemas.openxmlformats.org/officeDocument/2006/relationships/slide" Target="/ppt/slides/slide3.xml" Id="R4762bfcd59b241b5" /><Relationship Type="http://schemas.openxmlformats.org/officeDocument/2006/relationships/slide" Target="/ppt/slides/slide4.xml" Id="R9580dd5cce2949b4" /><Relationship Type="http://schemas.openxmlformats.org/officeDocument/2006/relationships/slide" Target="/ppt/slides/slide5.xml" Id="R790ea02dcb3144a3" /><Relationship Type="http://schemas.openxmlformats.org/officeDocument/2006/relationships/slide" Target="/ppt/slides/slide6.xml" Id="R9bac55fac4ea48f1" /><Relationship Type="http://schemas.openxmlformats.org/officeDocument/2006/relationships/slide" Target="/ppt/slides/slide7.xml" Id="R23ccb1cdb0f94221" /><Relationship Type="http://schemas.openxmlformats.org/officeDocument/2006/relationships/slide" Target="/ppt/slides/slide8.xml" Id="R44c59028b4b5405a" /><Relationship Type="http://schemas.openxmlformats.org/officeDocument/2006/relationships/slide" Target="/ppt/slides/slide9.xml" Id="R3308d40e7d574e3a" /><Relationship Type="http://schemas.openxmlformats.org/officeDocument/2006/relationships/slide" Target="/ppt/slides/slide10.xml" Id="R049005ca4e9a4ee8" /><Relationship Type="http://schemas.openxmlformats.org/officeDocument/2006/relationships/slide" Target="/ppt/slides/slide11.xml" Id="Rfe7c98877ca74c39" /><Relationship Type="http://schemas.openxmlformats.org/officeDocument/2006/relationships/slide" Target="/ppt/slides/slide12.xml" Id="R7a3b0572d30d4af7" /><Relationship Type="http://schemas.openxmlformats.org/officeDocument/2006/relationships/slide" Target="/ppt/slides/slide13.xml" Id="R220183b759ad4d7f" /><Relationship Type="http://schemas.openxmlformats.org/officeDocument/2006/relationships/slide" Target="/ppt/slides/slide14.xml" Id="R0ce652dd69004f18" /><Relationship Type="http://schemas.openxmlformats.org/officeDocument/2006/relationships/slide" Target="/ppt/slides/slide15.xml" Id="Reb267b4e6d9648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679f9650c143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de8d7a3b2b4007" /><Relationship Type="http://schemas.openxmlformats.org/officeDocument/2006/relationships/notesMaster" Target="/ppt/notesMasters/notesMaster1.xml" Id="R123f5c40720142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63c231d181448a" /><Relationship Type="http://schemas.openxmlformats.org/officeDocument/2006/relationships/notesMaster" Target="/ppt/notesMasters/notesMaster1.xml" Id="Rcb476a3d27bd4c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3cdc743a764ab3" /><Relationship Type="http://schemas.openxmlformats.org/officeDocument/2006/relationships/notesMaster" Target="/ppt/notesMasters/notesMaster1.xml" Id="R84751e8e70c642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5f2b7988c7475f" /><Relationship Type="http://schemas.openxmlformats.org/officeDocument/2006/relationships/notesMaster" Target="/ppt/notesMasters/notesMaster1.xml" Id="R657af41d964644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62c6684ec34237" /><Relationship Type="http://schemas.openxmlformats.org/officeDocument/2006/relationships/notesMaster" Target="/ppt/notesMasters/notesMaster1.xml" Id="Rdce15e8f0c0c46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54eafdf62d462c" /><Relationship Type="http://schemas.openxmlformats.org/officeDocument/2006/relationships/notesMaster" Target="/ppt/notesMasters/notesMaster1.xml" Id="Rfa774d31eb5942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9c27a23e4d4682" /><Relationship Type="http://schemas.openxmlformats.org/officeDocument/2006/relationships/notesMaster" Target="/ppt/notesMasters/notesMaster1.xml" Id="Rfa4a9397023844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767c60f1084a16" /><Relationship Type="http://schemas.openxmlformats.org/officeDocument/2006/relationships/notesMaster" Target="/ppt/notesMasters/notesMaster1.xml" Id="Rbb855c8a9ff448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b2ce6ac0ee49e9" /><Relationship Type="http://schemas.openxmlformats.org/officeDocument/2006/relationships/notesMaster" Target="/ppt/notesMasters/notesMaster1.xml" Id="R433f219fa73949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72373be10343b5" /><Relationship Type="http://schemas.openxmlformats.org/officeDocument/2006/relationships/notesMaster" Target="/ppt/notesMasters/notesMaster1.xml" Id="Reafdf83b6f6c4f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699a37e3514332" /><Relationship Type="http://schemas.openxmlformats.org/officeDocument/2006/relationships/notesMaster" Target="/ppt/notesMasters/notesMaster1.xml" Id="Rbb73287cd4b04a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49992cc2a44ff3" /><Relationship Type="http://schemas.openxmlformats.org/officeDocument/2006/relationships/notesMaster" Target="/ppt/notesMasters/notesMaster1.xml" Id="Re3650e810c8848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99ecf2563742f6" /><Relationship Type="http://schemas.openxmlformats.org/officeDocument/2006/relationships/notesMaster" Target="/ppt/notesMasters/notesMaster1.xml" Id="R09f712f76c334e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8db51873334057" /><Relationship Type="http://schemas.openxmlformats.org/officeDocument/2006/relationships/notesMaster" Target="/ppt/notesMasters/notesMaster1.xml" Id="Rca3ef38abca041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1700d7682847f5" /><Relationship Type="http://schemas.openxmlformats.org/officeDocument/2006/relationships/notesMaster" Target="/ppt/notesMasters/notesMaster1.xml" Id="R12840a76fb8646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6fdf3e46e435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490838f5b4f7a" /><Relationship Type="http://schemas.openxmlformats.org/officeDocument/2006/relationships/slideLayout" Target="/ppt/slideLayouts/slideLayout1.xml" Id="Reeb50a7c410a434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b50a7c410a4340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011abfebe43b0" /><Relationship Type="http://schemas.openxmlformats.org/officeDocument/2006/relationships/image" Target="/ppt/media/image.png" Id="R236b1420d77949df" /><Relationship Type="http://schemas.openxmlformats.org/officeDocument/2006/relationships/image" Target="/ppt/media/image2.png" Id="R77469529e82a438e" /><Relationship Type="http://schemas.openxmlformats.org/officeDocument/2006/relationships/notesSlide" Target="/ppt/notesSlides/notesSlide1.xml" Id="R59c4cf41883d4a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2cef518fb4ad0" /><Relationship Type="http://schemas.openxmlformats.org/officeDocument/2006/relationships/image" Target="/ppt/media/image2.png" Id="R6d5ab7a54fbd4c27" /><Relationship Type="http://schemas.openxmlformats.org/officeDocument/2006/relationships/notesSlide" Target="/ppt/notesSlides/notesSlide2.xml" Id="R772e5f59907e49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81c570c914fb2" /><Relationship Type="http://schemas.openxmlformats.org/officeDocument/2006/relationships/image" Target="/ppt/media/image2.png" Id="Rf68f9d9160b845b9" /><Relationship Type="http://schemas.openxmlformats.org/officeDocument/2006/relationships/notesSlide" Target="/ppt/notesSlides/notesSlide3.xml" Id="R966e6acd9ec245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26818df9744a8" /><Relationship Type="http://schemas.openxmlformats.org/officeDocument/2006/relationships/image" Target="/ppt/media/image2.png" Id="R0d6929f073e54e82" /><Relationship Type="http://schemas.openxmlformats.org/officeDocument/2006/relationships/notesSlide" Target="/ppt/notesSlides/notesSlide4.xml" Id="R097e5bd3111440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192c97da7444e" /><Relationship Type="http://schemas.openxmlformats.org/officeDocument/2006/relationships/image" Target="/ppt/media/image2.png" Id="Rd343d5fd4cb54696" /><Relationship Type="http://schemas.openxmlformats.org/officeDocument/2006/relationships/notesSlide" Target="/ppt/notesSlides/notesSlide5.xml" Id="R13210580a5d94a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a46ba394546d7" /><Relationship Type="http://schemas.openxmlformats.org/officeDocument/2006/relationships/image" Target="/ppt/media/image2.png" Id="Rb89bb9d5f9434666" /><Relationship Type="http://schemas.openxmlformats.org/officeDocument/2006/relationships/notesSlide" Target="/ppt/notesSlides/notesSlide6.xml" Id="R8fac61623eed4f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ddaa71c0845a6" /><Relationship Type="http://schemas.openxmlformats.org/officeDocument/2006/relationships/image" Target="/ppt/media/image2.png" Id="Ra3a5561128f9456a" /><Relationship Type="http://schemas.openxmlformats.org/officeDocument/2006/relationships/notesSlide" Target="/ppt/notesSlides/notesSlide7.xml" Id="R6ec375dfda9a4f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4a1ce2a604e1d" /><Relationship Type="http://schemas.openxmlformats.org/officeDocument/2006/relationships/image" Target="/ppt/media/image2.png" Id="Rf9340aeec85a4100" /><Relationship Type="http://schemas.openxmlformats.org/officeDocument/2006/relationships/notesSlide" Target="/ppt/notesSlides/notesSlide8.xml" Id="R909a6e3471c245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4fe25191a41e6" /><Relationship Type="http://schemas.openxmlformats.org/officeDocument/2006/relationships/image" Target="/ppt/media/image2.png" Id="Rd7908eb8a88c419a" /><Relationship Type="http://schemas.openxmlformats.org/officeDocument/2006/relationships/notesSlide" Target="/ppt/notesSlides/notesSlide9.xml" Id="Ra699e159cb4447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8709e4aa24378" /><Relationship Type="http://schemas.openxmlformats.org/officeDocument/2006/relationships/image" Target="/ppt/media/image2.png" Id="R24dabbaf45eb4459" /><Relationship Type="http://schemas.openxmlformats.org/officeDocument/2006/relationships/notesSlide" Target="/ppt/notesSlides/notesSlide10.xml" Id="R4eedfa34717f41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d2f52a60a4ccd" /><Relationship Type="http://schemas.openxmlformats.org/officeDocument/2006/relationships/image" Target="/ppt/media/image2.png" Id="R4097e6c19b3e4c79" /><Relationship Type="http://schemas.openxmlformats.org/officeDocument/2006/relationships/notesSlide" Target="/ppt/notesSlides/notesSlide11.xml" Id="R20cf275f351447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8482f73784e76" /><Relationship Type="http://schemas.openxmlformats.org/officeDocument/2006/relationships/image" Target="/ppt/media/image2.png" Id="R1a1bd75011884ff1" /><Relationship Type="http://schemas.openxmlformats.org/officeDocument/2006/relationships/notesSlide" Target="/ppt/notesSlides/notesSlide12.xml" Id="Rdf6cfba2b7d042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13348e4744749" /><Relationship Type="http://schemas.openxmlformats.org/officeDocument/2006/relationships/image" Target="/ppt/media/image2.png" Id="Rb5a0a191cd024758" /><Relationship Type="http://schemas.openxmlformats.org/officeDocument/2006/relationships/notesSlide" Target="/ppt/notesSlides/notesSlide13.xml" Id="Re2a3947870254e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b3b0f49c7436b" /><Relationship Type="http://schemas.openxmlformats.org/officeDocument/2006/relationships/image" Target="/ppt/media/image2.png" Id="R94f35bc9b7d643d8" /><Relationship Type="http://schemas.openxmlformats.org/officeDocument/2006/relationships/notesSlide" Target="/ppt/notesSlides/notesSlide14.xml" Id="R20122eaaeb8146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760c930fe4ebe" /><Relationship Type="http://schemas.openxmlformats.org/officeDocument/2006/relationships/image" Target="/ppt/media/image3.png" Id="R71b65e65bdef4115" /><Relationship Type="http://schemas.openxmlformats.org/officeDocument/2006/relationships/notesSlide" Target="/ppt/notesSlides/notesSlide15.xml" Id="R2756d4699cdc41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47A319B-2724-456F-BA2E-8BD9D877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97880"/>
            <a:ext cx="91897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1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b1420d77949df"/>
          <a:srcRect xmlns:a="http://schemas.openxmlformats.org/drawingml/2006/main" l="1222" t="0" r="1222" b="0"/>
          <a:stretch xmlns:a="http://schemas.openxmlformats.org/drawingml/2006/main"/>
        </p:blipFill>
        <p:spPr>
          <a:xfrm xmlns:a="http://schemas.openxmlformats.org/drawingml/2006/main">
            <a:off x="9189720" y="0"/>
            <a:ext cx="3001975" cy="5897880"/>
          </a:xfrm>
          <a:prstGeom xmlns:a="http://schemas.openxmlformats.org/drawingml/2006/main" prst="rect">
            <a:avLst/>
          </a:prstGeom>
        </p:spPr>
      </p:pic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69529e82a43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5897880"/>
            <a:ext cx="3001975" cy="960120"/>
          </a:xfrm>
          <a:prstGeom xmlns:a="http://schemas.openxmlformats.org/drawingml/2006/main" prst="rect">
            <a:avLst/>
          </a:prstGeom>
        </p:spPr>
      </p:pic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4E24BA2F-4838-4F20-A42B-CDAEE185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66751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基金公司员工证券投资申报复核系统</a:t>
            </a:r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E08C98A-2C0B-4069-9234-5C542F65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57400"/>
            <a:ext cx="6949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00669A"/>
                </a:solidFill>
                <a:latin typeface="Microsoft YaHei"/>
                <a:ea typeface="Microsoft YaHei"/>
                <a:cs typeface="Microsoft YaHei"/>
              </a:rPr>
              <a:t>AI 应用岗位答辩：从合规材料复核到可信 AI 工作流</a:t>
            </a: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551DF156-7F50-420E-A034-760E3FEE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46120"/>
            <a:ext cx="38404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候选人：董雨舒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项目定位：MVP 原型 / 本地化演示 / 可复核输出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29EF436-79AF-4931-B5CB-64FBEC22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50992"/>
            <a:ext cx="3931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0669A"/>
                </a:solidFill>
                <a:latin typeface="Microsoft YaHei"/>
                <a:ea typeface="Microsoft YaHei"/>
                <a:cs typeface="Microsoft YaHei"/>
              </a:rPr>
              <a:t>本材料仅用于面试交流，项目数据均为本地测试与样例输出</a:t>
            </a:r>
          </a:p>
        </p:txBody>
      </p:sp>
    </p:spTree>
    <p:extLst>
      <p:ext uri="{BB962C8B-B14F-4D97-AF65-F5344CB8AC3E}">
        <p14:creationId xmlns:p14="http://schemas.microsoft.com/office/powerpoint/2010/main" val="20472655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991E1D9-DB78-402D-9C07-9414B8DA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897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ab7a54fbd4c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0"/>
            <a:ext cx="3001975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1235197-655D-4FE7-B938-8BB87F38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8321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我承担的是 AI 应用端到端角色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E33D63-7F4E-4049-A93A-5FD16B2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11265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77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CC653F9-CB2C-40F6-A889-7ABF00D6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2103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易方达基金管理有限公司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657E441-33A4-4444-A3FB-6A7D3DD1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6565392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应用岗位答辩 | 仅供面试交流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2EC021C-0B48-45C3-B63C-AAE3E638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3200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029B878-FB30-454D-83AF-E2737F59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3840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能力定位：业务 + AI + 产品 + 工程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6DD62C5-96E0-4BAE-B8A8-F777D57F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764792"/>
            <a:ext cx="612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把复杂材料变成可复核、可导出的申报结果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3B21134-63AB-4B38-825B-D43B7E31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7373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>
            <a:solidFill>
              <a:srgbClr val="00508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业务理解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0EAEEC7-1C70-41BC-81CA-01540F48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514600"/>
            <a:ext cx="342900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监管语境 / 申报对象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CF0BB0D-772E-4F13-ABA1-9603F477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梳理中证登、券商流水、持仓、负向证明之间的业务差异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85C8C90-2C11-479B-9F72-2DC3ADE4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17373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工作流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CEAD560-43AA-4BB5-8FDB-B7C1B479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514600"/>
            <a:ext cx="342900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OCR / LLM / 规则层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E3F9481-EE7D-4902-88CA-450BE8FD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08960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设计材料分流、结构化抽取、异常池与人工复核闭环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8F9324F-BB6B-4177-8144-9E9291D1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5928"/>
            <a:ext cx="17373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产品交付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31025B0-2093-43BC-A380-0A6BAF6F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995928"/>
            <a:ext cx="342900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六 Sheet / 演示路径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F35EE55-E68F-4425-B6D6-EB8ABDDF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90288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以复核人员能用为目标，而不是只展示模型能力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7276535-280C-459D-ADAE-B80B8946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95928"/>
            <a:ext cx="17373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工程验证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FB30F5E-8657-4589-B8E8-22FFF2BF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995928"/>
            <a:ext cx="342900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测试 / 回归 / 风险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86AAA3D-2578-419F-9CD8-182A7248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90288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将复杂 case 沉淀为 63 个 unittest 和可迭代能力</a:t>
            </a:r>
          </a:p>
        </p:txBody>
      </p:sp>
    </p:spTree>
    <p:extLst>
      <p:ext uri="{BB962C8B-B14F-4D97-AF65-F5344CB8AC3E}">
        <p14:creationId xmlns:p14="http://schemas.microsoft.com/office/powerpoint/2010/main" val="2460900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DE8DCC-6DD9-4F5A-9917-1D0B80FB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897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f9d9160b845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0"/>
            <a:ext cx="3001975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8B19F65-C6A6-4113-B06B-38DF61A4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8321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项目价值：把“看材料”变成“看结论与证据”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234CEE8-B6BE-4C65-94BC-39AE2956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11265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77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A8154B3-8167-4709-B716-D455FEFD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2103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易方达基金管理有限公司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5A0EA0D-ED11-468E-8EFC-7D63EB7B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6565392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应用岗位答辩 | 仅供面试交流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1D3DBFA-4B45-48F3-8743-62B02359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3200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8935DCD-5FCB-46EE-898F-3AD62D51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7498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一句话结论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B01F295-7895-45A9-A75E-DD4F589B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55648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系统把员工证券投资申报复核拆成：材料识别、事件抽取、规则判断、人工确认、Excel 交付。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11B3D83-D6DC-470E-94D3-288CB9CB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57984"/>
            <a:ext cx="1463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5CF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4CA5E1B-7259-4F4A-A675-A0C66CA8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3160"/>
            <a:ext cx="141732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三段论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22757BA-F1C6-471D-8FE7-2748722D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386584"/>
            <a:ext cx="8412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真实痛点 → AI 方案 → 六 Sheet 交付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F0E3280-712D-4A55-B977-B285A32B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632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>
            <a:solidFill>
              <a:srgbClr val="00508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B2DFC3E-8EA2-4D87-82B8-A5F74687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044952"/>
            <a:ext cx="2286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真实痛点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3E77279-395C-4E02-B0A5-E124E466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44952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材料来源多、格式不统一，人工复核容易漏字段和证据链。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9EDB677-2F40-4DDA-874F-9F7960DC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22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1B8F17E-8C78-40B1-896B-DA7467D0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803904"/>
            <a:ext cx="2286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我的方案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E2043FB-A17D-4140-829C-4B6798AE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AI 做理解抽取，规则层做确定性判断，人做最终确认。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A7DA79D-0A5B-4AC3-B6C7-705A0DD8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8114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8206F66-597B-4D14-BEC5-63D45944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562856"/>
            <a:ext cx="2286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交付结果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7EBB1E4-139D-48DF-887F-90470FBE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562856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最终表、完整表、问题池、持仓、身份、checklist 六 Sheet。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DB85BF2-0EA7-4FDE-AEEB-A6399404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6712"/>
            <a:ext cx="1083564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12700">
            <a:solidFill>
              <a:srgbClr val="F0F0F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BBED767-8D29-46DA-AB40-FAF5F811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9875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证据：case_022 可跑通完整闭环，当前 63 个 unittest 通过</a:t>
            </a:r>
          </a:p>
        </p:txBody>
      </p:sp>
    </p:spTree>
    <p:extLst>
      <p:ext uri="{BB962C8B-B14F-4D97-AF65-F5344CB8AC3E}">
        <p14:creationId xmlns:p14="http://schemas.microsoft.com/office/powerpoint/2010/main" val="21111255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1C584D-0B1C-46CF-8933-1C790F0D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897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929f073e54e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0"/>
            <a:ext cx="3001975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9B99547-1990-4F75-B500-9EC52F5D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8321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从监管要求拆成系统审查点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F11E322-E494-40B9-B93F-3922D613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11265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77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897D87F-E3AD-40F8-B3DF-BE756D0D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2103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易方达基金管理有限公司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2DA7FE-4D91-467F-9A88-775CF3A4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6565392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应用岗位答辩 | 仅供面试交流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238B2B1-8327-40A6-8791-72EED552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3200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B99DA-3DFE-4A8E-B693-8A32DDC7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7498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法律/合规要求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EC49D5E-8D29-4572-9781-E73B8ECD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55648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系统化审查点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F7065B9-C5D6-405E-A57A-9BD55BF6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57984"/>
            <a:ext cx="1463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5CF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9312536-9F09-427A-AC79-09F2390E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516636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申报主体是谁：员工本人、配偶、利害关系人等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4E42ED1-0AAC-4D58-87FD-A65EB6A5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1720"/>
            <a:ext cx="516636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申报材料是否覆盖交易、持仓、账户、身份等信息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75453E3-53FA-404B-8BDD-409900E2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51663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3D8DD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FE7FEB1-1224-4622-A48E-347F5322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1821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• 特定交易是否需要进入最终申报表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D1CAF04-387E-41D6-A113-12FB93F4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3075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036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法条和制度不直接变成 prompt，而要先变成字段、规则和流程。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3CCBB77-EE09-479D-B659-DC086A53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7939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• 主体识别：身份信息 Sheet 承接申报关系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6CB5752-E969-4F62-9380-258073A9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92040"/>
            <a:ext cx="4617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DDDD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8F256AC-584F-4CA5-B9FB-EB8D80A4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4920"/>
            <a:ext cx="4389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• 交易分类：买卖、红利、利息、银行转账分流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0E9F3B-60D7-482B-8FFD-42D3C56D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926080"/>
            <a:ext cx="51663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3D8DD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5839082-446F-4029-B024-95469C4C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821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• 输出约束：最终表、完整表、待复核问题分工明确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0970CC1-D65F-4FE0-AC4D-C4F10A70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3075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873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实现重点：把抽象合规要求转成可检查、可追溯、可人工复核的系统节点。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B58E744-7530-4193-9AD7-E6711657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27939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899FFE4-8CDA-4E8D-A214-21984F9B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892040"/>
            <a:ext cx="4617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DDDD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09B42F1-7A2B-4379-B210-0FE35C3C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74920"/>
            <a:ext cx="4389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455085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1C584D-0B1C-46CF-8933-1C790F0D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897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3d5fd4cb546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0"/>
            <a:ext cx="3001975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9B99547-1990-4F75-B500-9EC52F5D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8321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中证登和券商材料不是同一套语言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F11E322-E494-40B9-B93F-3922D613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11265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77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897D87F-E3AD-40F8-B3DF-BE756D0D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2103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易方达基金管理有限公司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2DA7FE-4D91-467F-9A88-775CF3A4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6565392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应用岗位答辩 | 仅供面试交流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238B2B1-8327-40A6-8791-72EED552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3200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B99DA-3DFE-4A8E-B693-8A32DDC7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7498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中证登材料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EC49D5E-8D29-4572-9781-E73B8ECD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55648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券商流水材料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F7065B9-C5D6-405E-A57A-9BD55BF6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57984"/>
            <a:ext cx="1463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5CF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9312536-9F09-427A-AC79-09F2390E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516636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更像账户维度的登记和持仓视角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4E42ED1-0AAC-4D58-87FD-A65EB6A5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1720"/>
            <a:ext cx="516636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适合确认账户、持仓、主体关系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75453E3-53FA-404B-8BDD-409900E2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51663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3D8DD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FE7FEB1-1224-4622-A48E-347F5322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1821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• 关键在于补全申报语境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D1CAF04-387E-41D6-A113-12FB93F4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3075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用来回答：这个人/账户/持仓是否存在。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3CCBB77-EE09-479D-B659-DC086A53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7939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• 更像交易流水和资金流水视角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6CB5752-E969-4F62-9380-258073A9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92040"/>
            <a:ext cx="4617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DDDD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8F256AC-584F-4CA5-B9FB-EB8D80A4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4920"/>
            <a:ext cx="4389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• 同一事件可能出现多条资金记录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0E9F3B-60D7-482B-8FFD-42D3C56D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926080"/>
            <a:ext cx="51663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3D8DD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5839082-446F-4029-B024-95469C4C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821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• 红利、利息、银行转账不应误入最终申报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0970CC1-D65F-4FE0-AC4D-C4F10A70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3075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用来回答：哪些事件需要申报，哪些只进入完整表。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B58E744-7530-4193-9AD7-E6711657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27939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899FFE4-8CDA-4E8D-A214-21984F9B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892040"/>
            <a:ext cx="4617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DDDD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09B42F1-7A2B-4379-B210-0FE35C3C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74920"/>
            <a:ext cx="4389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455085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350C73-C943-4CA8-9B35-DB80D4F1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897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bb9d5f94346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0"/>
            <a:ext cx="3001975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337E1F5-DF06-4E22-AC61-F284C58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8321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MVP 架构：先跑通闭环，再扩展能力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DE5C66A-974C-49C4-9D74-4F44E879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11265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77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0ACE7CF-D76E-4054-BD38-7BF5E071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2103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易方达基金管理有限公司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3A2B041-E89A-4309-9ED9-B35C274E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6565392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应用岗位答辩 | 仅供面试交流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3382AAB-92A2-43EA-8C88-D12807D8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3200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84543FA-1D8E-4118-8B19-53563300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MVP 架构 / 处理闭环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B801003-60CE-4DEF-BCDB-0F2291C8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764792"/>
            <a:ext cx="6217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本地 Web 应用：FastAPI 后端 + 原生前端 + 本地 JSON/文件存储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96EAE26-1251-44E8-8CDF-6F32FE87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65760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5CF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EA23B7B-B1EE-4053-9C74-8F3CE959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65760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5CF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91D41C8-AC38-4F73-963D-AF792B31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65760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5CF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B51F112-A14A-4648-B8F0-DBEDC742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155448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0508F"/>
          </a:solidFill>
          <a:ln xmlns:a="http://schemas.openxmlformats.org/drawingml/2006/main">
            <a:solidFill>
              <a:srgbClr val="00508F"/>
            </a:solidFill>
          </a:ln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材料上传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5F2FEA6-2EF1-4C62-A232-809C2687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PDF / 图片 / 扫描件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识别文件类型与来源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03701B6-4088-42C3-8CB8-3FDD17F2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63240"/>
            <a:ext cx="155448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抽取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3C7682C-1B80-423C-B766-A2198605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434840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OCR + LLM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输出结构化事件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E72CF3E-3ECF-45B5-B607-EA642F3F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63240"/>
            <a:ext cx="155448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规则复核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A3B5AE0-611A-458C-87FA-AB490233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434840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normalizer + resolver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生成最终/完整结果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70A25DD-54C9-4557-A43E-16BEE517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063240"/>
            <a:ext cx="155448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AFF82C2-3493-40CA-9569-1D18BA9D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34840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复核页保存后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才允许导出 Excel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85CA7B8-4E56-477D-AAF9-C6695DE3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7168"/>
            <a:ext cx="1143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关键输入：申报材料、身份信息、交易/持仓记录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A23DB3C-454A-4D8B-B79F-5DBA9117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2487168"/>
            <a:ext cx="1143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关键输出：六 Sheet Excel + problem_events 异常池</a:t>
            </a:r>
          </a:p>
        </p:txBody>
      </p:sp>
    </p:spTree>
    <p:extLst>
      <p:ext uri="{BB962C8B-B14F-4D97-AF65-F5344CB8AC3E}">
        <p14:creationId xmlns:p14="http://schemas.microsoft.com/office/powerpoint/2010/main" val="8316481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40DAD13-B17A-4BA1-83EE-C1B89072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897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5561128f945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0"/>
            <a:ext cx="3001975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BAAB4A5-D0D2-42EF-B8C7-2B668AAD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8321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 Sheet 输出：把模型结果变成业务交付物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F17FA79-857E-4366-9AC7-AC68D04E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11265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77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50FA4F7-9E86-4C7A-8E2D-97766AE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2103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易方达基金管理有限公司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FCB5C9B-AABD-41BF-8F6C-BA64909C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6565392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应用岗位答辩 | 仅供面试交流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94D5C88-4C84-460B-B36C-5E8991B1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3200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DA3587-9C09-4B12-B5B8-F696D129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Sheet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374B850-A143-4D6A-AE34-4FBFC8C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764792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承接的业务问题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7175BF7-9372-40BB-8BF3-C7F87120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0"/>
            <a:ext cx="1920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最终申报表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8F4DD61-976A-47BF-A78A-91BE8436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331720"/>
            <a:ext cx="88696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只放需要申报确认的核心交易，避免噪声进入正式结果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7B66B5C-612D-487B-A17A-08C66C9F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0632"/>
            <a:ext cx="1920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完整表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72D7835-F22B-441A-A5A5-3A78D500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770632"/>
            <a:ext cx="88696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1016" tIns="1016" rIns="1016" bIns="1016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保留全部可识别事件，作为追溯和人工复核依据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6829DD6-CC49-4AEA-A4A3-6F15F101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544"/>
            <a:ext cx="1920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待复核问题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021F6BE-8A67-451F-A951-396FF457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544"/>
            <a:ext cx="88696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1016" tIns="1016" rIns="1016" bIns="1016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承接 problem_events，把不确定性显性化给复核人员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F54BD9F-63A4-4629-B9A5-DD751CEA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456"/>
            <a:ext cx="1920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持仓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9B0890-B829-49C9-883A-BE96AE6C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648456"/>
            <a:ext cx="88696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1016" tIns="1016" rIns="1016" bIns="1016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保留持仓快照和无持仓信息，补足申报语境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D664C34-E4B8-4BC1-80D5-732444E6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7368"/>
            <a:ext cx="1920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身份信息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8E98C20-EBC8-431B-821E-A52DA538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087368"/>
            <a:ext cx="88696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1016" tIns="1016" rIns="1016" bIns="1016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关联申报主体，支持本人/关联人等审查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F432977-59E1-43BF-B93A-43F10B30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1920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checklist结果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954997E-9DD9-4037-A903-7DFBA677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526280"/>
            <a:ext cx="88696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1016" tIns="1016" rIns="1016" bIns="1016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记录账户、文件级问题和复核检查项，形成交付闭环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633B8E2-7C64-40F6-AE9A-B75305E1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5192"/>
            <a:ext cx="1920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D75EF87-7FEB-42A1-B05C-0A2695DF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965192"/>
            <a:ext cx="88696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1016" tIns="1016" rIns="1016" bIns="1016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54A658D-F11B-467D-9828-AAA39B3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4104"/>
            <a:ext cx="1920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F91FE30D-FCB5-45B8-966E-0DA6FCC8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404104"/>
            <a:ext cx="88696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0E0"/>
            </a:solidFill>
          </a:ln>
        </p:spPr>
        <p:txBody>
          <a:bodyPr xmlns:a="http://schemas.openxmlformats.org/drawingml/2006/main" wrap="square" lIns="1016" tIns="1016" rIns="1016" bIns="1016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88004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1C584D-0B1C-46CF-8933-1C790F0D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897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40aeec85a41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0"/>
            <a:ext cx="3001975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9B99547-1990-4F75-B500-9EC52F5D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8321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分工：模型做理解，系统做判断，人做确认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F11E322-E494-40B9-B93F-3922D613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11265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77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897D87F-E3AD-40F8-B3DF-BE756D0D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2103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易方达基金管理有限公司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2DA7FE-4D91-467F-9A88-775CF3A4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6565392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应用岗位答辩 | 仅供面试交流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238B2B1-8327-40A6-8791-72EED552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3200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B99DA-3DFE-4A8E-B693-8A32DDC7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7498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AI 负责的部分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EC49D5E-8D29-4572-9781-E73B8ECD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55648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系统和人工负责的部分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F7065B9-C5D6-405E-A57A-9BD55BF6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57984"/>
            <a:ext cx="1463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5CF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9312536-9F09-427A-AC79-09F2390E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516636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从非结构化材料中识别交易、持仓、身份等信息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4E42ED1-0AAC-4D58-87FD-A65EB6A5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1720"/>
            <a:ext cx="516636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将文本、表格、OCR 结果转成结构化 JSON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75453E3-53FA-404B-8BDD-409900E2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51663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3D8DD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FE7FEB1-1224-4622-A48E-347F5322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1821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• 对陌生材料给出可疑点，而不是强行给结论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D1CAF04-387E-41D6-A113-12FB93F4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3075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AI 的价值在“理解材料”，不是替代合规判断。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3CCBB77-EE09-479D-B659-DC086A53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7939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• 规则层决定最终表/完整表/排除项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6CB5752-E969-4F62-9380-258073A9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92040"/>
            <a:ext cx="4617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DDDD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8F256AC-584F-4CA5-B9FB-EB8D80A4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4920"/>
            <a:ext cx="4389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• reviewDirty 机制保证复核保存后才允许导出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0E9F3B-60D7-482B-8FFD-42D3C56D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926080"/>
            <a:ext cx="51663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3D8DD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5839082-446F-4029-B024-95469C4C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821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• 人工对疑点和最终结果负责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0970CC1-D65F-4FE0-AC4D-C4F10A70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3075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可信 AI 的关键是分工清楚：可用、可控、可追溯。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B58E744-7530-4193-9AD7-E6711657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27939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899FFE4-8CDA-4E8D-A214-21984F9B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892040"/>
            <a:ext cx="4617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DDDD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09B42F1-7A2B-4379-B210-0FE35C3C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74920"/>
            <a:ext cx="4389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455085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991E1D9-DB78-402D-9C07-9414B8DA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897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08eb8a88c41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0"/>
            <a:ext cx="3001975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1235197-655D-4FE7-B938-8BB87F38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8321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651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problem_events：可信 AI 的关键不是全答对，而是知道何时停下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E33D63-7F4E-4049-A93A-5FD16B2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11265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77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CC653F9-CB2C-40F6-A889-7ABF00D6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2103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易方达基金管理有限公司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657E441-33A4-4444-A3FB-6A7D3DD1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6565392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应用岗位答辩 | 仅供面试交流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2EC021C-0B48-45C3-B63C-AAE3E638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3200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029B878-FB30-454D-83AF-E2737F59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3840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不确定性显性化框架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6DD62C5-96E0-4BAE-B8A8-F777D57F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764792"/>
            <a:ext cx="612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字段缺失、事件未知、来源冲突、OCR 风险、资金流水弱证据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3B21134-63AB-4B38-825B-D43B7E31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7373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>
            <a:solidFill>
              <a:srgbClr val="00508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字段缺失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0EAEEC7-1C70-41BC-81CA-01540F48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514600"/>
            <a:ext cx="342900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金额 / 日期 / 证券信息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CF0BB0D-772E-4F13-ABA1-9603F477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不编造字段，缺失项进入待复核问题，并保留来源描述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85C8C90-2C11-479B-9F72-2DC3ADE4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17373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来源冲突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CEAD560-43AA-4BB5-8FDB-B7C1B479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514600"/>
            <a:ext cx="342900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券商 / 中证登 / OCR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E3F9481-EE7D-4902-88CA-450BE8FD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08960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冲突不静默覆盖，进入异常池并提示人工判断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8F9324F-BB6B-4177-8144-9E9291D1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5928"/>
            <a:ext cx="17373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OCR 风险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31025B0-2093-43BC-A380-0A6BAF6F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995928"/>
            <a:ext cx="342900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遮挡 / 涂抹 / 失败页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F35EE55-E68F-4425-B6D6-EB8ABDDF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90288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文件级问题进入 checklist，避免低质量输入污染结论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7276535-280C-459D-ADAE-B80B8946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95928"/>
            <a:ext cx="17373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弱证据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FB30F5E-8657-4589-B8E8-22FFF2BF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995928"/>
            <a:ext cx="342900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资金流水 / 无账户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86AAA3D-2578-419F-9CD8-182A7248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90288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不直接推断交易，作为复核线索或负向证明处理</a:t>
            </a:r>
          </a:p>
        </p:txBody>
      </p:sp>
    </p:spTree>
    <p:extLst>
      <p:ext uri="{BB962C8B-B14F-4D97-AF65-F5344CB8AC3E}">
        <p14:creationId xmlns:p14="http://schemas.microsoft.com/office/powerpoint/2010/main" val="2460900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350C73-C943-4CA8-9B35-DB80D4F1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897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abbaf45eb4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0"/>
            <a:ext cx="3001975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337E1F5-DF06-4E22-AC61-F284C58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8321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 AI 控制：从输入到导出设置四道门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DE5C66A-974C-49C4-9D74-4F44E879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11265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77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0ACE7CF-D76E-4054-BD38-7BF5E071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2103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易方达基金管理有限公司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3A2B041-E89A-4309-9ED9-B35C274E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6565392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应用岗位答辩 | 仅供面试交流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3382AAB-92A2-43EA-8C88-D12807D8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3200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84543FA-1D8E-4118-8B19-53563300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可信 AI 工作流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B801003-60CE-4DEF-BCDB-0F2291C8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764792"/>
            <a:ext cx="6217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控制目标：减少幻觉、减少误判、保留责任链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96EAE26-1251-44E8-8CDF-6F32FE87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65760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5CF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EA23B7B-B1EE-4053-9C74-8F3CE959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65760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5CF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91D41C8-AC38-4F73-963D-AF792B31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65760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5CF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B51F112-A14A-4648-B8F0-DBEDC742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155448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0508F"/>
          </a:solidFill>
          <a:ln xmlns:a="http://schemas.openxmlformats.org/drawingml/2006/main">
            <a:solidFill>
              <a:srgbClr val="00508F"/>
            </a:solidFill>
          </a:ln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输入分流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5F2FEA6-2EF1-4C62-A232-809C2687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direct_pdf / scanned_pdf / image / unsupported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先判断材料能不能处理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03701B6-4088-42C3-8CB8-3FDD17F2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63240"/>
            <a:ext cx="155448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结构输出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3C7682C-1B80-423C-B766-A2198605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434840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JSON schema + 缺失字段留空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长表分批与截断处理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E72CF3E-3ECF-45B5-B607-EA642F3F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63240"/>
            <a:ext cx="155448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规则校验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A3B5AE0-611A-458C-87FA-AB490233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434840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最终表/完整表分层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红利、利息、银行转账排除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70A25DD-54C9-4557-A43E-16BEE517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063240"/>
            <a:ext cx="155448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人工门禁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AFF82C2-3493-40CA-9569-1D18BA9D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34840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复核页保存后导出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reviewDirty 锁定未保存结果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85CA7B8-4E56-477D-AAF9-C6695DE3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7168"/>
            <a:ext cx="1143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关键输入：OCR 质量、材料来源、结构化事件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A23DB3C-454A-4D8B-B79F-5DBA9117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2487168"/>
            <a:ext cx="1143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关键输出：可信结果、异常池、可导出 Excel</a:t>
            </a:r>
          </a:p>
        </p:txBody>
      </p:sp>
    </p:spTree>
    <p:extLst>
      <p:ext uri="{BB962C8B-B14F-4D97-AF65-F5344CB8AC3E}">
        <p14:creationId xmlns:p14="http://schemas.microsoft.com/office/powerpoint/2010/main" val="8316481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350C73-C943-4CA8-9B35-DB80D4F1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897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7e6c19b3e4c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0"/>
            <a:ext cx="3001975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337E1F5-DF06-4E22-AC61-F284C58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8321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演示方案：用 case_022 跑通从材料到 Excel 的闭环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DE5C66A-974C-49C4-9D74-4F44E879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11265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77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0ACE7CF-D76E-4054-BD38-7BF5E071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2103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易方达基金管理有限公司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3A2B041-E89A-4309-9ED9-B35C274E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6565392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应用岗位答辩 | 仅供面试交流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3382AAB-92A2-43EA-8C88-D12807D8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3200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84543FA-1D8E-4118-8B19-53563300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Demo 路线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B801003-60CE-4DEF-BCDB-0F2291C8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764792"/>
            <a:ext cx="6217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面试现场先展示正常 case，再补充复杂 case 证明边界意识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96EAE26-1251-44E8-8CDF-6F32FE87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65760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5CF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EA23B7B-B1EE-4053-9C74-8F3CE959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65760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5CF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91D41C8-AC38-4F73-963D-AF792B31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65760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5CF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B51F112-A14A-4648-B8F0-DBEDC742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155448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0508F"/>
          </a:solidFill>
          <a:ln xmlns:a="http://schemas.openxmlformats.org/drawingml/2006/main">
            <a:solidFill>
              <a:srgbClr val="00508F"/>
            </a:solidFill>
          </a:ln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上传材料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5F2FEA6-2EF1-4C62-A232-809C2687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case_022 广发证券 PDF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系统识别 direct_pdf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03701B6-4088-42C3-8CB8-3FDD17F2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63240"/>
            <a:ext cx="155448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生成结果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3C7682C-1B80-423C-B766-A2198605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434840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文本字符 5529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完整表 10 条，最终表 6 条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E72CF3E-3ECF-45B5-B607-EA642F3F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63240"/>
            <a:ext cx="155448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A3B5AE0-611A-458C-87FA-AB490233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434840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复核保存后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允许导出 Excel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70A25DD-54C9-4557-A43E-16BEE517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063240"/>
            <a:ext cx="155448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查看证据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AFF82C2-3493-40CA-9569-1D18BA9D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34840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持仓 3 条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排除 4 条股息入账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85CA7B8-4E56-477D-AAF9-C6695DE3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7168"/>
            <a:ext cx="1143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关键输入：广发 PDF、身份/持仓/交易材料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A23DB3C-454A-4D8B-B79F-5DBA9117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2487168"/>
            <a:ext cx="11430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>
            <a:solidFill>
              <a:srgbClr val="F0F0F0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关键输出：六 Sheet 导出 + 复核状态已保存</a:t>
            </a:r>
          </a:p>
        </p:txBody>
      </p:sp>
    </p:spTree>
    <p:extLst>
      <p:ext uri="{BB962C8B-B14F-4D97-AF65-F5344CB8AC3E}">
        <p14:creationId xmlns:p14="http://schemas.microsoft.com/office/powerpoint/2010/main" val="83164814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02188F7-281F-4A88-BB23-135AA28E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897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bd75011884f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0"/>
            <a:ext cx="3001975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FB45C07-5937-4843-9367-F1E2657B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8321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边界与测试：复杂 case 被沉淀成回归能力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B6D107E-189D-4F98-8E5F-2D55B144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11265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77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C52E87E-0CED-45FC-B9BC-7D9469A5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2103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易方达基金管理有限公司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5A876D1-792D-4B65-AC86-A94C3F9E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6565392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应用岗位答辩 | 仅供面试交流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26B98B8-1460-4427-9E1D-15D8FE0D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3200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4182E6A-D749-4EDC-BC65-67A2BE31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高难度 case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7A9855F-BEF2-47F9-8474-80C3DF62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764792"/>
            <a:ext cx="6217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未知事件、OCR 风险、弱证据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F62DABE-F7BD-481B-A45D-5BD2953A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0"/>
            <a:ext cx="5257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当前验证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88AA741-4F7C-4EF8-BACF-473506EA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2578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CE2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13BCD3B-58CF-43F4-8EB0-9F54645F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33088"/>
            <a:ext cx="201168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12700">
            <a:solidFill>
              <a:srgbClr val="00508F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18286D2-3049-4CF4-891B-44E01190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3515868"/>
            <a:ext cx="201168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73B0D77-3BEA-42EF-ADB4-B68C7F9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4475988"/>
            <a:ext cx="201168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12700">
            <a:solidFill>
              <a:srgbClr val="00508F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B7706-4824-4029-8A1F-BAFD6A47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3035808"/>
            <a:ext cx="201168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166E78-C4E1-4307-A205-976FDA2F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39512"/>
            <a:ext cx="4754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CCCCC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61B3168-3E6C-47CA-A598-2EF96A24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3280"/>
            <a:ext cx="2148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63 个 unittest 全部通过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10A3DDD-703C-4621-9121-03E972F9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1720"/>
            <a:ext cx="5257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系统知道该停在哪里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4789B77-2C67-4E12-B626-0F7D9EBD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743200"/>
            <a:ext cx="52578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CE2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41DE4E2-1F6C-4F56-AE04-61765A9A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133088"/>
            <a:ext cx="201168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12700">
            <a:solidFill>
              <a:srgbClr val="00508F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ED9A853E-1806-4F49-87A2-5553A2FD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3515868"/>
            <a:ext cx="201168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34AF9B3-6519-40FA-88B5-7F75AD54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104" y="4475988"/>
            <a:ext cx="201168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12700">
            <a:solidFill>
              <a:srgbClr val="00508F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963ABF4-CC69-48A5-AB16-665DD179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3035808"/>
            <a:ext cx="201168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DAB3062-5CD4-4C21-89E8-4413FE72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39512"/>
            <a:ext cx="4754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CCCCC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7817A72-5854-4EB6-BBE1-AA8AB46A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383280"/>
            <a:ext cx="2148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同日同证券多笔不同价交易不误合并；普通交易只见于资金流水时进入完整表并提示复核。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3AA16E6-1487-44C9-A99B-55CE27F7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463040" cy="246888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0508F"/>
          </a:solidFill>
          <a:ln xmlns:a="http://schemas.openxmlformats.org/drawingml/2006/main">
            <a:solidFill>
              <a:srgbClr val="00508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测试覆盖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4FB646-A646-4F91-9F4F-8A451D1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5852160"/>
            <a:ext cx="81381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广发/中证登/负向证明/文件级问题/前端导出锁；复杂 case 可回归。</a:t>
            </a:r>
          </a:p>
        </p:txBody>
      </p:sp>
    </p:spTree>
    <p:extLst>
      <p:ext uri="{BB962C8B-B14F-4D97-AF65-F5344CB8AC3E}">
        <p14:creationId xmlns:p14="http://schemas.microsoft.com/office/powerpoint/2010/main" val="16477539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02188F7-281F-4A88-BB23-135AA28E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897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0a191cd0247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0"/>
            <a:ext cx="3001975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FB45C07-5937-4843-9367-F1E2657B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8321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指标与路线图：用产品化视角评估 AI 应用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B6D107E-189D-4F98-8E5F-2D55B144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11265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77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C52E87E-0CED-45FC-B9BC-7D9469A5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2103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易方达基金管理有限公司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5A876D1-792D-4B65-AC86-A94C3F9E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6565392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应用岗位答辩 | 仅供面试交流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26B98B8-1460-4427-9E1D-15D8FE0D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3200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4182E6A-D749-4EDC-BC65-67A2BE31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量化指标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7A9855F-BEF2-47F9-8474-80C3DF62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764792"/>
            <a:ext cx="6217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效率、质量、稳定、业务完整度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F62DABE-F7BD-481B-A45D-5BD2953A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0"/>
            <a:ext cx="5257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风险路线图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88AA741-4F7C-4EF8-BACF-473506EA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2578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CE2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13BCD3B-58CF-43F4-8EB0-9F54645F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33088"/>
            <a:ext cx="201168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12700">
            <a:solidFill>
              <a:srgbClr val="00508F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18286D2-3049-4CF4-891B-44E01190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3515868"/>
            <a:ext cx="201168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73B0D77-3BEA-42EF-ADB4-B68C7F9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4475988"/>
            <a:ext cx="201168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12700">
            <a:solidFill>
              <a:srgbClr val="00508F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B7706-4824-4029-8A1F-BAFD6A47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3035808"/>
            <a:ext cx="201168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166E78-C4E1-4307-A205-976FDA2F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39512"/>
            <a:ext cx="4754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CCCCC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61B3168-3E6C-47CA-A598-2EF96A24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3280"/>
            <a:ext cx="2148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材料风险、模型风险、业务风险、合规风险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10A3DDD-703C-4621-9121-03E972F9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1720"/>
            <a:ext cx="5257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效率：单案处理时间、人工录入字段减少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4789B77-2C67-4E12-B626-0F7D9EBD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743200"/>
            <a:ext cx="52578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CE2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41DE4E2-1F6C-4F56-AE04-61765A9A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133088"/>
            <a:ext cx="201168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12700">
            <a:solidFill>
              <a:srgbClr val="00508F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ED9A853E-1806-4F49-87A2-5553A2FD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3515868"/>
            <a:ext cx="201168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34AF9B3-6519-40FA-88B5-7F75AD54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104" y="4475988"/>
            <a:ext cx="201168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12700">
            <a:solidFill>
              <a:srgbClr val="00508F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963ABF4-CC69-48A5-AB16-665DD179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3035808"/>
            <a:ext cx="201168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DAB3062-5CD4-4C21-89E8-4413FE72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39512"/>
            <a:ext cx="4754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CCCCC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7817A72-5854-4EB6-BBE1-AA8AB46A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383280"/>
            <a:ext cx="2148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质量：关键字段缺失率、误入最终申报率、问题命中率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3AA16E6-1487-44C9-A99B-55CE27F7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463040" cy="246888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0508F"/>
          </a:solidFill>
          <a:ln xmlns:a="http://schemas.openxmlformats.org/drawingml/2006/main">
            <a:solidFill>
              <a:srgbClr val="00508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路线图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4FB646-A646-4F91-9F4F-8A451D1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5852160"/>
            <a:ext cx="81381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短期补关键材料，中期补批量和差异记录，长期补权限、审计日志、评估集。</a:t>
            </a:r>
          </a:p>
        </p:txBody>
      </p:sp>
    </p:spTree>
    <p:extLst>
      <p:ext uri="{BB962C8B-B14F-4D97-AF65-F5344CB8AC3E}">
        <p14:creationId xmlns:p14="http://schemas.microsoft.com/office/powerpoint/2010/main" val="164775398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0AFF2DA-CDB4-4F6A-BFA7-F4C0DD99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897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12700">
            <a:solidFill>
              <a:srgbClr val="00B5CF"/>
            </a:solidFill>
            <a:prstDash val="solid"/>
          </a:ln>
        </p:spPr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35bc9b7d643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9720" y="0"/>
            <a:ext cx="3001975" cy="8686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3F8BEE9-35F1-4E47-8768-550D0718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8321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国际经验迁移：让 AI 使用方式升级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7D72DB6-DA3F-4EFD-98D8-BCAB88EF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11265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77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C904041-CF22-4308-94C9-8ABD8BD4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2103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易方达基金管理有限公司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B20ABCD-9992-4FE9-ADF5-22EEA51C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6565392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应用岗位答辩 | 仅供面试交流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45BCB3B-1257-4CF2-8108-A6E8AB14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3200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6802EBE-89C2-46CC-BEC8-F970C826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508F"/>
                </a:solidFill>
                <a:latin typeface="Microsoft YaHei"/>
                <a:ea typeface="Microsoft YaHei"/>
                <a:cs typeface="Microsoft YaHei"/>
              </a:rPr>
              <a:t>国际经验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F58F229-298C-491F-9698-FD8B731A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764792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落到项目里的四个抓手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3B53F71-F175-4AAD-9BF6-CBC5FE16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5577840"/>
            <a:ext cx="777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08F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A4B8777-3455-4454-B8C4-0B442B02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557784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08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CEF732F-592B-4C4A-9377-3C005402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5486400"/>
            <a:ext cx="1463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0DB1529-4E91-41AA-9FEE-B27B98D5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40280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材料分流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精准上下文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BA59AE9-AB4B-4F43-9AC3-40B448C1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754880"/>
            <a:ext cx="1371600" cy="50292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4B13B5D-B77A-46EE-A8CF-46868FB1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349240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沉淀规则</a:t>
            </a:r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测试回归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6F25D6C-C5A5-4F5F-BA60-4377A5A9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977640"/>
            <a:ext cx="1371600" cy="50292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00B5CF"/>
          </a:solidFill>
          <a:ln xmlns:a="http://schemas.openxmlformats.org/drawingml/2006/main">
            <a:solidFill>
              <a:srgbClr val="00B5C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EDF93BC-5763-4804-9C5F-FE42C788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0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人工门禁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1A52EEB-DF78-4A01-990B-A730EA67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971800"/>
            <a:ext cx="1371600" cy="50292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00508F"/>
          </a:solidFill>
          <a:ln xmlns:a="http://schemas.openxmlformats.org/drawingml/2006/main">
            <a:solidFill>
              <a:srgbClr val="00508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Skills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390EDE6-D13E-4712-A8C2-EAC5D5BF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566160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厚技能库</a:t>
            </a:r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轻 agent</a:t>
            </a:r>
          </a:p>
        </p:txBody>
      </p:sp>
    </p:spTree>
    <p:extLst>
      <p:ext uri="{BB962C8B-B14F-4D97-AF65-F5344CB8AC3E}">
        <p14:creationId xmlns:p14="http://schemas.microsoft.com/office/powerpoint/2010/main" val="146882866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94D5B2-F9A5-4849-A197-8F43D44C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12700">
            <a:solidFill>
              <a:srgbClr val="00508F"/>
            </a:solidFill>
            <a:prstDash val="solid"/>
          </a:ln>
        </p:spPr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65e65bdef41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2011680"/>
            <a:ext cx="3566160" cy="96012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DA16731-CA18-4A2B-BAAC-7100DA38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46120"/>
            <a:ext cx="1219169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8CF421C-39E5-49DA-9A2E-E799DFC6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CFE8F2"/>
                </a:solidFill>
                <a:latin typeface="Microsoft YaHei"/>
                <a:ea typeface="Microsoft YaHei"/>
                <a:cs typeface="Microsoft YaHei"/>
              </a:rPr>
              <a:t>我希望把 AI 能力转化为真实业务中可用、可控、可验证的产品能力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B1C0ADF-4C87-4E91-9030-FA8CB01C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5080"/>
            <a:ext cx="12191695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CFE8F2"/>
                </a:solidFill>
                <a:latin typeface="Microsoft YaHei"/>
                <a:ea typeface="Microsoft YaHei"/>
                <a:cs typeface="Microsoft YaHei"/>
              </a:rPr>
              <a:t>Q&amp;A | 基金公司员工证券投资申报复核系统</a:t>
            </a:r>
          </a:p>
        </p:txBody>
      </p:sp>
    </p:spTree>
    <p:extLst>
      <p:ext uri="{BB962C8B-B14F-4D97-AF65-F5344CB8AC3E}">
        <p14:creationId xmlns:p14="http://schemas.microsoft.com/office/powerpoint/2010/main" val="19488678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2026-06-21T17:31:45.0080000Z</dcterms:created>
  <dcterms:modified xsi:type="dcterms:W3CDTF">2026-06-21T17:31:45.0080000Z</dcterms:modified>
</coreProperties>
</file>