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8ca5917324f3f" /><Relationship Type="http://schemas.openxmlformats.org/officeDocument/2006/relationships/extended-properties" Target="/docProps/app.xml" Id="Re3695a19edc34c5b" /><Relationship Type="http://schemas.openxmlformats.org/officeDocument/2006/relationships/officeDocument" Target="/ppt/presentation.xml" Id="R2e58a2f1c135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5b86c31ef4072"/>
  </p:sldMasterIdLst>
  <p:notesMasterIdLst>
    <p:notesMasterId xmlns:r="http://schemas.openxmlformats.org/officeDocument/2006/relationships" r:id="R571b44628acf4a1f"/>
  </p:notesMasterIdLst>
  <p:sldIdLst>
    <p:sldId xmlns:r="http://schemas.openxmlformats.org/officeDocument/2006/relationships" id="256" r:id="R261d5e3b81ca44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6cdb1faf7c4d8f" /><Relationship Type="http://schemas.openxmlformats.org/officeDocument/2006/relationships/slideMaster" Target="/ppt/slideMasters/slideMaster1.xml" Id="R74f5b86c31ef4072" /><Relationship Type="http://schemas.openxmlformats.org/officeDocument/2006/relationships/notesMaster" Target="/ppt/notesMasters/notesMaster1.xml" Id="R571b44628acf4a1f" /><Relationship Type="http://schemas.openxmlformats.org/officeDocument/2006/relationships/presProps" Target="/ppt/presProps.xml" Id="R5b45dd22fc1c4f04" /><Relationship Type="http://schemas.openxmlformats.org/officeDocument/2006/relationships/tableStyles" Target="/ppt/tableStyles.xml" Id="R26fb3f2f4ab1469c" /><Relationship Type="http://schemas.openxmlformats.org/officeDocument/2006/relationships/slide" Target="/ppt/slides/slide1.xml" Id="R261d5e3b81ca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f9588a387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d3f18262f467d" /><Relationship Type="http://schemas.openxmlformats.org/officeDocument/2006/relationships/notesMaster" Target="/ppt/notesMasters/notesMaster1.xml" Id="R9e5af7d3e0104a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89b183fc74e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5ff0603394783" /><Relationship Type="http://schemas.openxmlformats.org/officeDocument/2006/relationships/slideLayout" Target="/ppt/slideLayouts/slideLayout1.xml" Id="R62e0d8fadc0d48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0d8fadc0d48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19515eb0243c3" /><Relationship Type="http://schemas.openxmlformats.org/officeDocument/2006/relationships/notesSlide" Target="/ppt/notesSlides/notesSlide1.xml" Id="R2905742fef374d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A007FA1E-9C57-4F33-B1CC-E475372C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F7E323B7-1841-4F6D-864B-22F3B508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EC79233-6C4C-4999-8399-969F316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1DA0F9-4490-4A4C-9B80-4A8E094A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32C4ED47-5129-479A-9721-29626D59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127A3-575C-4E31-98C2-49A1BB1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B419A-E1AE-4495-B43A-8CCA31A3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方法｜AI 结果可信度控制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A4BC9-C91F-431F-9B0D-F31F2AA4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用链路追溯和代码规则，控制 AI 幻觉与误判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7404C1F3-AC43-4F7E-9D7B-B7FED65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71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A38B3F79-2EDD-4818-8DCB-E4A2A30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5432B-3295-4767-88DD-AD5365BF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0668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可追溯 / 可校验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E25524-5918-4805-9E1E-3DFFAE11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F3AE5-D2A8-43A9-8B6E-598E609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04D8C-7936-4149-9E9D-E8AA8FD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865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AI 幻觉控制母稿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10C365BB-5847-410F-9C4D-4A00BD21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46065752-8E95-4A4E-BE4A-55B84CB2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6AB8F-5F49-4997-A32E-483561C8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63456"/>
                </a:solidFill>
              </a:defRPr>
            </a:pPr>
            <a:r>
              <a:rPr sz="1185" b="1">
                <a:solidFill>
                  <a:srgbClr val="063456"/>
                </a:solidFill>
              </a:rPr>
              <a:t>核心思路：AI 只生成初步抽取结果；最终进入申报版前，必须同时通过“证据链可追溯”和“代码规则可校验”。</a:t>
            </a:r>
          </a:p>
        </p:txBody>
      </p:sp>
      <p:sp>
        <p:nvSpPr>
          <p:cNvPr id="18" name="control-card">
            <a:extLst xmlns:a="http://schemas.openxmlformats.org/drawingml/2006/main">
              <a:ext uri="{FF2B5EF4-FFF2-40B4-BE49-F238E27FC236}">
                <a16:creationId xmlns:a16="http://schemas.microsoft.com/office/drawing/2014/main" id="{E1C2EAFB-8EE6-4240-8FBB-6CA0362D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876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control-card-top">
            <a:extLst xmlns:a="http://schemas.openxmlformats.org/drawingml/2006/main">
              <a:ext uri="{FF2B5EF4-FFF2-40B4-BE49-F238E27FC236}">
                <a16:creationId xmlns:a16="http://schemas.microsoft.com/office/drawing/2014/main" id="{D163A684-62F5-4AC2-B760-6456FEA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487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control-label-bg">
            <a:extLst xmlns:a="http://schemas.openxmlformats.org/drawingml/2006/main">
              <a:ext uri="{FF2B5EF4-FFF2-40B4-BE49-F238E27FC236}">
                <a16:creationId xmlns:a16="http://schemas.microsoft.com/office/drawing/2014/main" id="{93FB6B83-E116-479C-9541-8132C2B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ol-label-accent">
            <a:extLst xmlns:a="http://schemas.openxmlformats.org/drawingml/2006/main">
              <a:ext uri="{FF2B5EF4-FFF2-40B4-BE49-F238E27FC236}">
                <a16:creationId xmlns:a16="http://schemas.microsoft.com/office/drawing/2014/main" id="{257DBCB8-20BD-4B46-846A-51ADB69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336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1CDF0-AED8-4E14-81A1-151C3FB3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032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B5CF"/>
                </a:solidFill>
              </a:defRPr>
            </a:pPr>
            <a:r>
              <a:rPr sz="863" b="1">
                <a:solidFill>
                  <a:srgbClr val="00B5CF"/>
                </a:solidFill>
              </a:rPr>
              <a:t>链路追溯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25D42-B15A-479D-B070-79B918F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每个字段都能回到原始材料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495B9-E394-474E-A6D9-16FE4D12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保留原始文件、页码、表格区域或截图位置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记录 OCR / PDF / Table chunk 与抽取字段的对应关系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金额、日期、证券代码、账户等关键字段必须有来源证据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复核人员可从结果反查到证据，不只看 AI 结论</a:t>
            </a:r>
          </a:p>
        </p:txBody>
      </p:sp>
      <p:sp>
        <p:nvSpPr>
          <p:cNvPr id="25" name="control-card">
            <a:extLst xmlns:a="http://schemas.openxmlformats.org/drawingml/2006/main">
              <a:ext uri="{FF2B5EF4-FFF2-40B4-BE49-F238E27FC236}">
                <a16:creationId xmlns:a16="http://schemas.microsoft.com/office/drawing/2014/main" id="{260511A5-9698-4036-9D65-7BF2D9D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8768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control-card-top">
            <a:extLst xmlns:a="http://schemas.openxmlformats.org/drawingml/2006/main">
              <a:ext uri="{FF2B5EF4-FFF2-40B4-BE49-F238E27FC236}">
                <a16:creationId xmlns:a16="http://schemas.microsoft.com/office/drawing/2014/main" id="{6B40B9C6-7055-4A73-9063-426329D8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87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control-label-bg">
            <a:extLst xmlns:a="http://schemas.openxmlformats.org/drawingml/2006/main">
              <a:ext uri="{FF2B5EF4-FFF2-40B4-BE49-F238E27FC236}">
                <a16:creationId xmlns:a16="http://schemas.microsoft.com/office/drawing/2014/main" id="{385EA2F9-7F7C-42D8-B041-9DB480B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trol-label-accent">
            <a:extLst xmlns:a="http://schemas.openxmlformats.org/drawingml/2006/main">
              <a:ext uri="{FF2B5EF4-FFF2-40B4-BE49-F238E27FC236}">
                <a16:creationId xmlns:a16="http://schemas.microsoft.com/office/drawing/2014/main" id="{7BF43F19-2AB9-44EB-9117-32B0A80B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719F0-B1D9-43D5-B41D-CB2E1F5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0325"/>
            <a:ext cx="723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规则校验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2416A-F39F-4913-97C8-330EF21B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用代码规则约束 AI 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B64A4-FAB2-4AA7-9500-A75376C2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4495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字段类型校验：日期、金额、证券代码、交易方向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业务枚举归一：买入 / 卖出 / 分红 / 派息 / 非申报流水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跨表一致性校验：交易、持仓、账户、材料来源互相印证</a:t>
            </a:r>
          </a:p>
          <a:p xmlns:a="http://schemas.openxmlformats.org/drawingml/2006/main">
            <a:pPr algn="l">
              <a:defRPr sz="990" b="1">
                <a:solidFill>
                  <a:srgbClr val="29475B"/>
                </a:solidFill>
              </a:defRPr>
            </a:pPr>
            <a:r>
              <a:rPr sz="990" b="1">
                <a:solidFill>
                  <a:srgbClr val="29475B"/>
                </a:solidFill>
              </a:rPr>
              <a:t>• 不确定或冲突结果不进最终版，进入问题清单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1535A-8836-4967-B2E3-2539CBB4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字段归一化到最终版</a:t>
            </a:r>
          </a:p>
        </p:txBody>
      </p:sp>
      <p:sp>
        <p:nvSpPr>
          <p:cNvPr id="33" name="bottom-step">
            <a:extLst xmlns:a="http://schemas.openxmlformats.org/drawingml/2006/main">
              <a:ext uri="{FF2B5EF4-FFF2-40B4-BE49-F238E27FC236}">
                <a16:creationId xmlns:a16="http://schemas.microsoft.com/office/drawing/2014/main" id="{F373A77E-4A0A-49AF-BD75-6E1D47F2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4" name="step-top">
            <a:extLst xmlns:a="http://schemas.openxmlformats.org/drawingml/2006/main">
              <a:ext uri="{FF2B5EF4-FFF2-40B4-BE49-F238E27FC236}">
                <a16:creationId xmlns:a16="http://schemas.microsoft.com/office/drawing/2014/main" id="{D5E67895-7399-4ACD-918F-91C1346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5" name="step-1-accent">
            <a:extLst xmlns:a="http://schemas.openxmlformats.org/drawingml/2006/main">
              <a:ext uri="{FF2B5EF4-FFF2-40B4-BE49-F238E27FC236}">
                <a16:creationId xmlns:a16="http://schemas.microsoft.com/office/drawing/2014/main" id="{4B531F63-5F10-4D00-9099-4FEEC90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292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993B1A-BF09-4164-9329-DAAE13AC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AI 初抽取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0D1734-1D1C-4C57-8ABC-1321EC1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86171"/>
                </a:solidFill>
              </a:defRPr>
            </a:pPr>
            <a:r>
              <a:rPr sz="713" b="1">
                <a:solidFill>
                  <a:srgbClr val="486171"/>
                </a:solidFill>
              </a:rPr>
              <a:t>从局部材料生成候选字段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42211A-6D85-4E25-BE2D-633971A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B5CF"/>
                </a:solidFill>
              </a:defRPr>
            </a:pPr>
            <a:r>
              <a:rPr sz="1425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9" name="bottom-step">
            <a:extLst xmlns:a="http://schemas.openxmlformats.org/drawingml/2006/main">
              <a:ext uri="{FF2B5EF4-FFF2-40B4-BE49-F238E27FC236}">
                <a16:creationId xmlns:a16="http://schemas.microsoft.com/office/drawing/2014/main" id="{4D6A3427-726B-4DD4-A304-E0701AE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673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0" name="step-top">
            <a:extLst xmlns:a="http://schemas.openxmlformats.org/drawingml/2006/main">
              <a:ext uri="{FF2B5EF4-FFF2-40B4-BE49-F238E27FC236}">
                <a16:creationId xmlns:a16="http://schemas.microsoft.com/office/drawing/2014/main" id="{12A706DD-7F26-478B-B995-1D58B3B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673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1" name="step-2-accent">
            <a:extLst xmlns:a="http://schemas.openxmlformats.org/drawingml/2006/main">
              <a:ext uri="{FF2B5EF4-FFF2-40B4-BE49-F238E27FC236}">
                <a16:creationId xmlns:a16="http://schemas.microsoft.com/office/drawing/2014/main" id="{DC98FC56-29EB-4AFC-BD30-FC6AEAA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292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18DD18-0A36-49D7-BD3C-52BDD6EE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字段标准化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98314C-4EDD-4E47-9E19-A02F57F5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48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86171"/>
                </a:solidFill>
              </a:defRPr>
            </a:pPr>
            <a:r>
              <a:rPr sz="713" b="1">
                <a:solidFill>
                  <a:srgbClr val="486171"/>
                </a:solidFill>
              </a:rPr>
              <a:t>统一名称、类型、枚举和值域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743AE9-ED23-45F7-830A-43201ED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76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B5CF"/>
                </a:solidFill>
              </a:defRPr>
            </a:pPr>
            <a:r>
              <a:rPr sz="1425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45" name="bottom-step">
            <a:extLst xmlns:a="http://schemas.openxmlformats.org/drawingml/2006/main">
              <a:ext uri="{FF2B5EF4-FFF2-40B4-BE49-F238E27FC236}">
                <a16:creationId xmlns:a16="http://schemas.microsoft.com/office/drawing/2014/main" id="{72A74C74-BD7A-47D8-912D-0755E17B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673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6" name="step-top">
            <a:extLst xmlns:a="http://schemas.openxmlformats.org/drawingml/2006/main">
              <a:ext uri="{FF2B5EF4-FFF2-40B4-BE49-F238E27FC236}">
                <a16:creationId xmlns:a16="http://schemas.microsoft.com/office/drawing/2014/main" id="{BE30CA22-7DDD-4F4F-A385-5785B1E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673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7" name="step-3-accent">
            <a:extLst xmlns:a="http://schemas.openxmlformats.org/drawingml/2006/main">
              <a:ext uri="{FF2B5EF4-FFF2-40B4-BE49-F238E27FC236}">
                <a16:creationId xmlns:a16="http://schemas.microsoft.com/office/drawing/2014/main" id="{3F425F50-E671-452E-AA19-769A002C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292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4E549-C9A3-4A86-91CB-4D5975B4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00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规则校验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BAF2F3-0C4E-48C4-8396-65DF13CD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48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86171"/>
                </a:solidFill>
              </a:defRPr>
            </a:pPr>
            <a:r>
              <a:rPr sz="713" b="1">
                <a:solidFill>
                  <a:srgbClr val="486171"/>
                </a:solidFill>
              </a:rPr>
              <a:t>格式、业务、跨来源一致性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862A1-8E1E-484D-ACEF-F46FF9B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76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B5CF"/>
                </a:solidFill>
              </a:defRPr>
            </a:pPr>
            <a:r>
              <a:rPr sz="1425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51" name="bottom-step">
            <a:extLst xmlns:a="http://schemas.openxmlformats.org/drawingml/2006/main">
              <a:ext uri="{FF2B5EF4-FFF2-40B4-BE49-F238E27FC236}">
                <a16:creationId xmlns:a16="http://schemas.microsoft.com/office/drawing/2014/main" id="{AC13E5C7-B6DA-450A-B631-B6DBE96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673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2" name="step-top">
            <a:extLst xmlns:a="http://schemas.openxmlformats.org/drawingml/2006/main">
              <a:ext uri="{FF2B5EF4-FFF2-40B4-BE49-F238E27FC236}">
                <a16:creationId xmlns:a16="http://schemas.microsoft.com/office/drawing/2014/main" id="{A94FA620-56E6-434C-A70F-A8DBB63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673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3" name="step-4-accent">
            <a:extLst xmlns:a="http://schemas.openxmlformats.org/drawingml/2006/main">
              <a:ext uri="{FF2B5EF4-FFF2-40B4-BE49-F238E27FC236}">
                <a16:creationId xmlns:a16="http://schemas.microsoft.com/office/drawing/2014/main" id="{F72FDEB9-E70A-4A5E-A5B3-3AD062FD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292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384DA4-D88F-4E5B-8595-BBCC052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证据挂接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295923-2329-4BEA-ACCF-57E6463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48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86171"/>
                </a:solidFill>
              </a:defRPr>
            </a:pPr>
            <a:r>
              <a:rPr sz="713" b="1">
                <a:solidFill>
                  <a:srgbClr val="486171"/>
                </a:solidFill>
              </a:rPr>
              <a:t>绑定文件、页码、表格行列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225844-5000-4A00-A999-A9144BBF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768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B5CF"/>
                </a:solidFill>
              </a:defRPr>
            </a:pPr>
            <a:r>
              <a:rPr sz="1425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57" name="bottom-step">
            <a:extLst xmlns:a="http://schemas.openxmlformats.org/drawingml/2006/main">
              <a:ext uri="{FF2B5EF4-FFF2-40B4-BE49-F238E27FC236}">
                <a16:creationId xmlns:a16="http://schemas.microsoft.com/office/drawing/2014/main" id="{63D6D6DD-FE15-4C8D-AD15-910BABB9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673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8" name="step-top">
            <a:extLst xmlns:a="http://schemas.openxmlformats.org/drawingml/2006/main">
              <a:ext uri="{FF2B5EF4-FFF2-40B4-BE49-F238E27FC236}">
                <a16:creationId xmlns:a16="http://schemas.microsoft.com/office/drawing/2014/main" id="{DAB55083-C443-4A63-80CE-48D78F61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673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9" name="step-5-accent">
            <a:extLst xmlns:a="http://schemas.openxmlformats.org/drawingml/2006/main">
              <a:ext uri="{FF2B5EF4-FFF2-40B4-BE49-F238E27FC236}">
                <a16:creationId xmlns:a16="http://schemas.microsoft.com/office/drawing/2014/main" id="{46BE6E42-98B2-4EDA-BB95-9A09C328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292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9D8897-AB85-48FE-A687-6F1755D7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00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结果分流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3EDEC9-8FBD-4599-BC6C-E3221A5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483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86171"/>
                </a:solidFill>
              </a:defRPr>
            </a:pPr>
            <a:r>
              <a:rPr sz="713" b="1">
                <a:solidFill>
                  <a:srgbClr val="486171"/>
                </a:solidFill>
              </a:rPr>
              <a:t>通过进入最终版，异常进问题清单</a:t>
            </a:r>
          </a:p>
        </p:txBody>
      </p:sp>
      <p:sp>
        <p:nvSpPr>
          <p:cNvPr id="62" name="note-bg">
            <a:extLst xmlns:a="http://schemas.openxmlformats.org/drawingml/2006/main">
              <a:ext uri="{FF2B5EF4-FFF2-40B4-BE49-F238E27FC236}">
                <a16:creationId xmlns:a16="http://schemas.microsoft.com/office/drawing/2014/main" id="{1270EE9E-AFE6-4D1B-B3BF-59D34E63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1002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note-accent">
            <a:extLst xmlns:a="http://schemas.openxmlformats.org/drawingml/2006/main">
              <a:ext uri="{FF2B5EF4-FFF2-40B4-BE49-F238E27FC236}">
                <a16:creationId xmlns:a16="http://schemas.microsoft.com/office/drawing/2014/main" id="{44E7DB5A-A9BC-439A-A787-BEE74202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245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F844B8-C827-4792-A266-6270402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38850"/>
            <a:ext cx="967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落地效果：AI 的不确定性不会被直接包装成结论，而是被转化为可追溯的证据、可执行的校验规则和可复核的问题项。</a:t>
            </a:r>
          </a:p>
        </p:txBody>
      </p:sp>
    </p:spTree>
    <p:extLst>
      <p:ext uri="{BB962C8B-B14F-4D97-AF65-F5344CB8AC3E}">
        <p14:creationId xmlns:p14="http://schemas.microsoft.com/office/powerpoint/2010/main" val="110864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2026-06-23T12:39:10.6100000Z</dcterms:created>
  <dcterms:modified xsi:type="dcterms:W3CDTF">2026-06-23T12:39:10.6100000Z</dcterms:modified>
</coreProperties>
</file>