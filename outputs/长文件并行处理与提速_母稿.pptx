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689ba9eb3c4f9c" /><Relationship Type="http://schemas.openxmlformats.org/officeDocument/2006/relationships/extended-properties" Target="/docProps/app.xml" Id="Ra2acc249b98a46f4" /><Relationship Type="http://schemas.openxmlformats.org/officeDocument/2006/relationships/officeDocument" Target="/ppt/presentation.xml" Id="R3d07ab8eba1545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1da0e9b0a44e71"/>
  </p:sldMasterIdLst>
  <p:notesMasterIdLst>
    <p:notesMasterId xmlns:r="http://schemas.openxmlformats.org/officeDocument/2006/relationships" r:id="Rc873c180ea484a7e"/>
  </p:notesMasterIdLst>
  <p:sldIdLst>
    <p:sldId xmlns:r="http://schemas.openxmlformats.org/officeDocument/2006/relationships" id="256" r:id="Rff7aac6c5ebb41a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c770d8d4e540e5" /><Relationship Type="http://schemas.openxmlformats.org/officeDocument/2006/relationships/slideMaster" Target="/ppt/slideMasters/slideMaster1.xml" Id="R651da0e9b0a44e71" /><Relationship Type="http://schemas.openxmlformats.org/officeDocument/2006/relationships/notesMaster" Target="/ppt/notesMasters/notesMaster1.xml" Id="Rc873c180ea484a7e" /><Relationship Type="http://schemas.openxmlformats.org/officeDocument/2006/relationships/presProps" Target="/ppt/presProps.xml" Id="Rb4020db482984df4" /><Relationship Type="http://schemas.openxmlformats.org/officeDocument/2006/relationships/tableStyles" Target="/ppt/tableStyles.xml" Id="R88be6e42c6484d1e" /><Relationship Type="http://schemas.openxmlformats.org/officeDocument/2006/relationships/slide" Target="/ppt/slides/slide1.xml" Id="Rff7aac6c5ebb41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1f82dd888441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27e418b4294818" /><Relationship Type="http://schemas.openxmlformats.org/officeDocument/2006/relationships/notesMaster" Target="/ppt/notesMasters/notesMaster1.xml" Id="Rdb47acad94b442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12ec6b1a744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7847c2620d4ae7" /><Relationship Type="http://schemas.openxmlformats.org/officeDocument/2006/relationships/slideLayout" Target="/ppt/slideLayouts/slideLayout1.xml" Id="R8f19910fe89f49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19910fe89f49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85164caf64db9" /><Relationship Type="http://schemas.openxmlformats.org/officeDocument/2006/relationships/notesSlide" Target="/ppt/notesSlides/notesSlide1.xml" Id="R8983fd12ec294c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r">
            <a:extLst xmlns:a="http://schemas.openxmlformats.org/drawingml/2006/main">
              <a:ext uri="{FF2B5EF4-FFF2-40B4-BE49-F238E27FC236}">
                <a16:creationId xmlns:a16="http://schemas.microsoft.com/office/drawing/2014/main" id="{E0CCEE7C-719C-4B5D-BD43-B04DF772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bg">
            <a:extLst xmlns:a="http://schemas.openxmlformats.org/drawingml/2006/main">
              <a:ext uri="{FF2B5EF4-FFF2-40B4-BE49-F238E27FC236}">
                <a16:creationId xmlns:a16="http://schemas.microsoft.com/office/drawing/2014/main" id="{66DD8CBC-EE38-4BD5-8304-018A1749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0">
            <a:solidFill>
              <a:srgbClr val="E9F2F6"/>
            </a:solidFill>
            <a:prstDash val="solid"/>
          </a:ln>
        </p:spPr>
      </p:sp>
      <p:sp>
        <p:nvSpPr>
          <p:cNvPr id="3" name="left-accent">
            <a:extLst xmlns:a="http://schemas.openxmlformats.org/drawingml/2006/main">
              <a:ext uri="{FF2B5EF4-FFF2-40B4-BE49-F238E27FC236}">
                <a16:creationId xmlns:a16="http://schemas.microsoft.com/office/drawing/2014/main" id="{EDB97BE4-C286-40C9-91A7-971D0732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27255F0-6B41-484D-9418-588C3CDA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6202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5" name="brand-dot">
            <a:extLst xmlns:a="http://schemas.openxmlformats.org/drawingml/2006/main">
              <a:ext uri="{FF2B5EF4-FFF2-40B4-BE49-F238E27FC236}">
                <a16:creationId xmlns:a16="http://schemas.microsoft.com/office/drawing/2014/main" id="{A96F48A4-27AD-436E-A01A-7A07C7F2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8EF23-0E5F-4105-A591-764A1DB8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5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 FUND 易方达风格参考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C414A-778D-4902-A3FE-AD5BFD37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987"/>
                </a:solidFill>
              </a:defRPr>
            </a:pPr>
            <a:r>
              <a:rPr sz="1200" b="1">
                <a:solidFill>
                  <a:srgbClr val="657987"/>
                </a:solidFill>
              </a:rPr>
              <a:t>方法｜长材料处理性能优化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32266-F116-4F5E-BDA1-F98AA76F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96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3456"/>
                </a:solidFill>
              </a:defRPr>
            </a:pPr>
            <a:r>
              <a:rPr sz="2250" b="1">
                <a:solidFill>
                  <a:srgbClr val="063456"/>
                </a:solidFill>
              </a:rPr>
              <a:t>长文件并行处理：提速、去重、截断兜底</a:t>
            </a:r>
          </a:p>
        </p:txBody>
      </p:sp>
      <p:sp>
        <p:nvSpPr>
          <p:cNvPr id="9" name="speed-badge-bg">
            <a:extLst xmlns:a="http://schemas.openxmlformats.org/drawingml/2006/main">
              <a:ext uri="{FF2B5EF4-FFF2-40B4-BE49-F238E27FC236}">
                <a16:creationId xmlns:a16="http://schemas.microsoft.com/office/drawing/2014/main" id="{A65800BE-6939-416B-8DBC-F30BF615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71550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peed-badge-accent">
            <a:extLst xmlns:a="http://schemas.openxmlformats.org/drawingml/2006/main">
              <a:ext uri="{FF2B5EF4-FFF2-40B4-BE49-F238E27FC236}">
                <a16:creationId xmlns:a16="http://schemas.microsoft.com/office/drawing/2014/main" id="{1E0A94FB-0018-4CB2-8BAB-CD571FEB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7155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26D84-1DAC-4BAE-A5BB-0DDC46DE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8B57"/>
                </a:solidFill>
              </a:defRPr>
            </a:pPr>
            <a:r>
              <a:rPr sz="1050" b="1">
                <a:solidFill>
                  <a:srgbClr val="2E8B57"/>
                </a:solidFill>
              </a:rPr>
              <a:t>速度提升 2x+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305D436-C5CA-43D6-AFB5-E6DAF66C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EFE49-F590-4737-BF15-E2FFB671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易方达基金 · 内部交流，请勿外传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06463-7C18-4524-ABAB-B91B89F5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8652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长文件处理母稿</a:t>
            </a:r>
          </a:p>
        </p:txBody>
      </p:sp>
      <p:sp>
        <p:nvSpPr>
          <p:cNvPr id="15" name="note-bg">
            <a:extLst xmlns:a="http://schemas.openxmlformats.org/drawingml/2006/main">
              <a:ext uri="{FF2B5EF4-FFF2-40B4-BE49-F238E27FC236}">
                <a16:creationId xmlns:a16="http://schemas.microsoft.com/office/drawing/2014/main" id="{D84C4150-70C0-4B1A-BDE0-6C1C4252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1002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te-accent">
            <a:extLst xmlns:a="http://schemas.openxmlformats.org/drawingml/2006/main">
              <a:ext uri="{FF2B5EF4-FFF2-40B4-BE49-F238E27FC236}">
                <a16:creationId xmlns:a16="http://schemas.microsoft.com/office/drawing/2014/main" id="{9C6FA6BF-5A90-434F-8662-8CC44445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C9A18-E327-4AEB-95CF-759540E8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38300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70" b="1">
                <a:solidFill>
                  <a:srgbClr val="063456"/>
                </a:solidFill>
              </a:defRPr>
            </a:pPr>
            <a:r>
              <a:rPr sz="1170" b="1">
                <a:solidFill>
                  <a:srgbClr val="063456"/>
                </a:solidFill>
              </a:rPr>
              <a:t>核心思路：长材料不整份硬塞给模型，而是按页 / 表格区域切分成任务队列；OCR、表格解析、LLM 抽取并行执行，再由合并层去重、校验和补偿。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BA85FA-925A-4FAC-8D8B-3F22AD32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并行处理逻辑</a:t>
            </a:r>
          </a:p>
        </p:txBody>
      </p:sp>
      <p:sp>
        <p:nvSpPr>
          <p:cNvPr id="19" name="pipeline-node">
            <a:extLst xmlns:a="http://schemas.openxmlformats.org/drawingml/2006/main">
              <a:ext uri="{FF2B5EF4-FFF2-40B4-BE49-F238E27FC236}">
                <a16:creationId xmlns:a16="http://schemas.microsoft.com/office/drawing/2014/main" id="{4DD8C4D9-1211-4F61-B5AE-BD91E454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1466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0" name="pipeline-node-top">
            <a:extLst xmlns:a="http://schemas.openxmlformats.org/drawingml/2006/main">
              <a:ext uri="{FF2B5EF4-FFF2-40B4-BE49-F238E27FC236}">
                <a16:creationId xmlns:a16="http://schemas.microsoft.com/office/drawing/2014/main" id="{B9748AD9-DFCF-4D19-878B-E870D43F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57BC0D-4F00-48C1-9358-CCF02E99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860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文件切分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D6FE65-D5E7-455F-93A9-9987BAE5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337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486171"/>
                </a:solidFill>
              </a:defRPr>
            </a:pPr>
            <a:r>
              <a:rPr sz="690" b="1">
                <a:solidFill>
                  <a:srgbClr val="486171"/>
                </a:solidFill>
              </a:rPr>
              <a:t>按页 / 表格 / 截图区域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180F46-3959-4A79-A527-A9D8BBF9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790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B5CF"/>
                </a:solidFill>
              </a:defRPr>
            </a:pPr>
            <a:r>
              <a:rPr sz="1350" b="1">
                <a:solidFill>
                  <a:srgbClr val="00B5CF"/>
                </a:solidFill>
              </a:rPr>
              <a:t>→</a:t>
            </a:r>
          </a:p>
        </p:txBody>
      </p:sp>
      <p:sp>
        <p:nvSpPr>
          <p:cNvPr id="24" name="pipeline-node">
            <a:extLst xmlns:a="http://schemas.openxmlformats.org/drawingml/2006/main">
              <a:ext uri="{FF2B5EF4-FFF2-40B4-BE49-F238E27FC236}">
                <a16:creationId xmlns:a16="http://schemas.microsoft.com/office/drawing/2014/main" id="{0C7B220B-2464-41D4-B6F2-A35F7094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52700"/>
            <a:ext cx="1466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5" name="pipeline-node-top">
            <a:extLst xmlns:a="http://schemas.openxmlformats.org/drawingml/2006/main">
              <a:ext uri="{FF2B5EF4-FFF2-40B4-BE49-F238E27FC236}">
                <a16:creationId xmlns:a16="http://schemas.microsoft.com/office/drawing/2014/main" id="{2D6DF45D-FE50-4A32-AF4C-13C41447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527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4F9AD5-07C5-409E-87F1-96E13306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860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任务入队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2D8DD4-4A2A-490D-A885-DECF1E63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337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486171"/>
                </a:solidFill>
              </a:defRPr>
            </a:pPr>
            <a:r>
              <a:rPr sz="690" b="1">
                <a:solidFill>
                  <a:srgbClr val="486171"/>
                </a:solidFill>
              </a:rPr>
              <a:t>OCR 与表格解析并行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FF3C53-960F-4EF8-B3CC-94EE5C9D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90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B5CF"/>
                </a:solidFill>
              </a:defRPr>
            </a:pPr>
            <a:r>
              <a:rPr sz="1350" b="1">
                <a:solidFill>
                  <a:srgbClr val="00B5CF"/>
                </a:solidFill>
              </a:rPr>
              <a:t>→</a:t>
            </a:r>
          </a:p>
        </p:txBody>
      </p:sp>
      <p:sp>
        <p:nvSpPr>
          <p:cNvPr id="29" name="pipeline-node">
            <a:extLst xmlns:a="http://schemas.openxmlformats.org/drawingml/2006/main">
              <a:ext uri="{FF2B5EF4-FFF2-40B4-BE49-F238E27FC236}">
                <a16:creationId xmlns:a16="http://schemas.microsoft.com/office/drawing/2014/main" id="{EB5B74DD-29D0-4DE4-A805-E12B3813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52700"/>
            <a:ext cx="1466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0" name="pipeline-node-top">
            <a:extLst xmlns:a="http://schemas.openxmlformats.org/drawingml/2006/main">
              <a:ext uri="{FF2B5EF4-FFF2-40B4-BE49-F238E27FC236}">
                <a16:creationId xmlns:a16="http://schemas.microsoft.com/office/drawing/2014/main" id="{198277B2-4C46-4319-AA45-60887A76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527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FEA81B-85B2-4BCB-A8DA-FDA1812C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860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并发抽取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ADD494-27FA-4640-8FD0-014DA2A7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337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486171"/>
                </a:solidFill>
              </a:defRPr>
            </a:pPr>
            <a:r>
              <a:rPr sz="690" b="1">
                <a:solidFill>
                  <a:srgbClr val="486171"/>
                </a:solidFill>
              </a:rPr>
              <a:t>多 chunk 调 LLM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72E139-6170-4AEB-8555-72786761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90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B5CF"/>
                </a:solidFill>
              </a:defRPr>
            </a:pPr>
            <a:r>
              <a:rPr sz="1350" b="1">
                <a:solidFill>
                  <a:srgbClr val="00B5CF"/>
                </a:solidFill>
              </a:rPr>
              <a:t>→</a:t>
            </a:r>
          </a:p>
        </p:txBody>
      </p:sp>
      <p:sp>
        <p:nvSpPr>
          <p:cNvPr id="34" name="pipeline-node">
            <a:extLst xmlns:a="http://schemas.openxmlformats.org/drawingml/2006/main">
              <a:ext uri="{FF2B5EF4-FFF2-40B4-BE49-F238E27FC236}">
                <a16:creationId xmlns:a16="http://schemas.microsoft.com/office/drawing/2014/main" id="{9170B197-A367-47D3-92FC-126DAEEA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1466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5" name="pipeline-node-top">
            <a:extLst xmlns:a="http://schemas.openxmlformats.org/drawingml/2006/main">
              <a:ext uri="{FF2B5EF4-FFF2-40B4-BE49-F238E27FC236}">
                <a16:creationId xmlns:a16="http://schemas.microsoft.com/office/drawing/2014/main" id="{3F780D5A-098D-40CB-97F1-8EDC440A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6B6C4E-A31F-4E3D-B17B-C230DB9A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860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统一合并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9C2755-03AF-4A65-AC96-5B27B105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486171"/>
                </a:solidFill>
              </a:defRPr>
            </a:pPr>
            <a:r>
              <a:rPr sz="690" b="1">
                <a:solidFill>
                  <a:srgbClr val="486171"/>
                </a:solidFill>
              </a:rPr>
              <a:t>按账户 / 证券 / 日期聚合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67C452-641E-4FC5-B468-9B1EAF06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790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B5CF"/>
                </a:solidFill>
              </a:defRPr>
            </a:pPr>
            <a:r>
              <a:rPr sz="1350" b="1">
                <a:solidFill>
                  <a:srgbClr val="00B5CF"/>
                </a:solidFill>
              </a:rPr>
              <a:t>→</a:t>
            </a:r>
          </a:p>
        </p:txBody>
      </p:sp>
      <p:sp>
        <p:nvSpPr>
          <p:cNvPr id="39" name="pipeline-node">
            <a:extLst xmlns:a="http://schemas.openxmlformats.org/drawingml/2006/main">
              <a:ext uri="{FF2B5EF4-FFF2-40B4-BE49-F238E27FC236}">
                <a16:creationId xmlns:a16="http://schemas.microsoft.com/office/drawing/2014/main" id="{D76FE1F3-1826-481F-A265-E57B978A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52700"/>
            <a:ext cx="1466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40" name="pipeline-node-top">
            <a:extLst xmlns:a="http://schemas.openxmlformats.org/drawingml/2006/main">
              <a:ext uri="{FF2B5EF4-FFF2-40B4-BE49-F238E27FC236}">
                <a16:creationId xmlns:a16="http://schemas.microsoft.com/office/drawing/2014/main" id="{98A27B39-9E7A-45BD-AF87-F477C2B8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527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E72D5B-42FD-4D71-8356-55077A43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去重兜底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84FFAD-2D96-45A9-9967-CD98F7DC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337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486171"/>
                </a:solidFill>
              </a:defRPr>
            </a:pPr>
            <a:r>
              <a:rPr sz="690" b="1">
                <a:solidFill>
                  <a:srgbClr val="486171"/>
                </a:solidFill>
              </a:rPr>
              <a:t>重复、截断、失败补偿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E8C168-3D81-4E31-95CE-AEC02285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790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B5CF"/>
                </a:solidFill>
              </a:defRPr>
            </a:pPr>
            <a:r>
              <a:rPr sz="1350" b="1">
                <a:solidFill>
                  <a:srgbClr val="00B5CF"/>
                </a:solidFill>
              </a:rPr>
              <a:t>→</a:t>
            </a:r>
          </a:p>
        </p:txBody>
      </p:sp>
      <p:sp>
        <p:nvSpPr>
          <p:cNvPr id="44" name="pipeline-node">
            <a:extLst xmlns:a="http://schemas.openxmlformats.org/drawingml/2006/main">
              <a:ext uri="{FF2B5EF4-FFF2-40B4-BE49-F238E27FC236}">
                <a16:creationId xmlns:a16="http://schemas.microsoft.com/office/drawing/2014/main" id="{900C1E97-CC82-4E36-895E-63F2F85A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52700"/>
            <a:ext cx="1466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45" name="pipeline-node-top">
            <a:extLst xmlns:a="http://schemas.openxmlformats.org/drawingml/2006/main">
              <a:ext uri="{FF2B5EF4-FFF2-40B4-BE49-F238E27FC236}">
                <a16:creationId xmlns:a16="http://schemas.microsoft.com/office/drawing/2014/main" id="{20BD1B19-FA00-4216-A137-5F226971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527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563394-B3AE-4CED-8552-C6A21CB1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860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最终输出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E09553-35E2-4715-8A0C-C74A7849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337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486171"/>
                </a:solidFill>
              </a:defRPr>
            </a:pPr>
            <a:r>
              <a:rPr sz="690" b="1">
                <a:solidFill>
                  <a:srgbClr val="486171"/>
                </a:solidFill>
              </a:rPr>
              <a:t>完整表 + 问题清单</a:t>
            </a:r>
          </a:p>
        </p:txBody>
      </p:sp>
      <p:sp>
        <p:nvSpPr>
          <p:cNvPr id="48" name="mini-card">
            <a:extLst xmlns:a="http://schemas.openxmlformats.org/drawingml/2006/main">
              <a:ext uri="{FF2B5EF4-FFF2-40B4-BE49-F238E27FC236}">
                <a16:creationId xmlns:a16="http://schemas.microsoft.com/office/drawing/2014/main" id="{251422C9-8E16-4A2D-8527-88E343CA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3105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49" name="mini-card-accent">
            <a:extLst xmlns:a="http://schemas.openxmlformats.org/drawingml/2006/main">
              <a:ext uri="{FF2B5EF4-FFF2-40B4-BE49-F238E27FC236}">
                <a16:creationId xmlns:a16="http://schemas.microsoft.com/office/drawing/2014/main" id="{744EFE2D-4F1A-40DA-AC29-548FE7F9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50" name="mini-label-bg">
            <a:extLst xmlns:a="http://schemas.openxmlformats.org/drawingml/2006/main">
              <a:ext uri="{FF2B5EF4-FFF2-40B4-BE49-F238E27FC236}">
                <a16:creationId xmlns:a16="http://schemas.microsoft.com/office/drawing/2014/main" id="{95631DCB-139F-4EE0-A662-200FBF8C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1475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3DCEF3-08C3-4E21-8F41-B3AFE8E2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71900"/>
            <a:ext cx="742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8B57"/>
                </a:solidFill>
              </a:defRPr>
            </a:pPr>
            <a:r>
              <a:rPr sz="825" b="1">
                <a:solidFill>
                  <a:srgbClr val="2E8B57"/>
                </a:solidFill>
              </a:rPr>
              <a:t>提速方式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863C0F-868B-414A-904A-63FA987E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475B"/>
                </a:solidFill>
              </a:defRPr>
            </a:pPr>
            <a:r>
              <a:rPr sz="975" b="1">
                <a:solidFill>
                  <a:srgbClr val="29475B"/>
                </a:solidFill>
              </a:rPr>
              <a:t>• OCR / PDF / Table 解析按页并发</a:t>
            </a:r>
          </a:p>
          <a:p xmlns:a="http://schemas.openxmlformats.org/drawingml/2006/main">
            <a:pPr algn="l">
              <a:defRPr sz="975" b="1">
                <a:solidFill>
                  <a:srgbClr val="29475B"/>
                </a:solidFill>
              </a:defRPr>
            </a:pPr>
            <a:r>
              <a:rPr sz="975" b="1">
                <a:solidFill>
                  <a:srgbClr val="29475B"/>
                </a:solidFill>
              </a:rPr>
              <a:t>• LLM 抽取按 chunk 并发，限制并发数防止拥塞</a:t>
            </a:r>
          </a:p>
          <a:p xmlns:a="http://schemas.openxmlformats.org/drawingml/2006/main">
            <a:pPr algn="l">
              <a:defRPr sz="975" b="1">
                <a:solidFill>
                  <a:srgbClr val="29475B"/>
                </a:solidFill>
              </a:defRPr>
            </a:pPr>
            <a:r>
              <a:rPr sz="975" b="1">
                <a:solidFill>
                  <a:srgbClr val="29475B"/>
                </a:solidFill>
              </a:rPr>
              <a:t>• 已解析文件做缓存，重复上传不重新 OCR</a:t>
            </a:r>
          </a:p>
          <a:p xmlns:a="http://schemas.openxmlformats.org/drawingml/2006/main">
            <a:pPr algn="l">
              <a:defRPr sz="975" b="1">
                <a:solidFill>
                  <a:srgbClr val="29475B"/>
                </a:solidFill>
              </a:defRPr>
            </a:pPr>
            <a:r>
              <a:rPr sz="975" b="1">
                <a:solidFill>
                  <a:srgbClr val="29475B"/>
                </a:solidFill>
              </a:rPr>
              <a:t>• 先做材料类型识别，只把相关片段送入抽取</a:t>
            </a:r>
          </a:p>
        </p:txBody>
      </p:sp>
      <p:sp>
        <p:nvSpPr>
          <p:cNvPr id="53" name="mini-card">
            <a:extLst xmlns:a="http://schemas.openxmlformats.org/drawingml/2006/main">
              <a:ext uri="{FF2B5EF4-FFF2-40B4-BE49-F238E27FC236}">
                <a16:creationId xmlns:a16="http://schemas.microsoft.com/office/drawing/2014/main" id="{876F9696-C9CA-4757-BE33-4BEEBA07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43300"/>
            <a:ext cx="3105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54" name="mini-card-accent">
            <a:extLst xmlns:a="http://schemas.openxmlformats.org/drawingml/2006/main">
              <a:ext uri="{FF2B5EF4-FFF2-40B4-BE49-F238E27FC236}">
                <a16:creationId xmlns:a16="http://schemas.microsoft.com/office/drawing/2014/main" id="{3AA48980-72A2-43A1-8C34-C69E188C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433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55" name="mini-label-bg">
            <a:extLst xmlns:a="http://schemas.openxmlformats.org/drawingml/2006/main">
              <a:ext uri="{FF2B5EF4-FFF2-40B4-BE49-F238E27FC236}">
                <a16:creationId xmlns:a16="http://schemas.microsoft.com/office/drawing/2014/main" id="{C4E5DEDF-D73C-499D-BE8A-38D11C35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1475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770B81-F1C7-4D1C-A0C6-6D291C40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71900"/>
            <a:ext cx="742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17A22"/>
                </a:solidFill>
              </a:defRPr>
            </a:pPr>
            <a:r>
              <a:rPr sz="825" b="1">
                <a:solidFill>
                  <a:srgbClr val="E17A22"/>
                </a:solidFill>
              </a:rPr>
              <a:t>兜底机制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23F9448-CBEB-404C-9523-902C3831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957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475B"/>
                </a:solidFill>
              </a:defRPr>
            </a:pPr>
            <a:r>
              <a:rPr sz="975" b="1">
                <a:solidFill>
                  <a:srgbClr val="29475B"/>
                </a:solidFill>
              </a:rPr>
              <a:t>• 每个 chunk 独立保存中间结果，失败可单段重试</a:t>
            </a:r>
          </a:p>
          <a:p xmlns:a="http://schemas.openxmlformats.org/drawingml/2006/main">
            <a:pPr algn="l">
              <a:defRPr sz="975" b="1">
                <a:solidFill>
                  <a:srgbClr val="29475B"/>
                </a:solidFill>
              </a:defRPr>
            </a:pPr>
            <a:r>
              <a:rPr sz="975" b="1">
                <a:solidFill>
                  <a:srgbClr val="29475B"/>
                </a:solidFill>
              </a:rPr>
              <a:t>• 预估 token，超限自动二次切分</a:t>
            </a:r>
          </a:p>
          <a:p xmlns:a="http://schemas.openxmlformats.org/drawingml/2006/main">
            <a:pPr algn="l">
              <a:defRPr sz="975" b="1">
                <a:solidFill>
                  <a:srgbClr val="29475B"/>
                </a:solidFill>
              </a:defRPr>
            </a:pPr>
            <a:r>
              <a:rPr sz="975" b="1">
                <a:solidFill>
                  <a:srgbClr val="29475B"/>
                </a:solidFill>
              </a:rPr>
              <a:t>• JSON 输出截断时按 checkpoint 续跑</a:t>
            </a:r>
          </a:p>
          <a:p xmlns:a="http://schemas.openxmlformats.org/drawingml/2006/main">
            <a:pPr algn="l">
              <a:defRPr sz="975" b="1">
                <a:solidFill>
                  <a:srgbClr val="29475B"/>
                </a:solidFill>
              </a:defRPr>
            </a:pPr>
            <a:r>
              <a:rPr sz="975" b="1">
                <a:solidFill>
                  <a:srgbClr val="29475B"/>
                </a:solidFill>
              </a:rPr>
              <a:t>• 合并层校验缺失字段并生成问题清单</a:t>
            </a:r>
          </a:p>
        </p:txBody>
      </p:sp>
      <p:sp>
        <p:nvSpPr>
          <p:cNvPr id="58" name="mini-card">
            <a:extLst xmlns:a="http://schemas.openxmlformats.org/drawingml/2006/main">
              <a:ext uri="{FF2B5EF4-FFF2-40B4-BE49-F238E27FC236}">
                <a16:creationId xmlns:a16="http://schemas.microsoft.com/office/drawing/2014/main" id="{5F10EDC0-33A8-42F1-954C-7C5694C8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3352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59" name="mini-card-accent">
            <a:extLst xmlns:a="http://schemas.openxmlformats.org/drawingml/2006/main">
              <a:ext uri="{FF2B5EF4-FFF2-40B4-BE49-F238E27FC236}">
                <a16:creationId xmlns:a16="http://schemas.microsoft.com/office/drawing/2014/main" id="{7A6EE7D2-88C8-4231-8B7E-8B6AA568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60" name="mini-label-bg">
            <a:extLst xmlns:a="http://schemas.openxmlformats.org/drawingml/2006/main">
              <a:ext uri="{FF2B5EF4-FFF2-40B4-BE49-F238E27FC236}">
                <a16:creationId xmlns:a16="http://schemas.microsoft.com/office/drawing/2014/main" id="{1AF36FBE-9819-4BA7-844A-76EDA64A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F0B3414-C798-4FC7-A361-59599ECA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71900"/>
            <a:ext cx="742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B5CF"/>
                </a:solidFill>
              </a:defRPr>
            </a:pPr>
            <a:r>
              <a:rPr sz="825" b="1">
                <a:solidFill>
                  <a:srgbClr val="00B5CF"/>
                </a:solidFill>
              </a:rPr>
              <a:t>去重合并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B27A3BA-FDC0-453B-BCEC-B3CBC779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2990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475B"/>
                </a:solidFill>
              </a:defRPr>
            </a:pPr>
            <a:r>
              <a:rPr sz="975" b="1">
                <a:solidFill>
                  <a:srgbClr val="29475B"/>
                </a:solidFill>
              </a:rPr>
              <a:t>• 交易按账户 + 证券代码 + 日期 + 方向 + 金额近似匹配</a:t>
            </a:r>
          </a:p>
          <a:p xmlns:a="http://schemas.openxmlformats.org/drawingml/2006/main">
            <a:pPr algn="l">
              <a:defRPr sz="975" b="1">
                <a:solidFill>
                  <a:srgbClr val="29475B"/>
                </a:solidFill>
              </a:defRPr>
            </a:pPr>
            <a:r>
              <a:rPr sz="975" b="1">
                <a:solidFill>
                  <a:srgbClr val="29475B"/>
                </a:solidFill>
              </a:rPr>
              <a:t>• 持仓按账户 + 证券代码 + 截止日期归并</a:t>
            </a:r>
          </a:p>
          <a:p xmlns:a="http://schemas.openxmlformats.org/drawingml/2006/main">
            <a:pPr algn="l">
              <a:defRPr sz="975" b="1">
                <a:solidFill>
                  <a:srgbClr val="29475B"/>
                </a:solidFill>
              </a:defRPr>
            </a:pPr>
            <a:r>
              <a:rPr sz="975" b="1">
                <a:solidFill>
                  <a:srgbClr val="29475B"/>
                </a:solidFill>
              </a:rPr>
              <a:t>• 同一证据多次命中只保留一条结果</a:t>
            </a:r>
          </a:p>
          <a:p xmlns:a="http://schemas.openxmlformats.org/drawingml/2006/main">
            <a:pPr algn="l">
              <a:defRPr sz="975" b="1">
                <a:solidFill>
                  <a:srgbClr val="29475B"/>
                </a:solidFill>
              </a:defRPr>
            </a:pPr>
            <a:r>
              <a:rPr sz="975" b="1">
                <a:solidFill>
                  <a:srgbClr val="29475B"/>
                </a:solidFill>
              </a:rPr>
              <a:t>• 冲突结果不覆盖，进入复核清单</a:t>
            </a:r>
          </a:p>
        </p:txBody>
      </p:sp>
      <p:sp>
        <p:nvSpPr>
          <p:cNvPr id="63" name="effect-panel">
            <a:extLst xmlns:a="http://schemas.openxmlformats.org/drawingml/2006/main">
              <a:ext uri="{FF2B5EF4-FFF2-40B4-BE49-F238E27FC236}">
                <a16:creationId xmlns:a16="http://schemas.microsoft.com/office/drawing/2014/main" id="{6F586CAD-BC30-4CB7-961F-7711A254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10020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64" name="effect-accent">
            <a:extLst xmlns:a="http://schemas.openxmlformats.org/drawingml/2006/main">
              <a:ext uri="{FF2B5EF4-FFF2-40B4-BE49-F238E27FC236}">
                <a16:creationId xmlns:a16="http://schemas.microsoft.com/office/drawing/2014/main" id="{B9E7AD65-625F-4265-A838-39358040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A34D47C-7BE4-4A74-A70A-E965F4C1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91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3456"/>
                </a:solidFill>
              </a:defRPr>
            </a:pPr>
            <a:r>
              <a:rPr sz="1275" b="1">
                <a:solidFill>
                  <a:srgbClr val="063456"/>
                </a:solidFill>
              </a:rPr>
              <a:t>效果展示：长材料处理耗时降低约 50%，速度提升一倍以上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35B955E-1B2F-4EDA-98C3-C42D6BD0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769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987"/>
                </a:solidFill>
              </a:defRPr>
            </a:pPr>
            <a:r>
              <a:rPr sz="975" b="1">
                <a:solidFill>
                  <a:srgbClr val="657987"/>
                </a:solidFill>
              </a:rPr>
              <a:t>串行处理</a:t>
            </a:r>
          </a:p>
        </p:txBody>
      </p:sp>
      <p:sp>
        <p:nvSpPr>
          <p:cNvPr id="67" name="bar-bg">
            <a:extLst xmlns:a="http://schemas.openxmlformats.org/drawingml/2006/main">
              <a:ext uri="{FF2B5EF4-FFF2-40B4-BE49-F238E27FC236}">
                <a16:creationId xmlns:a16="http://schemas.microsoft.com/office/drawing/2014/main" id="{ECB34048-18A0-4747-972D-80572470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9595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ar-fill">
            <a:extLst xmlns:a="http://schemas.openxmlformats.org/drawingml/2006/main">
              <a:ext uri="{FF2B5EF4-FFF2-40B4-BE49-F238E27FC236}">
                <a16:creationId xmlns:a16="http://schemas.microsoft.com/office/drawing/2014/main" id="{24322B46-5B91-4AD2-9720-BFF4E195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95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9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1761341-088C-46E4-A894-14D8C8C1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76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987"/>
                </a:solidFill>
              </a:defRPr>
            </a:pPr>
            <a:r>
              <a:rPr sz="975" b="1">
                <a:solidFill>
                  <a:srgbClr val="657987"/>
                </a:solidFill>
              </a:rPr>
              <a:t>约 20 min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563A8FB-739C-439E-8391-2771B609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9340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3456"/>
                </a:solidFill>
              </a:defRPr>
            </a:pPr>
            <a:r>
              <a:rPr sz="975" b="1">
                <a:solidFill>
                  <a:srgbClr val="063456"/>
                </a:solidFill>
              </a:rPr>
              <a:t>并行处理</a:t>
            </a:r>
          </a:p>
        </p:txBody>
      </p:sp>
      <p:sp>
        <p:nvSpPr>
          <p:cNvPr id="71" name="bar-bg">
            <a:extLst xmlns:a="http://schemas.openxmlformats.org/drawingml/2006/main">
              <a:ext uri="{FF2B5EF4-FFF2-40B4-BE49-F238E27FC236}">
                <a16:creationId xmlns:a16="http://schemas.microsoft.com/office/drawing/2014/main" id="{C38EDF79-3B86-4E3D-84F9-3C75A5B1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53125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ar-fill">
            <a:extLst xmlns:a="http://schemas.openxmlformats.org/drawingml/2006/main">
              <a:ext uri="{FF2B5EF4-FFF2-40B4-BE49-F238E27FC236}">
                <a16:creationId xmlns:a16="http://schemas.microsoft.com/office/drawing/2014/main" id="{6E3AD488-9E21-4FC9-9BB4-445A4ABC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531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E48F309-FAD9-47FA-B985-712DCC87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340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57"/>
                </a:solidFill>
              </a:defRPr>
            </a:pPr>
            <a:r>
              <a:rPr sz="975" b="1">
                <a:solidFill>
                  <a:srgbClr val="2E8B57"/>
                </a:solidFill>
              </a:rPr>
              <a:t>约 8–10 min</a:t>
            </a:r>
          </a:p>
        </p:txBody>
      </p:sp>
      <p:sp>
        <p:nvSpPr>
          <p:cNvPr id="74" name="speed-result">
            <a:extLst xmlns:a="http://schemas.openxmlformats.org/drawingml/2006/main">
              <a:ext uri="{FF2B5EF4-FFF2-40B4-BE49-F238E27FC236}">
                <a16:creationId xmlns:a16="http://schemas.microsoft.com/office/drawing/2014/main" id="{6E74DBFD-A575-428C-A7A6-4CA3A6F4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5054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4DDB3EB-87A1-4BB7-B596-8B2044C5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5530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8B57"/>
                </a:solidFill>
              </a:defRPr>
            </a:pPr>
            <a:r>
              <a:rPr sz="1875" b="1">
                <a:solidFill>
                  <a:srgbClr val="2E8B57"/>
                </a:solidFill>
              </a:rPr>
              <a:t>2x+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B0EB140-20C8-4D68-807F-9A0818E1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77215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8B57"/>
                </a:solidFill>
              </a:defRPr>
            </a:pPr>
            <a:r>
              <a:rPr sz="825" b="1">
                <a:solidFill>
                  <a:srgbClr val="2E8B57"/>
                </a:solidFill>
              </a:rPr>
              <a:t>处理速度提升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AB4034F-9753-4D6D-9277-FEDDFFB0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172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A9AA5"/>
                </a:solidFill>
              </a:defRPr>
            </a:pPr>
            <a:r>
              <a:rPr sz="788" b="1">
                <a:solidFill>
                  <a:srgbClr val="8A9AA5"/>
                </a:solidFill>
              </a:rPr>
              <a:t>注：效果用于汇报展示，可按实际测试数据替换为具体平均耗时。</a:t>
            </a:r>
          </a:p>
        </p:txBody>
      </p:sp>
    </p:spTree>
    <p:extLst>
      <p:ext uri="{BB962C8B-B14F-4D97-AF65-F5344CB8AC3E}">
        <p14:creationId xmlns:p14="http://schemas.microsoft.com/office/powerpoint/2010/main" val="733473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2026-06-23T13:14:59.5490000Z</dcterms:created>
  <dcterms:modified xsi:type="dcterms:W3CDTF">2026-06-23T13:14:59.5490000Z</dcterms:modified>
</coreProperties>
</file>