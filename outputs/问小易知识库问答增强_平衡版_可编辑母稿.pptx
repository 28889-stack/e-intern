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1a29c8f2b04763" /><Relationship Type="http://schemas.openxmlformats.org/officeDocument/2006/relationships/extended-properties" Target="/docProps/app.xml" Id="R9b9a52e124704c1e" /><Relationship Type="http://schemas.openxmlformats.org/officeDocument/2006/relationships/officeDocument" Target="/ppt/presentation.xml" Id="Rbd9d5d876c0e4f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af51a03ccb426b"/>
  </p:sldMasterIdLst>
  <p:notesMasterIdLst>
    <p:notesMasterId xmlns:r="http://schemas.openxmlformats.org/officeDocument/2006/relationships" r:id="Rafa770bf46e24552"/>
  </p:notesMasterIdLst>
  <p:sldIdLst>
    <p:sldId xmlns:r="http://schemas.openxmlformats.org/officeDocument/2006/relationships" id="256" r:id="R51a4e4e8939840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d2869aa08d4a95" /><Relationship Type="http://schemas.openxmlformats.org/officeDocument/2006/relationships/slideMaster" Target="/ppt/slideMasters/slideMaster1.xml" Id="R51af51a03ccb426b" /><Relationship Type="http://schemas.openxmlformats.org/officeDocument/2006/relationships/notesMaster" Target="/ppt/notesMasters/notesMaster1.xml" Id="Rafa770bf46e24552" /><Relationship Type="http://schemas.openxmlformats.org/officeDocument/2006/relationships/presProps" Target="/ppt/presProps.xml" Id="R0c3fb47a730b4db4" /><Relationship Type="http://schemas.openxmlformats.org/officeDocument/2006/relationships/tableStyles" Target="/ppt/tableStyles.xml" Id="Rd252b818bde34797" /><Relationship Type="http://schemas.openxmlformats.org/officeDocument/2006/relationships/slide" Target="/ppt/slides/slide1.xml" Id="R51a4e4e8939840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a4a6884533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bffa415bc144eb" /><Relationship Type="http://schemas.openxmlformats.org/officeDocument/2006/relationships/notesMaster" Target="/ppt/notesMasters/notesMaster1.xml" Id="Rc6dd39780e1c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b9b7d50a54f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b65669c8244ad0" /><Relationship Type="http://schemas.openxmlformats.org/officeDocument/2006/relationships/slideLayout" Target="/ppt/slideLayouts/slideLayout1.xml" Id="R09290a6b1bd5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290a6b1bd5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5d8f2fc7e4bf8" /><Relationship Type="http://schemas.openxmlformats.org/officeDocument/2006/relationships/notesSlide" Target="/ppt/notesSlides/notesSlide1.xml" Id="R095761568d54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31FAE245-A757-4993-99C2-DCAD677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8425DCFD-04E9-44BE-8AC3-2AEFB763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0AD2C081-87BC-4E60-8AAF-2218F546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6D16905C-48E1-4588-A597-5C09646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CFE5285-A3CA-4E89-B932-2D3C77EE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项目可拓展性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FEDA0BF-A78D-49AA-886D-8C272123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问小易增强：基于知识库的问答助手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64AAFA5C-B59C-4C26-8B17-9F82D18C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92A06623-1F53-476A-A707-5FD7961A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63DDF285-3414-40F2-A99B-53B897BB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CA402970-A9C9-4A56-83FB-D0D02423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知识库问答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22866A1D-D080-4D68-A624-BB882230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954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446"/>
                </a:solidFill>
              </a:defRPr>
            </a:pPr>
            <a:r>
              <a:rPr sz="1500" b="1">
                <a:solidFill>
                  <a:srgbClr val="1A3446"/>
                </a:solidFill>
              </a:rPr>
              <a:t>把制度、规则、材料口径沉淀成知识库，帮助复核人员快速获得可信处理口径。</a:t>
            </a:r>
          </a:p>
        </p:txBody>
      </p:sp>
      <p:sp>
        <p:nvSpPr>
          <p:cNvPr id="12" name="section-知识底座">
            <a:extLst xmlns:a="http://schemas.openxmlformats.org/drawingml/2006/main">
              <a:ext uri="{FF2B5EF4-FFF2-40B4-BE49-F238E27FC236}">
                <a16:creationId xmlns:a16="http://schemas.microsoft.com/office/drawing/2014/main" id="{E2A3654A-3BAF-433A-96AE-49B5FA7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知识底座</a:t>
            </a:r>
          </a:p>
        </p:txBody>
      </p:sp>
      <p:sp>
        <p:nvSpPr>
          <p:cNvPr id="13" name="section-line-知识底座">
            <a:extLst xmlns:a="http://schemas.openxmlformats.org/drawingml/2006/main">
              <a:ext uri="{FF2B5EF4-FFF2-40B4-BE49-F238E27FC236}">
                <a16:creationId xmlns:a16="http://schemas.microsoft.com/office/drawing/2014/main" id="{92386FAE-F56B-416D-9A4B-0C8C67E9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4" name="left-panel">
            <a:extLst xmlns:a="http://schemas.openxmlformats.org/drawingml/2006/main">
              <a:ext uri="{FF2B5EF4-FFF2-40B4-BE49-F238E27FC236}">
                <a16:creationId xmlns:a16="http://schemas.microsoft.com/office/drawing/2014/main" id="{0218EC97-25EF-4E41-BC2C-057005CA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571750" cy="29337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5" name="source-法规制度">
            <a:extLst xmlns:a="http://schemas.openxmlformats.org/drawingml/2006/main">
              <a:ext uri="{FF2B5EF4-FFF2-40B4-BE49-F238E27FC236}">
                <a16:creationId xmlns:a16="http://schemas.microsoft.com/office/drawing/2014/main" id="{0EC25CAC-6E16-42D4-8100-EA9A34F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343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6" name="source-accent-法规制度">
            <a:extLst xmlns:a="http://schemas.openxmlformats.org/drawingml/2006/main">
              <a:ext uri="{FF2B5EF4-FFF2-40B4-BE49-F238E27FC236}">
                <a16:creationId xmlns:a16="http://schemas.microsoft.com/office/drawing/2014/main" id="{A380D00D-EC4E-4813-8357-58685F85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7" name="source-title-法规制度">
            <a:extLst xmlns:a="http://schemas.openxmlformats.org/drawingml/2006/main">
              <a:ext uri="{FF2B5EF4-FFF2-40B4-BE49-F238E27FC236}">
                <a16:creationId xmlns:a16="http://schemas.microsoft.com/office/drawing/2014/main" id="{37A03C5C-F4B7-4545-9AC9-BB7076C6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908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08F"/>
                </a:solidFill>
              </a:defRPr>
            </a:pPr>
            <a:r>
              <a:rPr sz="1050" b="1">
                <a:solidFill>
                  <a:srgbClr val="00508F"/>
                </a:solidFill>
              </a:rPr>
              <a:t>法规制度</a:t>
            </a:r>
          </a:p>
        </p:txBody>
      </p:sp>
      <p:sp>
        <p:nvSpPr>
          <p:cNvPr id="18" name="source-note-法规制度">
            <a:extLst xmlns:a="http://schemas.openxmlformats.org/drawingml/2006/main">
              <a:ext uri="{FF2B5EF4-FFF2-40B4-BE49-F238E27FC236}">
                <a16:creationId xmlns:a16="http://schemas.microsoft.com/office/drawing/2014/main" id="{4B02B023-0E48-4B50-94F9-B6EFC243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从业规则、证券投资指引</a:t>
            </a:r>
          </a:p>
        </p:txBody>
      </p:sp>
      <p:sp>
        <p:nvSpPr>
          <p:cNvPr id="19" name="source-项目规则">
            <a:extLst xmlns:a="http://schemas.openxmlformats.org/drawingml/2006/main">
              <a:ext uri="{FF2B5EF4-FFF2-40B4-BE49-F238E27FC236}">
                <a16:creationId xmlns:a16="http://schemas.microsoft.com/office/drawing/2014/main" id="{FA8D64A3-12FE-444B-91E4-2E56303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2343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0" name="source-accent-项目规则">
            <a:extLst xmlns:a="http://schemas.openxmlformats.org/drawingml/2006/main">
              <a:ext uri="{FF2B5EF4-FFF2-40B4-BE49-F238E27FC236}">
                <a16:creationId xmlns:a16="http://schemas.microsoft.com/office/drawing/2014/main" id="{5CDB0657-5E9D-4568-A41D-E74B7DD4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1" name="source-title-项目规则">
            <a:extLst xmlns:a="http://schemas.openxmlformats.org/drawingml/2006/main">
              <a:ext uri="{FF2B5EF4-FFF2-40B4-BE49-F238E27FC236}">
                <a16:creationId xmlns:a16="http://schemas.microsoft.com/office/drawing/2014/main" id="{C9E8BAB2-78D0-4DB2-BB57-6625AF3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5757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B5CF"/>
                </a:solidFill>
              </a:defRPr>
            </a:pPr>
            <a:r>
              <a:rPr sz="1050" b="1">
                <a:solidFill>
                  <a:srgbClr val="00B5CF"/>
                </a:solidFill>
              </a:rPr>
              <a:t>项目规则</a:t>
            </a:r>
          </a:p>
        </p:txBody>
      </p:sp>
      <p:sp>
        <p:nvSpPr>
          <p:cNvPr id="22" name="source-note-项目规则">
            <a:extLst xmlns:a="http://schemas.openxmlformats.org/drawingml/2006/main">
              <a:ext uri="{FF2B5EF4-FFF2-40B4-BE49-F238E27FC236}">
                <a16:creationId xmlns:a16="http://schemas.microsoft.com/office/drawing/2014/main" id="{D548F2F1-E7E7-4360-977A-413D5CD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事件分类、申报口径</a:t>
            </a:r>
          </a:p>
        </p:txBody>
      </p:sp>
      <p:sp>
        <p:nvSpPr>
          <p:cNvPr id="23" name="source-材料样例">
            <a:extLst xmlns:a="http://schemas.openxmlformats.org/drawingml/2006/main">
              <a:ext uri="{FF2B5EF4-FFF2-40B4-BE49-F238E27FC236}">
                <a16:creationId xmlns:a16="http://schemas.microsoft.com/office/drawing/2014/main" id="{C9AB7E51-3565-476D-A845-8A1791D9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9550"/>
            <a:ext cx="2343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4" name="source-accent-材料样例">
            <a:extLst xmlns:a="http://schemas.openxmlformats.org/drawingml/2006/main">
              <a:ext uri="{FF2B5EF4-FFF2-40B4-BE49-F238E27FC236}">
                <a16:creationId xmlns:a16="http://schemas.microsoft.com/office/drawing/2014/main" id="{244E8C3B-35DD-4899-B8AF-1A73A5BC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95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5" name="source-title-材料样例">
            <a:extLst xmlns:a="http://schemas.openxmlformats.org/drawingml/2006/main">
              <a:ext uri="{FF2B5EF4-FFF2-40B4-BE49-F238E27FC236}">
                <a16:creationId xmlns:a16="http://schemas.microsoft.com/office/drawing/2014/main" id="{5BD68E62-4785-4CDA-AA50-579DAD08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24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57"/>
                </a:solidFill>
              </a:defRPr>
            </a:pPr>
            <a:r>
              <a:rPr sz="1050" b="1">
                <a:solidFill>
                  <a:srgbClr val="2E8B57"/>
                </a:solidFill>
              </a:rPr>
              <a:t>材料样例</a:t>
            </a:r>
          </a:p>
        </p:txBody>
      </p:sp>
      <p:sp>
        <p:nvSpPr>
          <p:cNvPr id="26" name="source-note-材料样例">
            <a:extLst xmlns:a="http://schemas.openxmlformats.org/drawingml/2006/main">
              <a:ext uri="{FF2B5EF4-FFF2-40B4-BE49-F238E27FC236}">
                <a16:creationId xmlns:a16="http://schemas.microsoft.com/office/drawing/2014/main" id="{7746AF34-9C96-405B-AE82-0286B582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338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对账单、中证登、截图</a:t>
            </a:r>
          </a:p>
        </p:txBody>
      </p:sp>
      <p:sp>
        <p:nvSpPr>
          <p:cNvPr id="27" name="source-复核经验">
            <a:extLst xmlns:a="http://schemas.openxmlformats.org/drawingml/2006/main">
              <a:ext uri="{FF2B5EF4-FFF2-40B4-BE49-F238E27FC236}">
                <a16:creationId xmlns:a16="http://schemas.microsoft.com/office/drawing/2014/main" id="{BEE7144E-F081-4E1F-9B60-EE51A920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2343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8" name="source-accent-复核经验">
            <a:extLst xmlns:a="http://schemas.openxmlformats.org/drawingml/2006/main">
              <a:ext uri="{FF2B5EF4-FFF2-40B4-BE49-F238E27FC236}">
                <a16:creationId xmlns:a16="http://schemas.microsoft.com/office/drawing/2014/main" id="{62800642-CB5E-4B5E-9FB0-B14C0115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9" name="source-title-复核经验">
            <a:extLst xmlns:a="http://schemas.openxmlformats.org/drawingml/2006/main">
              <a:ext uri="{FF2B5EF4-FFF2-40B4-BE49-F238E27FC236}">
                <a16:creationId xmlns:a16="http://schemas.microsoft.com/office/drawing/2014/main" id="{5F4E75B4-71B4-4642-BD40-09D85E04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9107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7A22"/>
                </a:solidFill>
              </a:defRPr>
            </a:pPr>
            <a:r>
              <a:rPr sz="1050" b="1">
                <a:solidFill>
                  <a:srgbClr val="E17A22"/>
                </a:solidFill>
              </a:rPr>
              <a:t>复核经验</a:t>
            </a:r>
          </a:p>
        </p:txBody>
      </p:sp>
      <p:sp>
        <p:nvSpPr>
          <p:cNvPr id="30" name="source-note-复核经验">
            <a:extLst xmlns:a="http://schemas.openxmlformats.org/drawingml/2006/main">
              <a:ext uri="{FF2B5EF4-FFF2-40B4-BE49-F238E27FC236}">
                <a16:creationId xmlns:a16="http://schemas.microsoft.com/office/drawing/2014/main" id="{5A41B8AB-357B-406C-B43B-07B648CD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常见问题与处理建议</a:t>
            </a:r>
          </a:p>
        </p:txBody>
      </p:sp>
      <p:sp>
        <p:nvSpPr>
          <p:cNvPr id="31" name="section-可以问什么">
            <a:extLst xmlns:a="http://schemas.openxmlformats.org/drawingml/2006/main">
              <a:ext uri="{FF2B5EF4-FFF2-40B4-BE49-F238E27FC236}">
                <a16:creationId xmlns:a16="http://schemas.microsoft.com/office/drawing/2014/main" id="{B3FEF3CD-14EE-4C11-8BEC-E98CAF2F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可以问什么</a:t>
            </a:r>
          </a:p>
        </p:txBody>
      </p:sp>
      <p:sp>
        <p:nvSpPr>
          <p:cNvPr id="32" name="section-line-可以问什么">
            <a:extLst xmlns:a="http://schemas.openxmlformats.org/drawingml/2006/main">
              <a:ext uri="{FF2B5EF4-FFF2-40B4-BE49-F238E27FC236}">
                <a16:creationId xmlns:a16="http://schemas.microsoft.com/office/drawing/2014/main" id="{F68133AF-6ABE-4353-AC0B-980396E7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907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3" name="center-panel">
            <a:extLst xmlns:a="http://schemas.openxmlformats.org/drawingml/2006/main">
              <a:ext uri="{FF2B5EF4-FFF2-40B4-BE49-F238E27FC236}">
                <a16:creationId xmlns:a16="http://schemas.microsoft.com/office/drawing/2014/main" id="{1425E523-1219-4315-96AD-F430EB64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4095750" cy="2933700"/>
          </a:xfrm>
          <a:prstGeom xmlns:a="http://schemas.openxmlformats.org/drawingml/2006/main" prst="roundRect">
            <a:avLst>
              <a:gd name="adj" fmla="val 19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4" name="qa-规则类">
            <a:extLst xmlns:a="http://schemas.openxmlformats.org/drawingml/2006/main">
              <a:ext uri="{FF2B5EF4-FFF2-40B4-BE49-F238E27FC236}">
                <a16:creationId xmlns:a16="http://schemas.microsoft.com/office/drawing/2014/main" id="{353BC5ED-BE54-4050-AD1F-99ACC86A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3905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5" name="qa-label-规则类">
            <a:extLst xmlns:a="http://schemas.openxmlformats.org/drawingml/2006/main">
              <a:ext uri="{FF2B5EF4-FFF2-40B4-BE49-F238E27FC236}">
                <a16:creationId xmlns:a16="http://schemas.microsoft.com/office/drawing/2014/main" id="{17C15A0D-8A45-4111-8356-A773052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86075"/>
            <a:ext cx="7620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36" name="qa-title-规则类">
            <a:extLst xmlns:a="http://schemas.openxmlformats.org/drawingml/2006/main">
              <a:ext uri="{FF2B5EF4-FFF2-40B4-BE49-F238E27FC236}">
                <a16:creationId xmlns:a16="http://schemas.microsoft.com/office/drawing/2014/main" id="{3358142A-9AA2-4660-B2B0-A4878301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43225"/>
            <a:ext cx="647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规则类</a:t>
            </a:r>
          </a:p>
        </p:txBody>
      </p:sp>
      <p:sp>
        <p:nvSpPr>
          <p:cNvPr id="37" name="qa-q1-规则类">
            <a:extLst xmlns:a="http://schemas.openxmlformats.org/drawingml/2006/main">
              <a:ext uri="{FF2B5EF4-FFF2-40B4-BE49-F238E27FC236}">
                <a16:creationId xmlns:a16="http://schemas.microsoft.com/office/drawing/2014/main" id="{B4627EB7-9AE9-499A-937B-7E7E6383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76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3456"/>
                </a:solidFill>
              </a:defRPr>
            </a:pPr>
            <a:r>
              <a:rPr sz="975" b="1">
                <a:solidFill>
                  <a:srgbClr val="063456"/>
                </a:solidFill>
              </a:rPr>
              <a:t>三个月持有期怎么计算？</a:t>
            </a:r>
          </a:p>
        </p:txBody>
      </p:sp>
      <p:sp>
        <p:nvSpPr>
          <p:cNvPr id="38" name="qa-q2-规则类">
            <a:extLst xmlns:a="http://schemas.openxmlformats.org/drawingml/2006/main">
              <a:ext uri="{FF2B5EF4-FFF2-40B4-BE49-F238E27FC236}">
                <a16:creationId xmlns:a16="http://schemas.microsoft.com/office/drawing/2014/main" id="{69E7A563-16B9-427B-ABEE-20EBE5BF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33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配偶、利害关系人交易有什么限制？</a:t>
            </a:r>
          </a:p>
        </p:txBody>
      </p:sp>
      <p:sp>
        <p:nvSpPr>
          <p:cNvPr id="39" name="qa-材料类">
            <a:extLst xmlns:a="http://schemas.openxmlformats.org/drawingml/2006/main">
              <a:ext uri="{FF2B5EF4-FFF2-40B4-BE49-F238E27FC236}">
                <a16:creationId xmlns:a16="http://schemas.microsoft.com/office/drawing/2014/main" id="{B2D6EDEB-E547-4D2C-86CC-00392E45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52825"/>
            <a:ext cx="3905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0" name="qa-label-材料类">
            <a:extLst xmlns:a="http://schemas.openxmlformats.org/drawingml/2006/main">
              <a:ext uri="{FF2B5EF4-FFF2-40B4-BE49-F238E27FC236}">
                <a16:creationId xmlns:a16="http://schemas.microsoft.com/office/drawing/2014/main" id="{1BF2A7F8-1F7E-4237-AB08-FC2AF114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7620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41" name="qa-title-材料类">
            <a:extLst xmlns:a="http://schemas.openxmlformats.org/drawingml/2006/main">
              <a:ext uri="{FF2B5EF4-FFF2-40B4-BE49-F238E27FC236}">
                <a16:creationId xmlns:a16="http://schemas.microsoft.com/office/drawing/2014/main" id="{A1632994-91C0-4508-9F6A-10B1D1F3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71900"/>
            <a:ext cx="647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材料类</a:t>
            </a:r>
          </a:p>
        </p:txBody>
      </p:sp>
      <p:sp>
        <p:nvSpPr>
          <p:cNvPr id="42" name="qa-q1-材料类">
            <a:extLst xmlns:a="http://schemas.openxmlformats.org/drawingml/2006/main">
              <a:ext uri="{FF2B5EF4-FFF2-40B4-BE49-F238E27FC236}">
                <a16:creationId xmlns:a16="http://schemas.microsoft.com/office/drawing/2014/main" id="{CBC3D5EE-69BD-40C7-8019-0E611ED7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052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3456"/>
                </a:solidFill>
              </a:defRPr>
            </a:pPr>
            <a:r>
              <a:rPr sz="975" b="1">
                <a:solidFill>
                  <a:srgbClr val="063456"/>
                </a:solidFill>
              </a:rPr>
              <a:t>红利入账是否进入最终申报？</a:t>
            </a:r>
          </a:p>
        </p:txBody>
      </p:sp>
      <p:sp>
        <p:nvSpPr>
          <p:cNvPr id="43" name="qa-q2-材料类">
            <a:extLst xmlns:a="http://schemas.openxmlformats.org/drawingml/2006/main">
              <a:ext uri="{FF2B5EF4-FFF2-40B4-BE49-F238E27FC236}">
                <a16:creationId xmlns:a16="http://schemas.microsoft.com/office/drawing/2014/main" id="{CFFE78A4-C21E-4A49-BB26-74B1331B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无交易证明应如何记录？</a:t>
            </a:r>
          </a:p>
        </p:txBody>
      </p:sp>
      <p:sp>
        <p:nvSpPr>
          <p:cNvPr id="44" name="qa-复核类">
            <a:extLst xmlns:a="http://schemas.openxmlformats.org/drawingml/2006/main">
              <a:ext uri="{FF2B5EF4-FFF2-40B4-BE49-F238E27FC236}">
                <a16:creationId xmlns:a16="http://schemas.microsoft.com/office/drawing/2014/main" id="{C59A0B09-1929-4B24-BA2F-B92A8C1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81500"/>
            <a:ext cx="3905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5" name="qa-label-复核类">
            <a:extLst xmlns:a="http://schemas.openxmlformats.org/drawingml/2006/main">
              <a:ext uri="{FF2B5EF4-FFF2-40B4-BE49-F238E27FC236}">
                <a16:creationId xmlns:a16="http://schemas.microsoft.com/office/drawing/2014/main" id="{D3DA538C-661A-4446-BA49-C4D70AD4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43425"/>
            <a:ext cx="7620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46" name="qa-title-复核类">
            <a:extLst xmlns:a="http://schemas.openxmlformats.org/drawingml/2006/main">
              <a:ext uri="{FF2B5EF4-FFF2-40B4-BE49-F238E27FC236}">
                <a16:creationId xmlns:a16="http://schemas.microsoft.com/office/drawing/2014/main" id="{B9A993C6-09FE-43F3-A9E8-1794144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00575"/>
            <a:ext cx="647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复核类</a:t>
            </a:r>
          </a:p>
        </p:txBody>
      </p:sp>
      <p:sp>
        <p:nvSpPr>
          <p:cNvPr id="47" name="qa-q1-复核类">
            <a:extLst xmlns:a="http://schemas.openxmlformats.org/drawingml/2006/main">
              <a:ext uri="{FF2B5EF4-FFF2-40B4-BE49-F238E27FC236}">
                <a16:creationId xmlns:a16="http://schemas.microsoft.com/office/drawing/2014/main" id="{88B1B001-3E22-470F-A7E0-DCE15796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33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3456"/>
                </a:solidFill>
              </a:defRPr>
            </a:pPr>
            <a:r>
              <a:rPr sz="975" b="1">
                <a:solidFill>
                  <a:srgbClr val="063456"/>
                </a:solidFill>
              </a:rPr>
              <a:t>材料与申报不一致时看哪里？</a:t>
            </a:r>
          </a:p>
        </p:txBody>
      </p:sp>
      <p:sp>
        <p:nvSpPr>
          <p:cNvPr id="48" name="qa-q2-复核类">
            <a:extLst xmlns:a="http://schemas.openxmlformats.org/drawingml/2006/main">
              <a:ext uri="{FF2B5EF4-FFF2-40B4-BE49-F238E27FC236}">
                <a16:creationId xmlns:a16="http://schemas.microsoft.com/office/drawing/2014/main" id="{FB83159F-6FB3-4495-8919-D3840BB1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910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哪些异常需要人工确认？</a:t>
            </a:r>
          </a:p>
        </p:txBody>
      </p:sp>
      <p:sp>
        <p:nvSpPr>
          <p:cNvPr id="49" name="section-答案要求">
            <a:extLst xmlns:a="http://schemas.openxmlformats.org/drawingml/2006/main">
              <a:ext uri="{FF2B5EF4-FFF2-40B4-BE49-F238E27FC236}">
                <a16:creationId xmlns:a16="http://schemas.microsoft.com/office/drawing/2014/main" id="{2AFC3060-129D-4FFC-BC08-3BC250FD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答案要求</a:t>
            </a:r>
          </a:p>
        </p:txBody>
      </p:sp>
      <p:sp>
        <p:nvSpPr>
          <p:cNvPr id="50" name="section-line-答案要求">
            <a:extLst xmlns:a="http://schemas.openxmlformats.org/drawingml/2006/main">
              <a:ext uri="{FF2B5EF4-FFF2-40B4-BE49-F238E27FC236}">
                <a16:creationId xmlns:a16="http://schemas.microsoft.com/office/drawing/2014/main" id="{A2A1932A-7DBD-47F8-AE1E-B8676136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90775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51" name="right-panel">
            <a:extLst xmlns:a="http://schemas.openxmlformats.org/drawingml/2006/main">
              <a:ext uri="{FF2B5EF4-FFF2-40B4-BE49-F238E27FC236}">
                <a16:creationId xmlns:a16="http://schemas.microsoft.com/office/drawing/2014/main" id="{AF0D5522-CD07-48B2-A145-08C4A2EA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552700" cy="293370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2" name="std-有依据">
            <a:extLst xmlns:a="http://schemas.openxmlformats.org/drawingml/2006/main">
              <a:ext uri="{FF2B5EF4-FFF2-40B4-BE49-F238E27FC236}">
                <a16:creationId xmlns:a16="http://schemas.microsoft.com/office/drawing/2014/main" id="{7DAE2CF0-C438-4FF1-90BD-52CAAC2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8130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53" name="std-title-有依据">
            <a:extLst xmlns:a="http://schemas.openxmlformats.org/drawingml/2006/main">
              <a:ext uri="{FF2B5EF4-FFF2-40B4-BE49-F238E27FC236}">
                <a16:creationId xmlns:a16="http://schemas.microsoft.com/office/drawing/2014/main" id="{F3CAC5C2-3C88-4E60-AA93-84F9CA45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241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08F"/>
                </a:solidFill>
              </a:defRPr>
            </a:pPr>
            <a:r>
              <a:rPr sz="1200" b="1">
                <a:solidFill>
                  <a:srgbClr val="00508F"/>
                </a:solidFill>
              </a:rPr>
              <a:t>有依据</a:t>
            </a:r>
          </a:p>
        </p:txBody>
      </p:sp>
      <p:sp>
        <p:nvSpPr>
          <p:cNvPr id="54" name="std-note-有依据">
            <a:extLst xmlns:a="http://schemas.openxmlformats.org/drawingml/2006/main">
              <a:ext uri="{FF2B5EF4-FFF2-40B4-BE49-F238E27FC236}">
                <a16:creationId xmlns:a16="http://schemas.microsoft.com/office/drawing/2014/main" id="{03D85729-6246-4788-A272-01E1D84F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0040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回答附制度或材料来源</a:t>
            </a:r>
          </a:p>
        </p:txBody>
      </p:sp>
      <p:sp>
        <p:nvSpPr>
          <p:cNvPr id="55" name="std-可追溯">
            <a:extLst xmlns:a="http://schemas.openxmlformats.org/drawingml/2006/main">
              <a:ext uri="{FF2B5EF4-FFF2-40B4-BE49-F238E27FC236}">
                <a16:creationId xmlns:a16="http://schemas.microsoft.com/office/drawing/2014/main" id="{97EA90C3-D901-492C-8559-25B5ED27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8140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56" name="std-title-可追溯">
            <a:extLst xmlns:a="http://schemas.openxmlformats.org/drawingml/2006/main">
              <a:ext uri="{FF2B5EF4-FFF2-40B4-BE49-F238E27FC236}">
                <a16:creationId xmlns:a16="http://schemas.microsoft.com/office/drawing/2014/main" id="{E1F5AE47-8A64-489F-A693-7D160F40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242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8B57"/>
                </a:solidFill>
              </a:defRPr>
            </a:pPr>
            <a:r>
              <a:rPr sz="1200" b="1">
                <a:solidFill>
                  <a:srgbClr val="2E8B57"/>
                </a:solidFill>
              </a:rPr>
              <a:t>可追溯</a:t>
            </a:r>
          </a:p>
        </p:txBody>
      </p:sp>
      <p:sp>
        <p:nvSpPr>
          <p:cNvPr id="57" name="std-note-可追溯">
            <a:extLst xmlns:a="http://schemas.openxmlformats.org/drawingml/2006/main">
              <a:ext uri="{FF2B5EF4-FFF2-40B4-BE49-F238E27FC236}">
                <a16:creationId xmlns:a16="http://schemas.microsoft.com/office/drawing/2014/main" id="{16134E27-54DC-4827-A8D3-9B339C37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0050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保留来源、版本和时间</a:t>
            </a:r>
          </a:p>
        </p:txBody>
      </p:sp>
      <p:sp>
        <p:nvSpPr>
          <p:cNvPr id="58" name="std-可维护">
            <a:extLst xmlns:a="http://schemas.openxmlformats.org/drawingml/2006/main">
              <a:ext uri="{FF2B5EF4-FFF2-40B4-BE49-F238E27FC236}">
                <a16:creationId xmlns:a16="http://schemas.microsoft.com/office/drawing/2014/main" id="{536320CB-63D9-49B8-823C-C68B8C52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81500"/>
            <a:ext cx="2190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59" name="std-title-可维护">
            <a:extLst xmlns:a="http://schemas.openxmlformats.org/drawingml/2006/main">
              <a:ext uri="{FF2B5EF4-FFF2-40B4-BE49-F238E27FC236}">
                <a16:creationId xmlns:a16="http://schemas.microsoft.com/office/drawing/2014/main" id="{E3BC6CB3-0A66-485C-9EEA-216E4D17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5243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7A22"/>
                </a:solidFill>
              </a:defRPr>
            </a:pPr>
            <a:r>
              <a:rPr sz="1200" b="1">
                <a:solidFill>
                  <a:srgbClr val="E17A22"/>
                </a:solidFill>
              </a:rPr>
              <a:t>可维护</a:t>
            </a:r>
          </a:p>
        </p:txBody>
      </p:sp>
      <p:sp>
        <p:nvSpPr>
          <p:cNvPr id="60" name="std-note-可维护">
            <a:extLst xmlns:a="http://schemas.openxmlformats.org/drawingml/2006/main">
              <a:ext uri="{FF2B5EF4-FFF2-40B4-BE49-F238E27FC236}">
                <a16:creationId xmlns:a16="http://schemas.microsoft.com/office/drawing/2014/main" id="{FB05FB54-9E34-4F64-8C1B-40939F8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0060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口径变化后可更新</a:t>
            </a:r>
          </a:p>
        </p:txBody>
      </p:sp>
      <p:sp>
        <p:nvSpPr>
          <p:cNvPr id="61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2BA5F530-3590-4F49-AC6F-C8D98C38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10020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62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C863B64F-82E5-4D54-8EF6-94E1CEC1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63" name="bottom-text">
            <a:extLst xmlns:a="http://schemas.openxmlformats.org/drawingml/2006/main">
              <a:ext uri="{FF2B5EF4-FFF2-40B4-BE49-F238E27FC236}">
                <a16:creationId xmlns:a16="http://schemas.microsoft.com/office/drawing/2014/main" id="{2F2111EA-C29A-4F21-9077-734C58F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7692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456"/>
                </a:solidFill>
              </a:defRPr>
            </a:pPr>
            <a:r>
              <a:rPr sz="1500" b="1">
                <a:solidFill>
                  <a:srgbClr val="063456"/>
                </a:solidFill>
              </a:rPr>
              <a:t>目标：少翻制度，少问口径，快速得到可核验的回答。</a:t>
            </a:r>
          </a:p>
        </p:txBody>
      </p:sp>
      <p:sp>
        <p:nvSpPr>
          <p:cNvPr id="6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4ACACA8-FFBC-4B92-9011-E63E811B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6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B603DF-ADB8-460D-AA88-EB0643FD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6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65DB231-B7CE-4310-BED1-6FC58ACB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问小易增强 / 平衡版</a:t>
            </a:r>
          </a:p>
        </p:txBody>
      </p:sp>
    </p:spTree>
    <p:extLst>
      <p:ext uri="{BB962C8B-B14F-4D97-AF65-F5344CB8AC3E}">
        <p14:creationId xmlns:p14="http://schemas.microsoft.com/office/powerpoint/2010/main" val="2093434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2026-06-25T03:31:18.5290000Z</dcterms:created>
  <dcterms:modified xsi:type="dcterms:W3CDTF">2026-06-25T03:31:18.5290000Z</dcterms:modified>
</coreProperties>
</file>