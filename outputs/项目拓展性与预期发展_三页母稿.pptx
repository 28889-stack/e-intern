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a4097d99bd844a6" /><Relationship Type="http://schemas.openxmlformats.org/officeDocument/2006/relationships/extended-properties" Target="/docProps/app.xml" Id="R72ef8fa79ba4424c" /><Relationship Type="http://schemas.openxmlformats.org/officeDocument/2006/relationships/officeDocument" Target="/ppt/presentation.xml" Id="R3db46b40a80c48c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4c96e3928454f96"/>
  </p:sldMasterIdLst>
  <p:notesMasterIdLst>
    <p:notesMasterId xmlns:r="http://schemas.openxmlformats.org/officeDocument/2006/relationships" r:id="R197c8e43237e4147"/>
  </p:notesMasterIdLst>
  <p:sldIdLst>
    <p:sldId xmlns:r="http://schemas.openxmlformats.org/officeDocument/2006/relationships" id="256" r:id="Rc4845c112b46423b"/>
    <p:sldId xmlns:r="http://schemas.openxmlformats.org/officeDocument/2006/relationships" id="257" r:id="Ra9fc1ce01dda4c5d"/>
    <p:sldId xmlns:r="http://schemas.openxmlformats.org/officeDocument/2006/relationships" id="258" r:id="R3dc53304b759425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c4080d137154c66" /><Relationship Type="http://schemas.openxmlformats.org/officeDocument/2006/relationships/slideMaster" Target="/ppt/slideMasters/slideMaster1.xml" Id="Rb4c96e3928454f96" /><Relationship Type="http://schemas.openxmlformats.org/officeDocument/2006/relationships/notesMaster" Target="/ppt/notesMasters/notesMaster1.xml" Id="R197c8e43237e4147" /><Relationship Type="http://schemas.openxmlformats.org/officeDocument/2006/relationships/presProps" Target="/ppt/presProps.xml" Id="Rfec85ea9865e4e27" /><Relationship Type="http://schemas.openxmlformats.org/officeDocument/2006/relationships/tableStyles" Target="/ppt/tableStyles.xml" Id="Ra6df980bfcd84768" /><Relationship Type="http://schemas.openxmlformats.org/officeDocument/2006/relationships/slide" Target="/ppt/slides/slide1.xml" Id="Rc4845c112b46423b" /><Relationship Type="http://schemas.openxmlformats.org/officeDocument/2006/relationships/slide" Target="/ppt/slides/slide2.xml" Id="Ra9fc1ce01dda4c5d" /><Relationship Type="http://schemas.openxmlformats.org/officeDocument/2006/relationships/slide" Target="/ppt/slides/slide3.xml" Id="R3dc53304b759425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6bf6ae1713d430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1e40ca6bd404886" /><Relationship Type="http://schemas.openxmlformats.org/officeDocument/2006/relationships/notesMaster" Target="/ppt/notesMasters/notesMaster1.xml" Id="R5f016db6010d46a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b77aeac742d4c85" /><Relationship Type="http://schemas.openxmlformats.org/officeDocument/2006/relationships/notesMaster" Target="/ppt/notesMasters/notesMaster1.xml" Id="Ra271012f075c484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5157df146a14309" /><Relationship Type="http://schemas.openxmlformats.org/officeDocument/2006/relationships/notesMaster" Target="/ppt/notesMasters/notesMaster1.xml" Id="R140ea57a4e1c419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d9a83a6f0341c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9aa5cbeefc24464" /><Relationship Type="http://schemas.openxmlformats.org/officeDocument/2006/relationships/slideLayout" Target="/ppt/slideLayouts/slideLayout1.xml" Id="R4b5bf3a0108e412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b5bf3a0108e412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1fe593ee5742c1" /><Relationship Type="http://schemas.openxmlformats.org/officeDocument/2006/relationships/notesSlide" Target="/ppt/notesSlides/notesSlide1.xml" Id="R64769f25e08e4b5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e141453b9b40f9" /><Relationship Type="http://schemas.openxmlformats.org/officeDocument/2006/relationships/notesSlide" Target="/ppt/notesSlides/notesSlide2.xml" Id="R17f7263de8a148e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71067cf32b4899" /><Relationship Type="http://schemas.openxmlformats.org/officeDocument/2006/relationships/notesSlide" Target="/ppt/notesSlides/notesSlide3.xml" Id="R02adb20872894aa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r">
            <a:extLst xmlns:a="http://schemas.openxmlformats.org/drawingml/2006/main">
              <a:ext uri="{FF2B5EF4-FFF2-40B4-BE49-F238E27FC236}">
                <a16:creationId xmlns:a16="http://schemas.microsoft.com/office/drawing/2014/main" id="{2BB7DAC1-64C3-4189-BE2A-4AEE592EC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08F"/>
          </a:solidFill>
          <a:ln xmlns:a="http://schemas.openxmlformats.org/drawingml/2006/main" w="0">
            <a:solidFill>
              <a:srgbClr val="00508F"/>
            </a:solidFill>
            <a:prstDash val="solid"/>
          </a:ln>
        </p:spPr>
      </p:sp>
      <p:sp>
        <p:nvSpPr>
          <p:cNvPr id="2" name="left-bg">
            <a:extLst xmlns:a="http://schemas.openxmlformats.org/drawingml/2006/main">
              <a:ext uri="{FF2B5EF4-FFF2-40B4-BE49-F238E27FC236}">
                <a16:creationId xmlns:a16="http://schemas.microsoft.com/office/drawing/2014/main" id="{40C969E8-EA35-45AA-90C6-D07DD1AA8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0525"/>
            <a:ext cx="952500" cy="6467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2F6"/>
          </a:solidFill>
          <a:ln xmlns:a="http://schemas.openxmlformats.org/drawingml/2006/main" w="0">
            <a:solidFill>
              <a:srgbClr val="E9F2F6"/>
            </a:solidFill>
            <a:prstDash val="solid"/>
          </a:ln>
        </p:spPr>
      </p:sp>
      <p:sp>
        <p:nvSpPr>
          <p:cNvPr id="3" name="left-accent">
            <a:extLst xmlns:a="http://schemas.openxmlformats.org/drawingml/2006/main">
              <a:ext uri="{FF2B5EF4-FFF2-40B4-BE49-F238E27FC236}">
                <a16:creationId xmlns:a16="http://schemas.microsoft.com/office/drawing/2014/main" id="{16F32738-47F3-4128-AA94-268B66783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0525"/>
            <a:ext cx="114300" cy="6467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 w="0">
            <a:solidFill>
              <a:srgbClr val="00B5CF"/>
            </a:solidFill>
            <a:prstDash val="solid"/>
          </a:ln>
        </p:spPr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EB35C6ED-D6DC-48EF-8CB4-D7380817A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962025"/>
            <a:ext cx="10020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 w="0">
            <a:solidFill>
              <a:srgbClr val="00B5CF"/>
            </a:solidFill>
            <a:prstDash val="solid"/>
          </a:ln>
        </p:spPr>
      </p:sp>
      <p:sp>
        <p:nvSpPr>
          <p:cNvPr id="5" name="brand-dot">
            <a:extLst xmlns:a="http://schemas.openxmlformats.org/drawingml/2006/main">
              <a:ext uri="{FF2B5EF4-FFF2-40B4-BE49-F238E27FC236}">
                <a16:creationId xmlns:a16="http://schemas.microsoft.com/office/drawing/2014/main" id="{98AE1E45-272C-4936-87CA-50005A68E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143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 w="0">
            <a:solidFill>
              <a:srgbClr val="00B5C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E67B2B-9D6F-4162-96DB-B062E6F82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952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E FUND 易方达风格参考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A6FDFF-836A-4B9C-BDE8-3DB23170A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42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57987"/>
                </a:solidFill>
              </a:defRPr>
            </a:pPr>
            <a:r>
              <a:rPr sz="1200" b="1">
                <a:solidFill>
                  <a:srgbClr val="657987"/>
                </a:solidFill>
              </a:rPr>
              <a:t>拓展一｜规则理解能力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483FD3-ADBE-4F42-8245-E928FFE5D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009650"/>
            <a:ext cx="752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63456"/>
                </a:solidFill>
              </a:defRPr>
            </a:pPr>
            <a:r>
              <a:rPr sz="2250" b="1">
                <a:solidFill>
                  <a:srgbClr val="063456"/>
                </a:solidFill>
              </a:rPr>
              <a:t>增强 Graph RAG 能力，提升规则理解与关联判断</a:t>
            </a:r>
          </a:p>
        </p:txBody>
      </p:sp>
      <p:sp>
        <p:nvSpPr>
          <p:cNvPr id="9" name="badge-bg">
            <a:extLst xmlns:a="http://schemas.openxmlformats.org/drawingml/2006/main">
              <a:ext uri="{FF2B5EF4-FFF2-40B4-BE49-F238E27FC236}">
                <a16:creationId xmlns:a16="http://schemas.microsoft.com/office/drawing/2014/main" id="{84C8EC41-FFCE-478F-9094-8A159DAAB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971550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adge-accent">
            <a:extLst xmlns:a="http://schemas.openxmlformats.org/drawingml/2006/main">
              <a:ext uri="{FF2B5EF4-FFF2-40B4-BE49-F238E27FC236}">
                <a16:creationId xmlns:a16="http://schemas.microsoft.com/office/drawing/2014/main" id="{44F04C3E-5593-4565-A0DF-5FBF43973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971550"/>
            <a:ext cx="38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7A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D759DF-7968-4DE9-98E8-D54796F71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066800"/>
            <a:ext cx="1485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E17A22"/>
                </a:solidFill>
              </a:defRPr>
            </a:pPr>
            <a:r>
              <a:rPr sz="1013" b="1">
                <a:solidFill>
                  <a:srgbClr val="E17A22"/>
                </a:solidFill>
              </a:rPr>
              <a:t>规则理解增强</a:t>
            </a:r>
          </a:p>
        </p:txBody>
      </p:sp>
      <p:sp>
        <p:nvSpPr>
          <p:cNvPr id="12" name="footer-rule">
            <a:extLst xmlns:a="http://schemas.openxmlformats.org/drawingml/2006/main">
              <a:ext uri="{FF2B5EF4-FFF2-40B4-BE49-F238E27FC236}">
                <a16:creationId xmlns:a16="http://schemas.microsoft.com/office/drawing/2014/main" id="{216EDBFC-B6C6-48B6-A608-459D3CFC9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381750"/>
            <a:ext cx="10020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EA"/>
          </a:solidFill>
          <a:ln xmlns:a="http://schemas.openxmlformats.org/drawingml/2006/main" w="0">
            <a:solidFill>
              <a:srgbClr val="D7E4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44B311-10E2-4FF1-9DFF-B014AB859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48652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A9AA5"/>
                </a:solidFill>
              </a:defRPr>
            </a:pPr>
            <a:r>
              <a:rPr sz="825" b="1">
                <a:solidFill>
                  <a:srgbClr val="8A9AA5"/>
                </a:solidFill>
              </a:rPr>
              <a:t>易方达基金 · 内部交流，请勿外传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8F88AA-AA43-401E-AAC8-0AEEF9810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86525"/>
            <a:ext cx="1543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A9AA5"/>
                </a:solidFill>
              </a:defRPr>
            </a:pPr>
            <a:r>
              <a:rPr sz="825" b="1">
                <a:solidFill>
                  <a:srgbClr val="8A9AA5"/>
                </a:solidFill>
              </a:rPr>
              <a:t>拓展性与预期发展 1/3</a:t>
            </a:r>
          </a:p>
        </p:txBody>
      </p:sp>
      <p:sp>
        <p:nvSpPr>
          <p:cNvPr id="15" name="note-bg">
            <a:extLst xmlns:a="http://schemas.openxmlformats.org/drawingml/2006/main">
              <a:ext uri="{FF2B5EF4-FFF2-40B4-BE49-F238E27FC236}">
                <a16:creationId xmlns:a16="http://schemas.microsoft.com/office/drawing/2014/main" id="{C868E88F-0141-4E69-B19A-54A323BFF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24000"/>
            <a:ext cx="10020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note-accent">
            <a:extLst xmlns:a="http://schemas.openxmlformats.org/drawingml/2006/main">
              <a:ext uri="{FF2B5EF4-FFF2-40B4-BE49-F238E27FC236}">
                <a16:creationId xmlns:a16="http://schemas.microsoft.com/office/drawing/2014/main" id="{6234621D-04BD-4F1C-907A-2FA02E920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2400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8DEE88-D76A-42C6-B62D-0CA9ACEAC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638300"/>
            <a:ext cx="967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40" b="1">
                <a:solidFill>
                  <a:srgbClr val="063456"/>
                </a:solidFill>
              </a:defRPr>
            </a:pPr>
            <a:r>
              <a:rPr sz="1140" b="1">
                <a:solidFill>
                  <a:srgbClr val="063456"/>
                </a:solidFill>
              </a:rPr>
              <a:t>Graph RAG 不只服务材料抽取，也可以作为规则理解层：把制度条款、业务口径、交易类型和证据要求组织成关系网络，帮助模型在抽取和判断前获得更完整的规则上下文。</a:t>
            </a:r>
          </a:p>
        </p:txBody>
      </p:sp>
      <p:sp>
        <p:nvSpPr>
          <p:cNvPr id="18" name="column">
            <a:extLst xmlns:a="http://schemas.openxmlformats.org/drawingml/2006/main">
              <a:ext uri="{FF2B5EF4-FFF2-40B4-BE49-F238E27FC236}">
                <a16:creationId xmlns:a16="http://schemas.microsoft.com/office/drawing/2014/main" id="{7E78E817-B920-446F-A523-980E49B45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62200"/>
            <a:ext cx="31051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19" name="column-top">
            <a:extLst xmlns:a="http://schemas.openxmlformats.org/drawingml/2006/main">
              <a:ext uri="{FF2B5EF4-FFF2-40B4-BE49-F238E27FC236}">
                <a16:creationId xmlns:a16="http://schemas.microsoft.com/office/drawing/2014/main" id="{D95E7C85-EACF-4F67-BA6F-EA71AC717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62200"/>
            <a:ext cx="3105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 w="0">
            <a:solidFill>
              <a:srgbClr val="00B5CF"/>
            </a:solidFill>
            <a:prstDash val="solid"/>
          </a:ln>
        </p:spPr>
      </p:sp>
      <p:sp>
        <p:nvSpPr>
          <p:cNvPr id="20" name="label-bg">
            <a:extLst xmlns:a="http://schemas.openxmlformats.org/drawingml/2006/main">
              <a:ext uri="{FF2B5EF4-FFF2-40B4-BE49-F238E27FC236}">
                <a16:creationId xmlns:a16="http://schemas.microsoft.com/office/drawing/2014/main" id="{B666D384-8B71-4B62-B79F-336CD4B34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590800"/>
            <a:ext cx="1219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label-accent">
            <a:extLst xmlns:a="http://schemas.openxmlformats.org/drawingml/2006/main">
              <a:ext uri="{FF2B5EF4-FFF2-40B4-BE49-F238E27FC236}">
                <a16:creationId xmlns:a16="http://schemas.microsoft.com/office/drawing/2014/main" id="{DDEF285D-A601-4A0E-AEEF-F4A26B3EE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590800"/>
            <a:ext cx="38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5A0228-80DD-4887-9D6B-D8E620B10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657475"/>
            <a:ext cx="990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00B5CF"/>
                </a:solidFill>
              </a:defRPr>
            </a:pPr>
            <a:r>
              <a:rPr sz="863" b="1">
                <a:solidFill>
                  <a:srgbClr val="00B5CF"/>
                </a:solidFill>
              </a:rPr>
              <a:t>规则图谱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E14DCD-0604-4D74-A52C-D785929C8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099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3456"/>
                </a:solidFill>
              </a:defRPr>
            </a:pPr>
            <a:r>
              <a:rPr sz="1350" b="1">
                <a:solidFill>
                  <a:srgbClr val="063456"/>
                </a:solidFill>
              </a:rPr>
              <a:t>把规则从文本变成关系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5BC9DC-2D6D-418A-8AAF-301DBB281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29000"/>
            <a:ext cx="27241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0" b="1">
                <a:solidFill>
                  <a:srgbClr val="29475B"/>
                </a:solidFill>
              </a:defRPr>
            </a:pPr>
            <a:r>
              <a:rPr sz="930" b="1">
                <a:solidFill>
                  <a:srgbClr val="29475B"/>
                </a:solidFill>
              </a:rPr>
              <a:t>识别人员、账户、交易、证据等规则实体</a:t>
            </a:r>
          </a:p>
          <a:p xmlns:a="http://schemas.openxmlformats.org/drawingml/2006/main">
            <a:pPr algn="l">
              <a:defRPr sz="930" b="1">
                <a:solidFill>
                  <a:srgbClr val="29475B"/>
                </a:solidFill>
              </a:defRPr>
            </a:pPr>
            <a:r>
              <a:rPr sz="930" b="1">
                <a:solidFill>
                  <a:srgbClr val="29475B"/>
                </a:solidFill>
              </a:rPr>
              <a:t>连接条款、例外情形与材料要求</a:t>
            </a:r>
          </a:p>
          <a:p xmlns:a="http://schemas.openxmlformats.org/drawingml/2006/main">
            <a:pPr algn="l">
              <a:defRPr sz="930" b="1">
                <a:solidFill>
                  <a:srgbClr val="29475B"/>
                </a:solidFill>
              </a:defRPr>
            </a:pPr>
            <a:r>
              <a:rPr sz="930" b="1">
                <a:solidFill>
                  <a:srgbClr val="29475B"/>
                </a:solidFill>
              </a:rPr>
              <a:t>沉淀同义口径和跨制度引用关系</a:t>
            </a:r>
          </a:p>
        </p:txBody>
      </p:sp>
      <p:sp>
        <p:nvSpPr>
          <p:cNvPr id="25" name="column">
            <a:extLst xmlns:a="http://schemas.openxmlformats.org/drawingml/2006/main">
              <a:ext uri="{FF2B5EF4-FFF2-40B4-BE49-F238E27FC236}">
                <a16:creationId xmlns:a16="http://schemas.microsoft.com/office/drawing/2014/main" id="{AD032752-5482-4DD9-B119-A944361AA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362200"/>
            <a:ext cx="31051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26" name="column-top">
            <a:extLst xmlns:a="http://schemas.openxmlformats.org/drawingml/2006/main">
              <a:ext uri="{FF2B5EF4-FFF2-40B4-BE49-F238E27FC236}">
                <a16:creationId xmlns:a16="http://schemas.microsoft.com/office/drawing/2014/main" id="{4E024579-9C89-4127-BBA3-E052B4847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362200"/>
            <a:ext cx="3105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7A22"/>
          </a:solidFill>
          <a:ln xmlns:a="http://schemas.openxmlformats.org/drawingml/2006/main" w="0">
            <a:solidFill>
              <a:srgbClr val="E17A22"/>
            </a:solidFill>
            <a:prstDash val="solid"/>
          </a:ln>
        </p:spPr>
      </p:sp>
      <p:sp>
        <p:nvSpPr>
          <p:cNvPr id="27" name="label-bg">
            <a:extLst xmlns:a="http://schemas.openxmlformats.org/drawingml/2006/main">
              <a:ext uri="{FF2B5EF4-FFF2-40B4-BE49-F238E27FC236}">
                <a16:creationId xmlns:a16="http://schemas.microsoft.com/office/drawing/2014/main" id="{12EA473B-1788-40A3-8202-5950E5FA7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590800"/>
            <a:ext cx="1219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label-accent">
            <a:extLst xmlns:a="http://schemas.openxmlformats.org/drawingml/2006/main">
              <a:ext uri="{FF2B5EF4-FFF2-40B4-BE49-F238E27FC236}">
                <a16:creationId xmlns:a16="http://schemas.microsoft.com/office/drawing/2014/main" id="{505B505F-B7A2-404D-82C4-198B3B9D2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590800"/>
            <a:ext cx="38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7A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E80451-4F0F-4FA2-81D6-C00491EC4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657475"/>
            <a:ext cx="990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E17A22"/>
                </a:solidFill>
              </a:defRPr>
            </a:pPr>
            <a:r>
              <a:rPr sz="863" b="1">
                <a:solidFill>
                  <a:srgbClr val="E17A22"/>
                </a:solidFill>
              </a:rPr>
              <a:t>检索增强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D4EADE0-F117-4801-A679-9C6413FB8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30099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3456"/>
                </a:solidFill>
              </a:defRPr>
            </a:pPr>
            <a:r>
              <a:rPr sz="1350" b="1">
                <a:solidFill>
                  <a:srgbClr val="063456"/>
                </a:solidFill>
              </a:rPr>
              <a:t>从关键词检索到关系扩展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F8A992F-BB6D-4071-AE82-C289F9640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3429000"/>
            <a:ext cx="27241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0" b="1">
                <a:solidFill>
                  <a:srgbClr val="29475B"/>
                </a:solidFill>
              </a:defRPr>
            </a:pPr>
            <a:r>
              <a:rPr sz="930" b="1">
                <a:solidFill>
                  <a:srgbClr val="29475B"/>
                </a:solidFill>
              </a:rPr>
              <a:t>先用 embedding 找到相关规则片段</a:t>
            </a:r>
          </a:p>
          <a:p xmlns:a="http://schemas.openxmlformats.org/drawingml/2006/main">
            <a:pPr algn="l">
              <a:defRPr sz="930" b="1">
                <a:solidFill>
                  <a:srgbClr val="29475B"/>
                </a:solidFill>
              </a:defRPr>
            </a:pPr>
            <a:r>
              <a:rPr sz="930" b="1">
                <a:solidFill>
                  <a:srgbClr val="29475B"/>
                </a:solidFill>
              </a:rPr>
              <a:t>再沿图关系扩展上下文，补齐前后约束</a:t>
            </a:r>
          </a:p>
          <a:p xmlns:a="http://schemas.openxmlformats.org/drawingml/2006/main">
            <a:pPr algn="l">
              <a:defRPr sz="930" b="1">
                <a:solidFill>
                  <a:srgbClr val="29475B"/>
                </a:solidFill>
              </a:defRPr>
            </a:pPr>
            <a:r>
              <a:rPr sz="930" b="1">
                <a:solidFill>
                  <a:srgbClr val="29475B"/>
                </a:solidFill>
              </a:rPr>
              <a:t>减少只命中局部条款导致的误判</a:t>
            </a:r>
          </a:p>
        </p:txBody>
      </p:sp>
      <p:sp>
        <p:nvSpPr>
          <p:cNvPr id="32" name="column">
            <a:extLst xmlns:a="http://schemas.openxmlformats.org/drawingml/2006/main">
              <a:ext uri="{FF2B5EF4-FFF2-40B4-BE49-F238E27FC236}">
                <a16:creationId xmlns:a16="http://schemas.microsoft.com/office/drawing/2014/main" id="{C050F1AF-C6C7-42C9-8E41-3E99C70E1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362200"/>
            <a:ext cx="3333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33" name="column-top">
            <a:extLst xmlns:a="http://schemas.openxmlformats.org/drawingml/2006/main">
              <a:ext uri="{FF2B5EF4-FFF2-40B4-BE49-F238E27FC236}">
                <a16:creationId xmlns:a16="http://schemas.microsoft.com/office/drawing/2014/main" id="{843D9B7A-A01B-44D1-80CF-8D1E85838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362200"/>
            <a:ext cx="3333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2E8B57"/>
            </a:solidFill>
            <a:prstDash val="solid"/>
          </a:ln>
        </p:spPr>
      </p:sp>
      <p:sp>
        <p:nvSpPr>
          <p:cNvPr id="34" name="label-bg">
            <a:extLst xmlns:a="http://schemas.openxmlformats.org/drawingml/2006/main">
              <a:ext uri="{FF2B5EF4-FFF2-40B4-BE49-F238E27FC236}">
                <a16:creationId xmlns:a16="http://schemas.microsoft.com/office/drawing/2014/main" id="{780AD83F-CFC5-4170-A8B6-71C337699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90800"/>
            <a:ext cx="1219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label-accent">
            <a:extLst xmlns:a="http://schemas.openxmlformats.org/drawingml/2006/main">
              <a:ext uri="{FF2B5EF4-FFF2-40B4-BE49-F238E27FC236}">
                <a16:creationId xmlns:a16="http://schemas.microsoft.com/office/drawing/2014/main" id="{52381870-8395-4623-B908-2A13FD54B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90800"/>
            <a:ext cx="38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36939DB-8BED-4C44-A985-11D7D1748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657475"/>
            <a:ext cx="990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2E8B57"/>
                </a:solidFill>
              </a:defRPr>
            </a:pPr>
            <a:r>
              <a:rPr sz="863" b="1">
                <a:solidFill>
                  <a:srgbClr val="2E8B57"/>
                </a:solidFill>
              </a:rPr>
              <a:t>判断支撑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8D90EB5-CF10-45E6-A365-72FC4743D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099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3456"/>
                </a:solidFill>
              </a:defRPr>
            </a:pPr>
            <a:r>
              <a:rPr sz="1350" b="1">
                <a:solidFill>
                  <a:srgbClr val="063456"/>
                </a:solidFill>
              </a:rPr>
              <a:t>帮助模型理解不同规则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7AB53FA-1DEE-4742-B5E3-8942DC665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429000"/>
            <a:ext cx="2952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0" b="1">
                <a:solidFill>
                  <a:srgbClr val="29475B"/>
                </a:solidFill>
              </a:defRPr>
            </a:pPr>
            <a:r>
              <a:rPr sz="930" b="1">
                <a:solidFill>
                  <a:srgbClr val="29475B"/>
                </a:solidFill>
              </a:rPr>
              <a:t>区分强制要求、例外情形和人工复核事项</a:t>
            </a:r>
          </a:p>
          <a:p xmlns:a="http://schemas.openxmlformats.org/drawingml/2006/main">
            <a:pPr algn="l">
              <a:defRPr sz="930" b="1">
                <a:solidFill>
                  <a:srgbClr val="29475B"/>
                </a:solidFill>
              </a:defRPr>
            </a:pPr>
            <a:r>
              <a:rPr sz="930" b="1">
                <a:solidFill>
                  <a:srgbClr val="29475B"/>
                </a:solidFill>
              </a:rPr>
              <a:t>把规则依据挂接到抽取结果和问题清单</a:t>
            </a:r>
          </a:p>
          <a:p xmlns:a="http://schemas.openxmlformats.org/drawingml/2006/main">
            <a:pPr algn="l">
              <a:defRPr sz="930" b="1">
                <a:solidFill>
                  <a:srgbClr val="29475B"/>
                </a:solidFill>
              </a:defRPr>
            </a:pPr>
            <a:r>
              <a:rPr sz="930" b="1">
                <a:solidFill>
                  <a:srgbClr val="29475B"/>
                </a:solidFill>
              </a:rPr>
              <a:t>为后续合规判断规则库打基础</a:t>
            </a:r>
          </a:p>
        </p:txBody>
      </p:sp>
      <p:sp>
        <p:nvSpPr>
          <p:cNvPr id="39" name="path-band">
            <a:extLst xmlns:a="http://schemas.openxmlformats.org/drawingml/2006/main">
              <a:ext uri="{FF2B5EF4-FFF2-40B4-BE49-F238E27FC236}">
                <a16:creationId xmlns:a16="http://schemas.microsoft.com/office/drawing/2014/main" id="{197E43BE-0584-4547-A1C9-3A4445743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10100"/>
            <a:ext cx="10020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40" name="path-accent">
            <a:extLst xmlns:a="http://schemas.openxmlformats.org/drawingml/2006/main">
              <a:ext uri="{FF2B5EF4-FFF2-40B4-BE49-F238E27FC236}">
                <a16:creationId xmlns:a16="http://schemas.microsoft.com/office/drawing/2014/main" id="{B2194331-4BCC-4854-8892-CE2BC8F6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1010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08F"/>
          </a:solidFill>
          <a:ln xmlns:a="http://schemas.openxmlformats.org/drawingml/2006/main" w="0">
            <a:solidFill>
              <a:srgbClr val="00508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956672E-123F-47AC-B1F8-0F62BB5B9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7053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063456"/>
                </a:solidFill>
              </a:defRPr>
            </a:pPr>
            <a:r>
              <a:rPr sz="1013" b="1">
                <a:solidFill>
                  <a:srgbClr val="063456"/>
                </a:solidFill>
              </a:rPr>
              <a:t>制度条款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0206517-D773-494C-B550-A20271E4A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914900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65" b="1">
                <a:solidFill>
                  <a:srgbClr val="657987"/>
                </a:solidFill>
              </a:defRPr>
            </a:pPr>
            <a:r>
              <a:rPr sz="765" b="1">
                <a:solidFill>
                  <a:srgbClr val="657987"/>
                </a:solidFill>
              </a:rPr>
              <a:t>规则文本与业务口径</a:t>
            </a:r>
          </a:p>
        </p:txBody>
      </p:sp>
      <p:sp>
        <p:nvSpPr>
          <p:cNvPr id="43" name="path-line">
            <a:extLst xmlns:a="http://schemas.openxmlformats.org/drawingml/2006/main">
              <a:ext uri="{FF2B5EF4-FFF2-40B4-BE49-F238E27FC236}">
                <a16:creationId xmlns:a16="http://schemas.microsoft.com/office/drawing/2014/main" id="{3392C842-9076-410A-BAA3-F8AA275CF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876800"/>
            <a:ext cx="5524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EA"/>
          </a:solidFill>
          <a:ln xmlns:a="http://schemas.openxmlformats.org/drawingml/2006/main" w="0">
            <a:solidFill>
              <a:srgbClr val="D7E4E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CCBC34C-01A5-4C52-A207-F0A12ABE8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781550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57987"/>
                </a:solidFill>
              </a:defRPr>
            </a:pPr>
            <a:r>
              <a:rPr sz="1125" b="1">
                <a:solidFill>
                  <a:srgbClr val="657987"/>
                </a:solidFill>
              </a:rPr>
              <a:t>→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FB4C228-E90B-4ECC-8985-6ECE66FF4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7053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063456"/>
                </a:solidFill>
              </a:defRPr>
            </a:pPr>
            <a:r>
              <a:rPr sz="1013" b="1">
                <a:solidFill>
                  <a:srgbClr val="063456"/>
                </a:solidFill>
              </a:rPr>
              <a:t>实体关系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D9FD24D-2CB1-481C-B881-237D05591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914900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65" b="1">
                <a:solidFill>
                  <a:srgbClr val="657987"/>
                </a:solidFill>
              </a:defRPr>
            </a:pPr>
            <a:r>
              <a:rPr sz="765" b="1">
                <a:solidFill>
                  <a:srgbClr val="657987"/>
                </a:solidFill>
              </a:rPr>
              <a:t>人员 / 账户 / 交易 / 证据</a:t>
            </a:r>
          </a:p>
        </p:txBody>
      </p:sp>
      <p:sp>
        <p:nvSpPr>
          <p:cNvPr id="47" name="path-line">
            <a:extLst xmlns:a="http://schemas.openxmlformats.org/drawingml/2006/main">
              <a:ext uri="{FF2B5EF4-FFF2-40B4-BE49-F238E27FC236}">
                <a16:creationId xmlns:a16="http://schemas.microsoft.com/office/drawing/2014/main" id="{0457D85C-FDAA-4E73-BABB-8D24A7D0C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876800"/>
            <a:ext cx="5524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EA"/>
          </a:solidFill>
          <a:ln xmlns:a="http://schemas.openxmlformats.org/drawingml/2006/main" w="0">
            <a:solidFill>
              <a:srgbClr val="D7E4EA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E7FF613-48F5-4656-9496-64499D039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781550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57987"/>
                </a:solidFill>
              </a:defRPr>
            </a:pPr>
            <a:r>
              <a:rPr sz="1125" b="1">
                <a:solidFill>
                  <a:srgbClr val="657987"/>
                </a:solidFill>
              </a:rPr>
              <a:t>→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4B77317-848A-4EEA-84C6-C1808B44E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7053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063456"/>
                </a:solidFill>
              </a:defRPr>
            </a:pPr>
            <a:r>
              <a:rPr sz="1013" b="1">
                <a:solidFill>
                  <a:srgbClr val="063456"/>
                </a:solidFill>
              </a:rPr>
              <a:t>上下文扩展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C40D5B9-5922-44CF-A494-DA062C6FD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914900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65" b="1">
                <a:solidFill>
                  <a:srgbClr val="657987"/>
                </a:solidFill>
              </a:defRPr>
            </a:pPr>
            <a:r>
              <a:rPr sz="765" b="1">
                <a:solidFill>
                  <a:srgbClr val="657987"/>
                </a:solidFill>
              </a:rPr>
              <a:t>相关规则自动补齐</a:t>
            </a:r>
          </a:p>
        </p:txBody>
      </p:sp>
      <p:sp>
        <p:nvSpPr>
          <p:cNvPr id="51" name="path-line">
            <a:extLst xmlns:a="http://schemas.openxmlformats.org/drawingml/2006/main">
              <a:ext uri="{FF2B5EF4-FFF2-40B4-BE49-F238E27FC236}">
                <a16:creationId xmlns:a16="http://schemas.microsoft.com/office/drawing/2014/main" id="{F9E85497-6D0E-4FEE-819C-9B123F8C3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876800"/>
            <a:ext cx="5524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EA"/>
          </a:solidFill>
          <a:ln xmlns:a="http://schemas.openxmlformats.org/drawingml/2006/main" w="0">
            <a:solidFill>
              <a:srgbClr val="D7E4EA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9336A2A-5307-4DB8-8D46-BC137AD4A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781550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57987"/>
                </a:solidFill>
              </a:defRPr>
            </a:pPr>
            <a:r>
              <a:rPr sz="1125" b="1">
                <a:solidFill>
                  <a:srgbClr val="657987"/>
                </a:solidFill>
              </a:rPr>
              <a:t>→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A2ABFAD-693A-4C09-8B24-734C9914F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7053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063456"/>
                </a:solidFill>
              </a:defRPr>
            </a:pPr>
            <a:r>
              <a:rPr sz="1013" b="1">
                <a:solidFill>
                  <a:srgbClr val="063456"/>
                </a:solidFill>
              </a:rPr>
              <a:t>辅助判断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F5C3B81-E0D6-4E49-A036-57FBE2DB2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914900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65" b="1">
                <a:solidFill>
                  <a:srgbClr val="657987"/>
                </a:solidFill>
              </a:defRPr>
            </a:pPr>
            <a:r>
              <a:rPr sz="765" b="1">
                <a:solidFill>
                  <a:srgbClr val="657987"/>
                </a:solidFill>
              </a:rPr>
              <a:t>输出依据与复核提示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3E02D01-0A72-44C7-A4A2-809AC04FC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911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3456"/>
                </a:solidFill>
              </a:defRPr>
            </a:pPr>
            <a:r>
              <a:rPr sz="1350" b="1">
                <a:solidFill>
                  <a:srgbClr val="063456"/>
                </a:solidFill>
              </a:rPr>
              <a:t>预期效果</a:t>
            </a:r>
          </a:p>
        </p:txBody>
      </p:sp>
      <p:sp>
        <p:nvSpPr>
          <p:cNvPr id="56" name="outcome-rule">
            <a:extLst xmlns:a="http://schemas.openxmlformats.org/drawingml/2006/main">
              <a:ext uri="{FF2B5EF4-FFF2-40B4-BE49-F238E27FC236}">
                <a16:creationId xmlns:a16="http://schemas.microsoft.com/office/drawing/2014/main" id="{33C46799-9CDA-4B6F-9156-F792CC37C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67375"/>
            <a:ext cx="10020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EA"/>
          </a:solidFill>
          <a:ln xmlns:a="http://schemas.openxmlformats.org/drawingml/2006/main" w="0">
            <a:solidFill>
              <a:srgbClr val="D7E4EA"/>
            </a:solidFill>
            <a:prstDash val="solid"/>
          </a:ln>
        </p:spPr>
      </p:sp>
      <p:sp>
        <p:nvSpPr>
          <p:cNvPr id="57" name="outcome">
            <a:extLst xmlns:a="http://schemas.openxmlformats.org/drawingml/2006/main">
              <a:ext uri="{FF2B5EF4-FFF2-40B4-BE49-F238E27FC236}">
                <a16:creationId xmlns:a16="http://schemas.microsoft.com/office/drawing/2014/main" id="{8FC2EDCF-65E3-4252-B5B4-E8FB4478B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72150"/>
            <a:ext cx="2343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8" name="outcome-accent">
            <a:extLst xmlns:a="http://schemas.openxmlformats.org/drawingml/2006/main">
              <a:ext uri="{FF2B5EF4-FFF2-40B4-BE49-F238E27FC236}">
                <a16:creationId xmlns:a16="http://schemas.microsoft.com/office/drawing/2014/main" id="{CF73F057-D450-4347-B173-174B5DC6F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72150"/>
            <a:ext cx="285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 w="0">
            <a:solidFill>
              <a:srgbClr val="00B5CF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9146CCD-E95D-46EB-A307-018D28210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848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63456"/>
                </a:solidFill>
              </a:defRPr>
            </a:pPr>
            <a:r>
              <a:rPr sz="1050" b="1">
                <a:solidFill>
                  <a:srgbClr val="063456"/>
                </a:solidFill>
              </a:rPr>
              <a:t>规则召回更完整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4090F30-7A31-4DE2-8083-50B91E9D8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61150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03" b="1">
                <a:solidFill>
                  <a:srgbClr val="486171"/>
                </a:solidFill>
              </a:defRPr>
            </a:pPr>
            <a:r>
              <a:rPr sz="803" b="1">
                <a:solidFill>
                  <a:srgbClr val="486171"/>
                </a:solidFill>
              </a:rPr>
              <a:t>长制度和多文件规则中减少遗漏</a:t>
            </a:r>
          </a:p>
        </p:txBody>
      </p:sp>
      <p:sp>
        <p:nvSpPr>
          <p:cNvPr id="61" name="outcome">
            <a:extLst xmlns:a="http://schemas.openxmlformats.org/drawingml/2006/main">
              <a:ext uri="{FF2B5EF4-FFF2-40B4-BE49-F238E27FC236}">
                <a16:creationId xmlns:a16="http://schemas.microsoft.com/office/drawing/2014/main" id="{966051A9-A76B-476E-BE3A-CE9152BD7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5772150"/>
            <a:ext cx="2343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2" name="outcome-accent">
            <a:extLst xmlns:a="http://schemas.openxmlformats.org/drawingml/2006/main">
              <a:ext uri="{FF2B5EF4-FFF2-40B4-BE49-F238E27FC236}">
                <a16:creationId xmlns:a16="http://schemas.microsoft.com/office/drawing/2014/main" id="{D430A5BA-DBBD-4D31-A3D2-A5C57EA7C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5772150"/>
            <a:ext cx="285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7A22"/>
          </a:solidFill>
          <a:ln xmlns:a="http://schemas.openxmlformats.org/drawingml/2006/main" w="0">
            <a:solidFill>
              <a:srgbClr val="E17A22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B4656A1-8E32-4F45-B876-A7F59FA96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5848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63456"/>
                </a:solidFill>
              </a:defRPr>
            </a:pPr>
            <a:r>
              <a:rPr sz="1050" b="1">
                <a:solidFill>
                  <a:srgbClr val="063456"/>
                </a:solidFill>
              </a:rPr>
              <a:t>解释依据更清楚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838D9B6-3F0E-430A-B55B-0D96A9139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61150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03" b="1">
                <a:solidFill>
                  <a:srgbClr val="486171"/>
                </a:solidFill>
              </a:defRPr>
            </a:pPr>
            <a:r>
              <a:rPr sz="803" b="1">
                <a:solidFill>
                  <a:srgbClr val="486171"/>
                </a:solidFill>
              </a:rPr>
              <a:t>判断结果可回到对应规则条款</a:t>
            </a:r>
          </a:p>
        </p:txBody>
      </p:sp>
      <p:sp>
        <p:nvSpPr>
          <p:cNvPr id="65" name="outcome">
            <a:extLst xmlns:a="http://schemas.openxmlformats.org/drawingml/2006/main">
              <a:ext uri="{FF2B5EF4-FFF2-40B4-BE49-F238E27FC236}">
                <a16:creationId xmlns:a16="http://schemas.microsoft.com/office/drawing/2014/main" id="{1456A7C7-A09E-49E5-8E7F-A002150DE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772150"/>
            <a:ext cx="2343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6" name="outcome-accent">
            <a:extLst xmlns:a="http://schemas.openxmlformats.org/drawingml/2006/main">
              <a:ext uri="{FF2B5EF4-FFF2-40B4-BE49-F238E27FC236}">
                <a16:creationId xmlns:a16="http://schemas.microsoft.com/office/drawing/2014/main" id="{B9F24B7E-EE41-4E14-8E93-65F5A527E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772150"/>
            <a:ext cx="285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2E8B57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4EBECB4-EC91-4B3E-8506-A4191CA3A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848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63456"/>
                </a:solidFill>
              </a:defRPr>
            </a:pPr>
            <a:r>
              <a:rPr sz="1050" b="1">
                <a:solidFill>
                  <a:srgbClr val="063456"/>
                </a:solidFill>
              </a:rPr>
              <a:t>复杂口径可沉淀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9A8B3EF-4DA2-444C-ABA5-42106E77B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61150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03" b="1">
                <a:solidFill>
                  <a:srgbClr val="486171"/>
                </a:solidFill>
              </a:defRPr>
            </a:pPr>
            <a:r>
              <a:rPr sz="803" b="1">
                <a:solidFill>
                  <a:srgbClr val="486171"/>
                </a:solidFill>
              </a:rPr>
              <a:t>同类问题逐步形成规则资产</a:t>
            </a:r>
          </a:p>
        </p:txBody>
      </p:sp>
      <p:sp>
        <p:nvSpPr>
          <p:cNvPr id="69" name="outcome">
            <a:extLst xmlns:a="http://schemas.openxmlformats.org/drawingml/2006/main">
              <a:ext uri="{FF2B5EF4-FFF2-40B4-BE49-F238E27FC236}">
                <a16:creationId xmlns:a16="http://schemas.microsoft.com/office/drawing/2014/main" id="{36900610-DE16-4136-AD7A-BFB0165AD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772150"/>
            <a:ext cx="2343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0" name="outcome-accent">
            <a:extLst xmlns:a="http://schemas.openxmlformats.org/drawingml/2006/main">
              <a:ext uri="{FF2B5EF4-FFF2-40B4-BE49-F238E27FC236}">
                <a16:creationId xmlns:a16="http://schemas.microsoft.com/office/drawing/2014/main" id="{08D6502A-EDE2-40F6-81E9-E6219791D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772150"/>
            <a:ext cx="285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 w="0">
            <a:solidFill>
              <a:srgbClr val="00B5CF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F83298B-CE02-4E3D-91F5-D5B09517C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848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63456"/>
                </a:solidFill>
              </a:defRPr>
            </a:pPr>
            <a:r>
              <a:rPr sz="1050" b="1">
                <a:solidFill>
                  <a:srgbClr val="063456"/>
                </a:solidFill>
              </a:rPr>
              <a:t>模型误判可控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9617D49-68BB-4171-8507-79DC62FED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61150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03" b="1">
                <a:solidFill>
                  <a:srgbClr val="486171"/>
                </a:solidFill>
              </a:defRPr>
            </a:pPr>
            <a:r>
              <a:rPr sz="803" b="1">
                <a:solidFill>
                  <a:srgbClr val="486171"/>
                </a:solidFill>
              </a:rPr>
              <a:t>由局部理解转向关系化理解</a:t>
            </a:r>
          </a:p>
        </p:txBody>
      </p:sp>
    </p:spTree>
    <p:extLst>
      <p:ext uri="{BB962C8B-B14F-4D97-AF65-F5344CB8AC3E}">
        <p14:creationId xmlns:p14="http://schemas.microsoft.com/office/powerpoint/2010/main" val="18546668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r">
            <a:extLst xmlns:a="http://schemas.openxmlformats.org/drawingml/2006/main">
              <a:ext uri="{FF2B5EF4-FFF2-40B4-BE49-F238E27FC236}">
                <a16:creationId xmlns:a16="http://schemas.microsoft.com/office/drawing/2014/main" id="{475A2A07-4715-4C30-BF66-95FDF6B60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08F"/>
          </a:solidFill>
          <a:ln xmlns:a="http://schemas.openxmlformats.org/drawingml/2006/main" w="0">
            <a:solidFill>
              <a:srgbClr val="00508F"/>
            </a:solidFill>
            <a:prstDash val="solid"/>
          </a:ln>
        </p:spPr>
      </p:sp>
      <p:sp>
        <p:nvSpPr>
          <p:cNvPr id="2" name="left-bg">
            <a:extLst xmlns:a="http://schemas.openxmlformats.org/drawingml/2006/main">
              <a:ext uri="{FF2B5EF4-FFF2-40B4-BE49-F238E27FC236}">
                <a16:creationId xmlns:a16="http://schemas.microsoft.com/office/drawing/2014/main" id="{5AB9CEC2-E7CC-4BF1-AC6D-ED6F09E21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0525"/>
            <a:ext cx="952500" cy="6467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2F6"/>
          </a:solidFill>
          <a:ln xmlns:a="http://schemas.openxmlformats.org/drawingml/2006/main" w="0">
            <a:solidFill>
              <a:srgbClr val="E9F2F6"/>
            </a:solidFill>
            <a:prstDash val="solid"/>
          </a:ln>
        </p:spPr>
      </p:sp>
      <p:sp>
        <p:nvSpPr>
          <p:cNvPr id="3" name="left-accent">
            <a:extLst xmlns:a="http://schemas.openxmlformats.org/drawingml/2006/main">
              <a:ext uri="{FF2B5EF4-FFF2-40B4-BE49-F238E27FC236}">
                <a16:creationId xmlns:a16="http://schemas.microsoft.com/office/drawing/2014/main" id="{A426326E-44B4-4EE9-B7A1-671F41120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0525"/>
            <a:ext cx="114300" cy="6467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 w="0">
            <a:solidFill>
              <a:srgbClr val="00B5CF"/>
            </a:solidFill>
            <a:prstDash val="solid"/>
          </a:ln>
        </p:spPr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1A143F5C-A388-447D-A7AD-E6031E068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962025"/>
            <a:ext cx="10020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 w="0">
            <a:solidFill>
              <a:srgbClr val="00B5CF"/>
            </a:solidFill>
            <a:prstDash val="solid"/>
          </a:ln>
        </p:spPr>
      </p:sp>
      <p:sp>
        <p:nvSpPr>
          <p:cNvPr id="5" name="brand-dot">
            <a:extLst xmlns:a="http://schemas.openxmlformats.org/drawingml/2006/main">
              <a:ext uri="{FF2B5EF4-FFF2-40B4-BE49-F238E27FC236}">
                <a16:creationId xmlns:a16="http://schemas.microsoft.com/office/drawing/2014/main" id="{E0222AE9-4D5C-40F3-8F67-B691D3CEA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143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 w="0">
            <a:solidFill>
              <a:srgbClr val="00B5C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F9C23A-E086-4951-9555-ED4D7BFBB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952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E FUND 易方达风格参考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8C974A-6141-4B3D-A510-CA3667254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42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57987"/>
                </a:solidFill>
              </a:defRPr>
            </a:pPr>
            <a:r>
              <a:rPr sz="1200" b="1">
                <a:solidFill>
                  <a:srgbClr val="657987"/>
                </a:solidFill>
              </a:rPr>
              <a:t>拓展二｜知识库与问答能力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981C11-9864-4068-A39A-B7A684714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009650"/>
            <a:ext cx="752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63456"/>
                </a:solidFill>
              </a:defRPr>
            </a:pPr>
            <a:r>
              <a:rPr sz="2250" b="1">
                <a:solidFill>
                  <a:srgbClr val="063456"/>
                </a:solidFill>
              </a:rPr>
              <a:t>接入 iWiki 知识库，拓展“问小易”的合规问答能力</a:t>
            </a:r>
          </a:p>
        </p:txBody>
      </p:sp>
      <p:sp>
        <p:nvSpPr>
          <p:cNvPr id="9" name="badge-bg">
            <a:extLst xmlns:a="http://schemas.openxmlformats.org/drawingml/2006/main">
              <a:ext uri="{FF2B5EF4-FFF2-40B4-BE49-F238E27FC236}">
                <a16:creationId xmlns:a16="http://schemas.microsoft.com/office/drawing/2014/main" id="{6F140FDD-F760-4BA7-8393-0DBCAD9BF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971550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adge-accent">
            <a:extLst xmlns:a="http://schemas.openxmlformats.org/drawingml/2006/main">
              <a:ext uri="{FF2B5EF4-FFF2-40B4-BE49-F238E27FC236}">
                <a16:creationId xmlns:a16="http://schemas.microsoft.com/office/drawing/2014/main" id="{D03659E4-2D63-4365-B212-46417F9B9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971550"/>
            <a:ext cx="38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7A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662566-7470-47B4-8A26-52A72FDAF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066800"/>
            <a:ext cx="1485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E17A22"/>
                </a:solidFill>
              </a:defRPr>
            </a:pPr>
            <a:r>
              <a:rPr sz="1013" b="1">
                <a:solidFill>
                  <a:srgbClr val="E17A22"/>
                </a:solidFill>
              </a:rPr>
              <a:t>知识能力拓展</a:t>
            </a:r>
          </a:p>
        </p:txBody>
      </p:sp>
      <p:sp>
        <p:nvSpPr>
          <p:cNvPr id="12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9B0AA84-2413-4F27-9402-513811B13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381750"/>
            <a:ext cx="10020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EA"/>
          </a:solidFill>
          <a:ln xmlns:a="http://schemas.openxmlformats.org/drawingml/2006/main" w="0">
            <a:solidFill>
              <a:srgbClr val="D7E4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DD9367-A368-487B-8773-F013F047B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48652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A9AA5"/>
                </a:solidFill>
              </a:defRPr>
            </a:pPr>
            <a:r>
              <a:rPr sz="825" b="1">
                <a:solidFill>
                  <a:srgbClr val="8A9AA5"/>
                </a:solidFill>
              </a:rPr>
              <a:t>易方达基金 · 内部交流，请勿外传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BA1288-B4E8-4A3A-B2C7-499045AD2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86525"/>
            <a:ext cx="1543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A9AA5"/>
                </a:solidFill>
              </a:defRPr>
            </a:pPr>
            <a:r>
              <a:rPr sz="825" b="1">
                <a:solidFill>
                  <a:srgbClr val="8A9AA5"/>
                </a:solidFill>
              </a:rPr>
              <a:t>拓展性与预期发展 2/3</a:t>
            </a:r>
          </a:p>
        </p:txBody>
      </p:sp>
      <p:sp>
        <p:nvSpPr>
          <p:cNvPr id="15" name="note-bg">
            <a:extLst xmlns:a="http://schemas.openxmlformats.org/drawingml/2006/main">
              <a:ext uri="{FF2B5EF4-FFF2-40B4-BE49-F238E27FC236}">
                <a16:creationId xmlns:a16="http://schemas.microsoft.com/office/drawing/2014/main" id="{618B6749-4CF7-48E4-A5C9-450026884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24000"/>
            <a:ext cx="10020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note-accent">
            <a:extLst xmlns:a="http://schemas.openxmlformats.org/drawingml/2006/main">
              <a:ext uri="{FF2B5EF4-FFF2-40B4-BE49-F238E27FC236}">
                <a16:creationId xmlns:a16="http://schemas.microsoft.com/office/drawing/2014/main" id="{9D249E68-3B51-46EF-8136-A7C48B6DB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2400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F47CC6-0685-48E5-9D82-ED78D9DB9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638300"/>
            <a:ext cx="967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40" b="1">
                <a:solidFill>
                  <a:srgbClr val="063456"/>
                </a:solidFill>
              </a:defRPr>
            </a:pPr>
            <a:r>
              <a:rPr sz="1140" b="1">
                <a:solidFill>
                  <a:srgbClr val="063456"/>
                </a:solidFill>
              </a:rPr>
              <a:t>在申报材料处理之外，可以把项目形成的规则口径、材料要求、复核经验沉淀到 iWiki，并通过“问小易”形成面向员工和复核人员的知识问答入口。</a:t>
            </a:r>
          </a:p>
        </p:txBody>
      </p:sp>
      <p:sp>
        <p:nvSpPr>
          <p:cNvPr id="18" name="column">
            <a:extLst xmlns:a="http://schemas.openxmlformats.org/drawingml/2006/main">
              <a:ext uri="{FF2B5EF4-FFF2-40B4-BE49-F238E27FC236}">
                <a16:creationId xmlns:a16="http://schemas.microsoft.com/office/drawing/2014/main" id="{EFC067D4-2F90-4F00-854E-F50947DA4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62200"/>
            <a:ext cx="31051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19" name="column-top">
            <a:extLst xmlns:a="http://schemas.openxmlformats.org/drawingml/2006/main">
              <a:ext uri="{FF2B5EF4-FFF2-40B4-BE49-F238E27FC236}">
                <a16:creationId xmlns:a16="http://schemas.microsoft.com/office/drawing/2014/main" id="{F1362DD5-C66E-4013-9B08-D853EB3CD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62200"/>
            <a:ext cx="3105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 w="0">
            <a:solidFill>
              <a:srgbClr val="00B5CF"/>
            </a:solidFill>
            <a:prstDash val="solid"/>
          </a:ln>
        </p:spPr>
      </p:sp>
      <p:sp>
        <p:nvSpPr>
          <p:cNvPr id="20" name="label-bg">
            <a:extLst xmlns:a="http://schemas.openxmlformats.org/drawingml/2006/main">
              <a:ext uri="{FF2B5EF4-FFF2-40B4-BE49-F238E27FC236}">
                <a16:creationId xmlns:a16="http://schemas.microsoft.com/office/drawing/2014/main" id="{2B028B48-9E62-407A-B6DF-BC974CEF3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590800"/>
            <a:ext cx="1219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label-accent">
            <a:extLst xmlns:a="http://schemas.openxmlformats.org/drawingml/2006/main">
              <a:ext uri="{FF2B5EF4-FFF2-40B4-BE49-F238E27FC236}">
                <a16:creationId xmlns:a16="http://schemas.microsoft.com/office/drawing/2014/main" id="{6E1BF2F4-674C-49EF-8E8A-7864993AF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590800"/>
            <a:ext cx="38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96C60D-DBC5-4567-B4C4-6B328D693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657475"/>
            <a:ext cx="990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00B5CF"/>
                </a:solidFill>
              </a:defRPr>
            </a:pPr>
            <a:r>
              <a:rPr sz="863" b="1">
                <a:solidFill>
                  <a:srgbClr val="00B5CF"/>
                </a:solidFill>
              </a:rPr>
              <a:t>iWiki 知识库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FF1EEC-F5DB-4B20-8484-9A5B69254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099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3456"/>
                </a:solidFill>
              </a:defRPr>
            </a:pPr>
            <a:r>
              <a:rPr sz="1350" b="1">
                <a:solidFill>
                  <a:srgbClr val="063456"/>
                </a:solidFill>
              </a:rPr>
              <a:t>沉淀制度、口径与案例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460D60-9E0A-44DF-8E7C-DA94C2769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29000"/>
            <a:ext cx="27241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0" b="1">
                <a:solidFill>
                  <a:srgbClr val="29475B"/>
                </a:solidFill>
              </a:defRPr>
            </a:pPr>
            <a:r>
              <a:rPr sz="930" b="1">
                <a:solidFill>
                  <a:srgbClr val="29475B"/>
                </a:solidFill>
              </a:rPr>
              <a:t>接入管理规则、投资指引、内部制度和操作手册</a:t>
            </a:r>
          </a:p>
          <a:p xmlns:a="http://schemas.openxmlformats.org/drawingml/2006/main">
            <a:pPr algn="l">
              <a:defRPr sz="930" b="1">
                <a:solidFill>
                  <a:srgbClr val="29475B"/>
                </a:solidFill>
              </a:defRPr>
            </a:pPr>
            <a:r>
              <a:rPr sz="930" b="1">
                <a:solidFill>
                  <a:srgbClr val="29475B"/>
                </a:solidFill>
              </a:rPr>
              <a:t>沉淀常见材料要求、申报口径和复核问题</a:t>
            </a:r>
          </a:p>
          <a:p xmlns:a="http://schemas.openxmlformats.org/drawingml/2006/main">
            <a:pPr algn="l">
              <a:defRPr sz="930" b="1">
                <a:solidFill>
                  <a:srgbClr val="29475B"/>
                </a:solidFill>
              </a:defRPr>
            </a:pPr>
            <a:r>
              <a:rPr sz="930" b="1">
                <a:solidFill>
                  <a:srgbClr val="29475B"/>
                </a:solidFill>
              </a:rPr>
              <a:t>保留版本、来源和适用范围，便于后续维护</a:t>
            </a:r>
          </a:p>
        </p:txBody>
      </p:sp>
      <p:sp>
        <p:nvSpPr>
          <p:cNvPr id="25" name="column">
            <a:extLst xmlns:a="http://schemas.openxmlformats.org/drawingml/2006/main">
              <a:ext uri="{FF2B5EF4-FFF2-40B4-BE49-F238E27FC236}">
                <a16:creationId xmlns:a16="http://schemas.microsoft.com/office/drawing/2014/main" id="{540B9D13-795C-4491-AB2D-8506B1F43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362200"/>
            <a:ext cx="31051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26" name="column-top">
            <a:extLst xmlns:a="http://schemas.openxmlformats.org/drawingml/2006/main">
              <a:ext uri="{FF2B5EF4-FFF2-40B4-BE49-F238E27FC236}">
                <a16:creationId xmlns:a16="http://schemas.microsoft.com/office/drawing/2014/main" id="{A317868C-EF2A-4063-BB13-49D7C1493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362200"/>
            <a:ext cx="3105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7A22"/>
          </a:solidFill>
          <a:ln xmlns:a="http://schemas.openxmlformats.org/drawingml/2006/main" w="0">
            <a:solidFill>
              <a:srgbClr val="E17A22"/>
            </a:solidFill>
            <a:prstDash val="solid"/>
          </a:ln>
        </p:spPr>
      </p:sp>
      <p:sp>
        <p:nvSpPr>
          <p:cNvPr id="27" name="label-bg">
            <a:extLst xmlns:a="http://schemas.openxmlformats.org/drawingml/2006/main">
              <a:ext uri="{FF2B5EF4-FFF2-40B4-BE49-F238E27FC236}">
                <a16:creationId xmlns:a16="http://schemas.microsoft.com/office/drawing/2014/main" id="{1ACA4D87-F8BF-49F5-BAF4-C92503BED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590800"/>
            <a:ext cx="1219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label-accent">
            <a:extLst xmlns:a="http://schemas.openxmlformats.org/drawingml/2006/main">
              <a:ext uri="{FF2B5EF4-FFF2-40B4-BE49-F238E27FC236}">
                <a16:creationId xmlns:a16="http://schemas.microsoft.com/office/drawing/2014/main" id="{EABF1A8A-30BB-4084-932E-D2B746EF4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590800"/>
            <a:ext cx="38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7A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364282-4FBA-49F7-B014-AE7CF3244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657475"/>
            <a:ext cx="990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E17A22"/>
                </a:solidFill>
              </a:defRPr>
            </a:pPr>
            <a:r>
              <a:rPr sz="863" b="1">
                <a:solidFill>
                  <a:srgbClr val="E17A22"/>
                </a:solidFill>
              </a:rPr>
              <a:t>知识检索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4DBEE45-C679-4618-A4F7-337AC00FE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30099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3456"/>
                </a:solidFill>
              </a:defRPr>
            </a:pPr>
            <a:r>
              <a:rPr sz="1350" b="1">
                <a:solidFill>
                  <a:srgbClr val="063456"/>
                </a:solidFill>
              </a:rPr>
              <a:t>从资料库到可问可查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2FF6C30-4C2B-4A2A-A4DC-E35B41F15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3429000"/>
            <a:ext cx="27241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0" b="1">
                <a:solidFill>
                  <a:srgbClr val="29475B"/>
                </a:solidFill>
              </a:defRPr>
            </a:pPr>
            <a:r>
              <a:rPr sz="930" b="1">
                <a:solidFill>
                  <a:srgbClr val="29475B"/>
                </a:solidFill>
              </a:rPr>
              <a:t>根据用户问题检索相关制度和业务口径</a:t>
            </a:r>
          </a:p>
          <a:p xmlns:a="http://schemas.openxmlformats.org/drawingml/2006/main">
            <a:pPr algn="l">
              <a:defRPr sz="930" b="1">
                <a:solidFill>
                  <a:srgbClr val="29475B"/>
                </a:solidFill>
              </a:defRPr>
            </a:pPr>
            <a:r>
              <a:rPr sz="930" b="1">
                <a:solidFill>
                  <a:srgbClr val="29475B"/>
                </a:solidFill>
              </a:rPr>
              <a:t>结合 Graph RAG 关联条款、例外和证据要求</a:t>
            </a:r>
          </a:p>
          <a:p xmlns:a="http://schemas.openxmlformats.org/drawingml/2006/main">
            <a:pPr algn="l">
              <a:defRPr sz="930" b="1">
                <a:solidFill>
                  <a:srgbClr val="29475B"/>
                </a:solidFill>
              </a:defRPr>
            </a:pPr>
            <a:r>
              <a:rPr sz="930" b="1">
                <a:solidFill>
                  <a:srgbClr val="29475B"/>
                </a:solidFill>
              </a:rPr>
              <a:t>回答时附带依据来源和建议复核点</a:t>
            </a:r>
          </a:p>
        </p:txBody>
      </p:sp>
      <p:sp>
        <p:nvSpPr>
          <p:cNvPr id="32" name="column">
            <a:extLst xmlns:a="http://schemas.openxmlformats.org/drawingml/2006/main">
              <a:ext uri="{FF2B5EF4-FFF2-40B4-BE49-F238E27FC236}">
                <a16:creationId xmlns:a16="http://schemas.microsoft.com/office/drawing/2014/main" id="{8CC54F1F-BC42-4A17-B12A-738A54D69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362200"/>
            <a:ext cx="3333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33" name="column-top">
            <a:extLst xmlns:a="http://schemas.openxmlformats.org/drawingml/2006/main">
              <a:ext uri="{FF2B5EF4-FFF2-40B4-BE49-F238E27FC236}">
                <a16:creationId xmlns:a16="http://schemas.microsoft.com/office/drawing/2014/main" id="{1942C525-88F3-48B9-BCBB-912F187B6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362200"/>
            <a:ext cx="3333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2E8B57"/>
            </a:solidFill>
            <a:prstDash val="solid"/>
          </a:ln>
        </p:spPr>
      </p:sp>
      <p:sp>
        <p:nvSpPr>
          <p:cNvPr id="34" name="label-bg">
            <a:extLst xmlns:a="http://schemas.openxmlformats.org/drawingml/2006/main">
              <a:ext uri="{FF2B5EF4-FFF2-40B4-BE49-F238E27FC236}">
                <a16:creationId xmlns:a16="http://schemas.microsoft.com/office/drawing/2014/main" id="{8700AAA9-49D4-4385-A679-DF473CC0B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90800"/>
            <a:ext cx="1219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label-accent">
            <a:extLst xmlns:a="http://schemas.openxmlformats.org/drawingml/2006/main">
              <a:ext uri="{FF2B5EF4-FFF2-40B4-BE49-F238E27FC236}">
                <a16:creationId xmlns:a16="http://schemas.microsoft.com/office/drawing/2014/main" id="{E42CF7D2-0A80-43AD-BC90-4C3B5C8B8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90800"/>
            <a:ext cx="38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BA10602-D549-45A7-A2B3-E0B804A99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657475"/>
            <a:ext cx="990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2E8B57"/>
                </a:solidFill>
              </a:defRPr>
            </a:pPr>
            <a:r>
              <a:rPr sz="863" b="1">
                <a:solidFill>
                  <a:srgbClr val="2E8B57"/>
                </a:solidFill>
              </a:rPr>
              <a:t>问小易能力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A9CEE2D-FECC-4F7C-9AC3-4C8C8BAE0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099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3456"/>
                </a:solidFill>
              </a:defRPr>
            </a:pPr>
            <a:r>
              <a:rPr sz="1350" b="1">
                <a:solidFill>
                  <a:srgbClr val="063456"/>
                </a:solidFill>
              </a:rPr>
              <a:t>从通用问答到合规助手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232A570-B5AA-4FC8-9C06-40AE5DB60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429000"/>
            <a:ext cx="2952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0" b="1">
                <a:solidFill>
                  <a:srgbClr val="29475B"/>
                </a:solidFill>
              </a:defRPr>
            </a:pPr>
            <a:r>
              <a:rPr sz="930" b="1">
                <a:solidFill>
                  <a:srgbClr val="29475B"/>
                </a:solidFill>
              </a:rPr>
              <a:t>支持员工咨询申报范围、材料准备和流程问题</a:t>
            </a:r>
          </a:p>
          <a:p xmlns:a="http://schemas.openxmlformats.org/drawingml/2006/main">
            <a:pPr algn="l">
              <a:defRPr sz="930" b="1">
                <a:solidFill>
                  <a:srgbClr val="29475B"/>
                </a:solidFill>
              </a:defRPr>
            </a:pPr>
            <a:r>
              <a:rPr sz="930" b="1">
                <a:solidFill>
                  <a:srgbClr val="29475B"/>
                </a:solidFill>
              </a:rPr>
              <a:t>支持复核人员查询规则口径和历史问题处理方式</a:t>
            </a:r>
          </a:p>
          <a:p xmlns:a="http://schemas.openxmlformats.org/drawingml/2006/main">
            <a:pPr algn="l">
              <a:defRPr sz="930" b="1">
                <a:solidFill>
                  <a:srgbClr val="29475B"/>
                </a:solidFill>
              </a:defRPr>
            </a:pPr>
            <a:r>
              <a:rPr sz="930" b="1">
                <a:solidFill>
                  <a:srgbClr val="29475B"/>
                </a:solidFill>
              </a:rPr>
              <a:t>对不确定问题引导提交人工复核或专家确认</a:t>
            </a:r>
          </a:p>
        </p:txBody>
      </p:sp>
      <p:sp>
        <p:nvSpPr>
          <p:cNvPr id="39" name="path-band">
            <a:extLst xmlns:a="http://schemas.openxmlformats.org/drawingml/2006/main">
              <a:ext uri="{FF2B5EF4-FFF2-40B4-BE49-F238E27FC236}">
                <a16:creationId xmlns:a16="http://schemas.microsoft.com/office/drawing/2014/main" id="{0BC191B4-B7D5-4AB2-A0B5-B8CA40B89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10100"/>
            <a:ext cx="10020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40" name="path-accent">
            <a:extLst xmlns:a="http://schemas.openxmlformats.org/drawingml/2006/main">
              <a:ext uri="{FF2B5EF4-FFF2-40B4-BE49-F238E27FC236}">
                <a16:creationId xmlns:a16="http://schemas.microsoft.com/office/drawing/2014/main" id="{2839A8D3-968B-4F3E-9436-9C49AB7D2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1010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08F"/>
          </a:solidFill>
          <a:ln xmlns:a="http://schemas.openxmlformats.org/drawingml/2006/main" w="0">
            <a:solidFill>
              <a:srgbClr val="00508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8502F3F-952E-428F-B17E-DD833B3E5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7053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063456"/>
                </a:solidFill>
              </a:defRPr>
            </a:pPr>
            <a:r>
              <a:rPr sz="1013" b="1">
                <a:solidFill>
                  <a:srgbClr val="063456"/>
                </a:solidFill>
              </a:rPr>
              <a:t>制度资料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896AFDD-2F31-42D0-ADFA-93C5E9CBB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914900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65" b="1">
                <a:solidFill>
                  <a:srgbClr val="657987"/>
                </a:solidFill>
              </a:defRPr>
            </a:pPr>
            <a:r>
              <a:rPr sz="765" b="1">
                <a:solidFill>
                  <a:srgbClr val="657987"/>
                </a:solidFill>
              </a:rPr>
              <a:t>iWiki 统一沉淀</a:t>
            </a:r>
          </a:p>
        </p:txBody>
      </p:sp>
      <p:sp>
        <p:nvSpPr>
          <p:cNvPr id="43" name="path-line">
            <a:extLst xmlns:a="http://schemas.openxmlformats.org/drawingml/2006/main">
              <a:ext uri="{FF2B5EF4-FFF2-40B4-BE49-F238E27FC236}">
                <a16:creationId xmlns:a16="http://schemas.microsoft.com/office/drawing/2014/main" id="{0BD54B9D-733E-4365-8112-146AC21D1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876800"/>
            <a:ext cx="5524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EA"/>
          </a:solidFill>
          <a:ln xmlns:a="http://schemas.openxmlformats.org/drawingml/2006/main" w="0">
            <a:solidFill>
              <a:srgbClr val="D7E4E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40357CD-99F7-4EE5-BA0D-30A8B98D4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781550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57987"/>
                </a:solidFill>
              </a:defRPr>
            </a:pPr>
            <a:r>
              <a:rPr sz="1125" b="1">
                <a:solidFill>
                  <a:srgbClr val="657987"/>
                </a:solidFill>
              </a:rPr>
              <a:t>→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6A3D9BC-858A-4461-B8AE-253468A64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7053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063456"/>
                </a:solidFill>
              </a:defRPr>
            </a:pPr>
            <a:r>
              <a:rPr sz="1013" b="1">
                <a:solidFill>
                  <a:srgbClr val="063456"/>
                </a:solidFill>
              </a:rPr>
              <a:t>知识检索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87FE275-A475-455D-9393-96F2C55D4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914900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65" b="1">
                <a:solidFill>
                  <a:srgbClr val="657987"/>
                </a:solidFill>
              </a:defRPr>
            </a:pPr>
            <a:r>
              <a:rPr sz="765" b="1">
                <a:solidFill>
                  <a:srgbClr val="657987"/>
                </a:solidFill>
              </a:rPr>
              <a:t>规则与口径召回</a:t>
            </a:r>
          </a:p>
        </p:txBody>
      </p:sp>
      <p:sp>
        <p:nvSpPr>
          <p:cNvPr id="47" name="path-line">
            <a:extLst xmlns:a="http://schemas.openxmlformats.org/drawingml/2006/main">
              <a:ext uri="{FF2B5EF4-FFF2-40B4-BE49-F238E27FC236}">
                <a16:creationId xmlns:a16="http://schemas.microsoft.com/office/drawing/2014/main" id="{115BCCB6-FCEA-460A-98E8-832F990D1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876800"/>
            <a:ext cx="5524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EA"/>
          </a:solidFill>
          <a:ln xmlns:a="http://schemas.openxmlformats.org/drawingml/2006/main" w="0">
            <a:solidFill>
              <a:srgbClr val="D7E4EA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92AC021-36A2-40D9-8604-73E9BDC90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781550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57987"/>
                </a:solidFill>
              </a:defRPr>
            </a:pPr>
            <a:r>
              <a:rPr sz="1125" b="1">
                <a:solidFill>
                  <a:srgbClr val="657987"/>
                </a:solidFill>
              </a:rPr>
              <a:t>→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A26AAF9-4610-474B-BE2F-87107E5FC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7053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063456"/>
                </a:solidFill>
              </a:defRPr>
            </a:pPr>
            <a:r>
              <a:rPr sz="1013" b="1">
                <a:solidFill>
                  <a:srgbClr val="063456"/>
                </a:solidFill>
              </a:rPr>
              <a:t>问小易问答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1E394E0-DE70-42C2-930C-6943658A5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914900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65" b="1">
                <a:solidFill>
                  <a:srgbClr val="657987"/>
                </a:solidFill>
              </a:defRPr>
            </a:pPr>
            <a:r>
              <a:rPr sz="765" b="1">
                <a:solidFill>
                  <a:srgbClr val="657987"/>
                </a:solidFill>
              </a:rPr>
              <a:t>员工 / 复核人员入口</a:t>
            </a:r>
          </a:p>
        </p:txBody>
      </p:sp>
      <p:sp>
        <p:nvSpPr>
          <p:cNvPr id="51" name="path-line">
            <a:extLst xmlns:a="http://schemas.openxmlformats.org/drawingml/2006/main">
              <a:ext uri="{FF2B5EF4-FFF2-40B4-BE49-F238E27FC236}">
                <a16:creationId xmlns:a16="http://schemas.microsoft.com/office/drawing/2014/main" id="{ED9103E8-BE0F-4613-A704-724E2365E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876800"/>
            <a:ext cx="5524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EA"/>
          </a:solidFill>
          <a:ln xmlns:a="http://schemas.openxmlformats.org/drawingml/2006/main" w="0">
            <a:solidFill>
              <a:srgbClr val="D7E4EA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FBAF265-D1B9-4D24-8E28-C7A38F415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781550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57987"/>
                </a:solidFill>
              </a:defRPr>
            </a:pPr>
            <a:r>
              <a:rPr sz="1125" b="1">
                <a:solidFill>
                  <a:srgbClr val="657987"/>
                </a:solidFill>
              </a:rPr>
              <a:t>→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3F1513B-895C-47F8-BDDC-812B0DBD2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7053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063456"/>
                </a:solidFill>
              </a:defRPr>
            </a:pPr>
            <a:r>
              <a:rPr sz="1013" b="1">
                <a:solidFill>
                  <a:srgbClr val="063456"/>
                </a:solidFill>
              </a:rPr>
              <a:t>依据留痕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8BC702A-F480-4F4C-909E-35D346786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914900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65" b="1">
                <a:solidFill>
                  <a:srgbClr val="657987"/>
                </a:solidFill>
              </a:defRPr>
            </a:pPr>
            <a:r>
              <a:rPr sz="765" b="1">
                <a:solidFill>
                  <a:srgbClr val="657987"/>
                </a:solidFill>
              </a:rPr>
              <a:t>答案来源与复核提示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8C27818-5396-4513-9EAC-EB2B3F141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911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3456"/>
                </a:solidFill>
              </a:defRPr>
            </a:pPr>
            <a:r>
              <a:rPr sz="1350" b="1">
                <a:solidFill>
                  <a:srgbClr val="063456"/>
                </a:solidFill>
              </a:rPr>
              <a:t>预期效果</a:t>
            </a:r>
          </a:p>
        </p:txBody>
      </p:sp>
      <p:sp>
        <p:nvSpPr>
          <p:cNvPr id="56" name="outcome-rule">
            <a:extLst xmlns:a="http://schemas.openxmlformats.org/drawingml/2006/main">
              <a:ext uri="{FF2B5EF4-FFF2-40B4-BE49-F238E27FC236}">
                <a16:creationId xmlns:a16="http://schemas.microsoft.com/office/drawing/2014/main" id="{74FDD09C-F71D-40D6-AEB8-8B21742C3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67375"/>
            <a:ext cx="10020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EA"/>
          </a:solidFill>
          <a:ln xmlns:a="http://schemas.openxmlformats.org/drawingml/2006/main" w="0">
            <a:solidFill>
              <a:srgbClr val="D7E4EA"/>
            </a:solidFill>
            <a:prstDash val="solid"/>
          </a:ln>
        </p:spPr>
      </p:sp>
      <p:sp>
        <p:nvSpPr>
          <p:cNvPr id="57" name="outcome">
            <a:extLst xmlns:a="http://schemas.openxmlformats.org/drawingml/2006/main">
              <a:ext uri="{FF2B5EF4-FFF2-40B4-BE49-F238E27FC236}">
                <a16:creationId xmlns:a16="http://schemas.microsoft.com/office/drawing/2014/main" id="{ED8EEFD3-2E11-44CC-98A2-CC31AB873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72150"/>
            <a:ext cx="2343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8" name="outcome-accent">
            <a:extLst xmlns:a="http://schemas.openxmlformats.org/drawingml/2006/main">
              <a:ext uri="{FF2B5EF4-FFF2-40B4-BE49-F238E27FC236}">
                <a16:creationId xmlns:a16="http://schemas.microsoft.com/office/drawing/2014/main" id="{AB3AC8E8-6B7D-41CF-AFEF-DD95604B2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72150"/>
            <a:ext cx="285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 w="0">
            <a:solidFill>
              <a:srgbClr val="00B5CF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523BC89-5604-4820-AA5B-F56B73777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848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63456"/>
                </a:solidFill>
              </a:defRPr>
            </a:pPr>
            <a:r>
              <a:rPr sz="1050" b="1">
                <a:solidFill>
                  <a:srgbClr val="063456"/>
                </a:solidFill>
              </a:rPr>
              <a:t>咨询入口统一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8540341-C73F-4E59-A431-226233F8B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61150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03" b="1">
                <a:solidFill>
                  <a:srgbClr val="486171"/>
                </a:solidFill>
              </a:defRPr>
            </a:pPr>
            <a:r>
              <a:rPr sz="803" b="1">
                <a:solidFill>
                  <a:srgbClr val="486171"/>
                </a:solidFill>
              </a:rPr>
              <a:t>减少分散询问和口径不一致</a:t>
            </a:r>
          </a:p>
        </p:txBody>
      </p:sp>
      <p:sp>
        <p:nvSpPr>
          <p:cNvPr id="61" name="outcome">
            <a:extLst xmlns:a="http://schemas.openxmlformats.org/drawingml/2006/main">
              <a:ext uri="{FF2B5EF4-FFF2-40B4-BE49-F238E27FC236}">
                <a16:creationId xmlns:a16="http://schemas.microsoft.com/office/drawing/2014/main" id="{13360F8B-B339-47C0-99A8-4F66899BC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5772150"/>
            <a:ext cx="2343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2" name="outcome-accent">
            <a:extLst xmlns:a="http://schemas.openxmlformats.org/drawingml/2006/main">
              <a:ext uri="{FF2B5EF4-FFF2-40B4-BE49-F238E27FC236}">
                <a16:creationId xmlns:a16="http://schemas.microsoft.com/office/drawing/2014/main" id="{19CEE17B-9CF7-44F6-8434-37535257D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5772150"/>
            <a:ext cx="285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7A22"/>
          </a:solidFill>
          <a:ln xmlns:a="http://schemas.openxmlformats.org/drawingml/2006/main" w="0">
            <a:solidFill>
              <a:srgbClr val="E17A22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DB26A0A-7806-4748-A669-5443492FA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5848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63456"/>
                </a:solidFill>
              </a:defRPr>
            </a:pPr>
            <a:r>
              <a:rPr sz="1050" b="1">
                <a:solidFill>
                  <a:srgbClr val="063456"/>
                </a:solidFill>
              </a:rPr>
              <a:t>规则查询更快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C105521-D0F0-4CAD-AD33-DECEC7AD3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61150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03" b="1">
                <a:solidFill>
                  <a:srgbClr val="486171"/>
                </a:solidFill>
              </a:defRPr>
            </a:pPr>
            <a:r>
              <a:rPr sz="803" b="1">
                <a:solidFill>
                  <a:srgbClr val="486171"/>
                </a:solidFill>
              </a:rPr>
              <a:t>从找制度变成问制度</a:t>
            </a:r>
          </a:p>
        </p:txBody>
      </p:sp>
      <p:sp>
        <p:nvSpPr>
          <p:cNvPr id="65" name="outcome">
            <a:extLst xmlns:a="http://schemas.openxmlformats.org/drawingml/2006/main">
              <a:ext uri="{FF2B5EF4-FFF2-40B4-BE49-F238E27FC236}">
                <a16:creationId xmlns:a16="http://schemas.microsoft.com/office/drawing/2014/main" id="{EAD3EDE8-DF50-4B42-BD29-FBCF985C4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772150"/>
            <a:ext cx="2343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6" name="outcome-accent">
            <a:extLst xmlns:a="http://schemas.openxmlformats.org/drawingml/2006/main">
              <a:ext uri="{FF2B5EF4-FFF2-40B4-BE49-F238E27FC236}">
                <a16:creationId xmlns:a16="http://schemas.microsoft.com/office/drawing/2014/main" id="{5D63968C-3E98-4796-8B42-BCF2161BA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772150"/>
            <a:ext cx="285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2E8B57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CE16074-FE3D-4E46-9F80-808A6ACF7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848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63456"/>
                </a:solidFill>
              </a:defRPr>
            </a:pPr>
            <a:r>
              <a:rPr sz="1050" b="1">
                <a:solidFill>
                  <a:srgbClr val="063456"/>
                </a:solidFill>
              </a:rPr>
              <a:t>知识可持续沉淀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9E69A00-1466-4C5A-9003-485129381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61150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03" b="1">
                <a:solidFill>
                  <a:srgbClr val="486171"/>
                </a:solidFill>
              </a:defRPr>
            </a:pPr>
            <a:r>
              <a:rPr sz="803" b="1">
                <a:solidFill>
                  <a:srgbClr val="486171"/>
                </a:solidFill>
              </a:rPr>
              <a:t>复核经验反哺知识库</a:t>
            </a:r>
          </a:p>
        </p:txBody>
      </p:sp>
      <p:sp>
        <p:nvSpPr>
          <p:cNvPr id="69" name="outcome">
            <a:extLst xmlns:a="http://schemas.openxmlformats.org/drawingml/2006/main">
              <a:ext uri="{FF2B5EF4-FFF2-40B4-BE49-F238E27FC236}">
                <a16:creationId xmlns:a16="http://schemas.microsoft.com/office/drawing/2014/main" id="{0A5D9D53-9CDC-4AD8-B90E-57E7B44FF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772150"/>
            <a:ext cx="2343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0" name="outcome-accent">
            <a:extLst xmlns:a="http://schemas.openxmlformats.org/drawingml/2006/main">
              <a:ext uri="{FF2B5EF4-FFF2-40B4-BE49-F238E27FC236}">
                <a16:creationId xmlns:a16="http://schemas.microsoft.com/office/drawing/2014/main" id="{36D9BD74-991D-4153-BA3E-176464BA0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772150"/>
            <a:ext cx="285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 w="0">
            <a:solidFill>
              <a:srgbClr val="00B5CF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2B92FC0-2A4B-450A-9770-EDD6C6B46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848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63456"/>
                </a:solidFill>
              </a:defRPr>
            </a:pPr>
            <a:r>
              <a:rPr sz="1050" b="1">
                <a:solidFill>
                  <a:srgbClr val="063456"/>
                </a:solidFill>
              </a:rPr>
              <a:t>服务范围扩大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ADF6196-2B8F-4720-B744-47279DC93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61150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03" b="1">
                <a:solidFill>
                  <a:srgbClr val="486171"/>
                </a:solidFill>
              </a:defRPr>
            </a:pPr>
            <a:r>
              <a:rPr sz="803" b="1">
                <a:solidFill>
                  <a:srgbClr val="486171"/>
                </a:solidFill>
              </a:rPr>
              <a:t>从材料处理扩展到合规咨询</a:t>
            </a:r>
          </a:p>
        </p:txBody>
      </p:sp>
    </p:spTree>
    <p:extLst>
      <p:ext uri="{BB962C8B-B14F-4D97-AF65-F5344CB8AC3E}">
        <p14:creationId xmlns:p14="http://schemas.microsoft.com/office/powerpoint/2010/main" val="13549890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r">
            <a:extLst xmlns:a="http://schemas.openxmlformats.org/drawingml/2006/main">
              <a:ext uri="{FF2B5EF4-FFF2-40B4-BE49-F238E27FC236}">
                <a16:creationId xmlns:a16="http://schemas.microsoft.com/office/drawing/2014/main" id="{7E2CBF15-15A6-4657-9D7F-A69C1A9B5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08F"/>
          </a:solidFill>
          <a:ln xmlns:a="http://schemas.openxmlformats.org/drawingml/2006/main" w="0">
            <a:solidFill>
              <a:srgbClr val="00508F"/>
            </a:solidFill>
            <a:prstDash val="solid"/>
          </a:ln>
        </p:spPr>
      </p:sp>
      <p:sp>
        <p:nvSpPr>
          <p:cNvPr id="2" name="left-bg">
            <a:extLst xmlns:a="http://schemas.openxmlformats.org/drawingml/2006/main">
              <a:ext uri="{FF2B5EF4-FFF2-40B4-BE49-F238E27FC236}">
                <a16:creationId xmlns:a16="http://schemas.microsoft.com/office/drawing/2014/main" id="{CAE2791D-4476-4CB8-9D2B-AF8D13F5F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0525"/>
            <a:ext cx="952500" cy="6467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2F6"/>
          </a:solidFill>
          <a:ln xmlns:a="http://schemas.openxmlformats.org/drawingml/2006/main" w="0">
            <a:solidFill>
              <a:srgbClr val="E9F2F6"/>
            </a:solidFill>
            <a:prstDash val="solid"/>
          </a:ln>
        </p:spPr>
      </p:sp>
      <p:sp>
        <p:nvSpPr>
          <p:cNvPr id="3" name="left-accent">
            <a:extLst xmlns:a="http://schemas.openxmlformats.org/drawingml/2006/main">
              <a:ext uri="{FF2B5EF4-FFF2-40B4-BE49-F238E27FC236}">
                <a16:creationId xmlns:a16="http://schemas.microsoft.com/office/drawing/2014/main" id="{C136F95D-17E9-405B-B81F-BF4B3809F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0525"/>
            <a:ext cx="114300" cy="6467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 w="0">
            <a:solidFill>
              <a:srgbClr val="00B5CF"/>
            </a:solidFill>
            <a:prstDash val="solid"/>
          </a:ln>
        </p:spPr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5300D290-D49C-4486-AECD-07577E715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962025"/>
            <a:ext cx="10020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 w="0">
            <a:solidFill>
              <a:srgbClr val="00B5CF"/>
            </a:solidFill>
            <a:prstDash val="solid"/>
          </a:ln>
        </p:spPr>
      </p:sp>
      <p:sp>
        <p:nvSpPr>
          <p:cNvPr id="5" name="brand-dot">
            <a:extLst xmlns:a="http://schemas.openxmlformats.org/drawingml/2006/main">
              <a:ext uri="{FF2B5EF4-FFF2-40B4-BE49-F238E27FC236}">
                <a16:creationId xmlns:a16="http://schemas.microsoft.com/office/drawing/2014/main" id="{5B88769F-5E03-4DF5-BC57-8797D2E04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143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 w="0">
            <a:solidFill>
              <a:srgbClr val="00B5C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30CBE4-84DF-44D8-AA63-0270E3384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952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E FUND 易方达风格参考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8C8623-C5F0-4950-B934-03D00E4E6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42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57987"/>
                </a:solidFill>
              </a:defRPr>
            </a:pPr>
            <a:r>
              <a:rPr sz="1200" b="1">
                <a:solidFill>
                  <a:srgbClr val="657987"/>
                </a:solidFill>
              </a:rPr>
              <a:t>拓展三｜合规复核场景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56F41F-69C5-41ED-8A48-4D537B0C1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009650"/>
            <a:ext cx="752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63456"/>
                </a:solidFill>
              </a:defRPr>
            </a:pPr>
            <a:r>
              <a:rPr sz="2250" b="1">
                <a:solidFill>
                  <a:srgbClr val="063456"/>
                </a:solidFill>
              </a:rPr>
              <a:t>从证券投资申报，延展到内控材料初筛与审计材料归类</a:t>
            </a:r>
          </a:p>
        </p:txBody>
      </p:sp>
      <p:sp>
        <p:nvSpPr>
          <p:cNvPr id="9" name="badge-bg">
            <a:extLst xmlns:a="http://schemas.openxmlformats.org/drawingml/2006/main">
              <a:ext uri="{FF2B5EF4-FFF2-40B4-BE49-F238E27FC236}">
                <a16:creationId xmlns:a16="http://schemas.microsoft.com/office/drawing/2014/main" id="{CD502DE6-2D1D-4796-B2D4-7D5BFFBB7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971550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adge-accent">
            <a:extLst xmlns:a="http://schemas.openxmlformats.org/drawingml/2006/main">
              <a:ext uri="{FF2B5EF4-FFF2-40B4-BE49-F238E27FC236}">
                <a16:creationId xmlns:a16="http://schemas.microsoft.com/office/drawing/2014/main" id="{783D7C46-2B46-4E34-A6D4-A50F0CD97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971550"/>
            <a:ext cx="38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7A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0FA825-CDE9-42F0-B71B-37FCA47DB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066800"/>
            <a:ext cx="1485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E17A22"/>
                </a:solidFill>
              </a:defRPr>
            </a:pPr>
            <a:r>
              <a:rPr sz="1013" b="1">
                <a:solidFill>
                  <a:srgbClr val="E17A22"/>
                </a:solidFill>
              </a:rPr>
              <a:t>场景范围拓展</a:t>
            </a:r>
          </a:p>
        </p:txBody>
      </p:sp>
      <p:sp>
        <p:nvSpPr>
          <p:cNvPr id="12" name="footer-rule">
            <a:extLst xmlns:a="http://schemas.openxmlformats.org/drawingml/2006/main">
              <a:ext uri="{FF2B5EF4-FFF2-40B4-BE49-F238E27FC236}">
                <a16:creationId xmlns:a16="http://schemas.microsoft.com/office/drawing/2014/main" id="{01511281-B9A8-4FB6-9E67-D9422A6FC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381750"/>
            <a:ext cx="10020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EA"/>
          </a:solidFill>
          <a:ln xmlns:a="http://schemas.openxmlformats.org/drawingml/2006/main" w="0">
            <a:solidFill>
              <a:srgbClr val="D7E4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1AAFA0-3191-4A71-B40E-F12A8A9EC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48652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A9AA5"/>
                </a:solidFill>
              </a:defRPr>
            </a:pPr>
            <a:r>
              <a:rPr sz="825" b="1">
                <a:solidFill>
                  <a:srgbClr val="8A9AA5"/>
                </a:solidFill>
              </a:rPr>
              <a:t>易方达基金 · 内部交流，请勿外传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24CD61-C605-4036-A81A-C78CD8976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86525"/>
            <a:ext cx="1543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A9AA5"/>
                </a:solidFill>
              </a:defRPr>
            </a:pPr>
            <a:r>
              <a:rPr sz="825" b="1">
                <a:solidFill>
                  <a:srgbClr val="8A9AA5"/>
                </a:solidFill>
              </a:rPr>
              <a:t>拓展性与预期发展 3/3</a:t>
            </a:r>
          </a:p>
        </p:txBody>
      </p:sp>
      <p:sp>
        <p:nvSpPr>
          <p:cNvPr id="15" name="note-bg">
            <a:extLst xmlns:a="http://schemas.openxmlformats.org/drawingml/2006/main">
              <a:ext uri="{FF2B5EF4-FFF2-40B4-BE49-F238E27FC236}">
                <a16:creationId xmlns:a16="http://schemas.microsoft.com/office/drawing/2014/main" id="{E63992E4-8F0B-49A6-9876-2A2B09BD7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24000"/>
            <a:ext cx="10020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note-accent">
            <a:extLst xmlns:a="http://schemas.openxmlformats.org/drawingml/2006/main">
              <a:ext uri="{FF2B5EF4-FFF2-40B4-BE49-F238E27FC236}">
                <a16:creationId xmlns:a16="http://schemas.microsoft.com/office/drawing/2014/main" id="{1A24692B-2005-43B1-AB44-71DD29747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2400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FAE53D-493A-4F6B-BD7B-E2FB81D98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638300"/>
            <a:ext cx="967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40" b="1">
                <a:solidFill>
                  <a:srgbClr val="063456"/>
                </a:solidFill>
              </a:defRPr>
            </a:pPr>
            <a:r>
              <a:rPr sz="1140" b="1">
                <a:solidFill>
                  <a:srgbClr val="063456"/>
                </a:solidFill>
              </a:rPr>
              <a:t>项目沉淀的核心能力是“材料理解 + 规则判断 + 证据链管理”。这一能力可以迁移到内控、审计、稽核等材料密集型复核场景，先做初筛和归类，再交由人工确认。</a:t>
            </a:r>
          </a:p>
        </p:txBody>
      </p:sp>
      <p:sp>
        <p:nvSpPr>
          <p:cNvPr id="18" name="column">
            <a:extLst xmlns:a="http://schemas.openxmlformats.org/drawingml/2006/main">
              <a:ext uri="{FF2B5EF4-FFF2-40B4-BE49-F238E27FC236}">
                <a16:creationId xmlns:a16="http://schemas.microsoft.com/office/drawing/2014/main" id="{AA599768-70B2-47A8-A38A-31C1645F8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62200"/>
            <a:ext cx="31051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19" name="column-top">
            <a:extLst xmlns:a="http://schemas.openxmlformats.org/drawingml/2006/main">
              <a:ext uri="{FF2B5EF4-FFF2-40B4-BE49-F238E27FC236}">
                <a16:creationId xmlns:a16="http://schemas.microsoft.com/office/drawing/2014/main" id="{0EABDB1B-706B-4478-AEEF-92F0A6CC7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62200"/>
            <a:ext cx="3105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 w="0">
            <a:solidFill>
              <a:srgbClr val="00B5CF"/>
            </a:solidFill>
            <a:prstDash val="solid"/>
          </a:ln>
        </p:spPr>
      </p:sp>
      <p:sp>
        <p:nvSpPr>
          <p:cNvPr id="20" name="label-bg">
            <a:extLst xmlns:a="http://schemas.openxmlformats.org/drawingml/2006/main">
              <a:ext uri="{FF2B5EF4-FFF2-40B4-BE49-F238E27FC236}">
                <a16:creationId xmlns:a16="http://schemas.microsoft.com/office/drawing/2014/main" id="{7066A39B-6B8A-49E7-A2E5-ED83445CC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590800"/>
            <a:ext cx="1219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label-accent">
            <a:extLst xmlns:a="http://schemas.openxmlformats.org/drawingml/2006/main">
              <a:ext uri="{FF2B5EF4-FFF2-40B4-BE49-F238E27FC236}">
                <a16:creationId xmlns:a16="http://schemas.microsoft.com/office/drawing/2014/main" id="{4409C2A8-D545-430D-911E-369AF8A5C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590800"/>
            <a:ext cx="38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F9BFC2-4AB7-4844-8216-25A74EA95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657475"/>
            <a:ext cx="990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00B5CF"/>
                </a:solidFill>
              </a:defRPr>
            </a:pPr>
            <a:r>
              <a:rPr sz="863" b="1">
                <a:solidFill>
                  <a:srgbClr val="00B5CF"/>
                </a:solidFill>
              </a:rPr>
              <a:t>内控材料初筛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AB77F8-745D-4605-8ED0-F50C57684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099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3456"/>
                </a:solidFill>
              </a:defRPr>
            </a:pPr>
            <a:r>
              <a:rPr sz="1350" b="1">
                <a:solidFill>
                  <a:srgbClr val="063456"/>
                </a:solidFill>
              </a:rPr>
              <a:t>先识别材料是否齐备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1D78F6-DFE5-4777-9F70-9451E3D26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29000"/>
            <a:ext cx="27241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0" b="1">
                <a:solidFill>
                  <a:srgbClr val="29475B"/>
                </a:solidFill>
              </a:defRPr>
            </a:pPr>
            <a:r>
              <a:rPr sz="930" b="1">
                <a:solidFill>
                  <a:srgbClr val="29475B"/>
                </a:solidFill>
              </a:rPr>
              <a:t>按事项识别材料类型、所属流程和关键字段</a:t>
            </a:r>
          </a:p>
          <a:p xmlns:a="http://schemas.openxmlformats.org/drawingml/2006/main">
            <a:pPr algn="l">
              <a:defRPr sz="930" b="1">
                <a:solidFill>
                  <a:srgbClr val="29475B"/>
                </a:solidFill>
              </a:defRPr>
            </a:pPr>
            <a:r>
              <a:rPr sz="930" b="1">
                <a:solidFill>
                  <a:srgbClr val="29475B"/>
                </a:solidFill>
              </a:rPr>
              <a:t>检查材料缺失、版本不一致、签章或时间异常</a:t>
            </a:r>
          </a:p>
          <a:p xmlns:a="http://schemas.openxmlformats.org/drawingml/2006/main">
            <a:pPr algn="l">
              <a:defRPr sz="930" b="1">
                <a:solidFill>
                  <a:srgbClr val="29475B"/>
                </a:solidFill>
              </a:defRPr>
            </a:pPr>
            <a:r>
              <a:rPr sz="930" b="1">
                <a:solidFill>
                  <a:srgbClr val="29475B"/>
                </a:solidFill>
              </a:rPr>
              <a:t>形成初筛结论和待补充材料清单</a:t>
            </a:r>
          </a:p>
        </p:txBody>
      </p:sp>
      <p:sp>
        <p:nvSpPr>
          <p:cNvPr id="25" name="column">
            <a:extLst xmlns:a="http://schemas.openxmlformats.org/drawingml/2006/main">
              <a:ext uri="{FF2B5EF4-FFF2-40B4-BE49-F238E27FC236}">
                <a16:creationId xmlns:a16="http://schemas.microsoft.com/office/drawing/2014/main" id="{D7CD7BC9-065B-4C23-AD54-CF4D8B3B4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362200"/>
            <a:ext cx="31051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26" name="column-top">
            <a:extLst xmlns:a="http://schemas.openxmlformats.org/drawingml/2006/main">
              <a:ext uri="{FF2B5EF4-FFF2-40B4-BE49-F238E27FC236}">
                <a16:creationId xmlns:a16="http://schemas.microsoft.com/office/drawing/2014/main" id="{D7E5D8C5-6737-4B56-AA12-172D497C2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362200"/>
            <a:ext cx="3105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7A22"/>
          </a:solidFill>
          <a:ln xmlns:a="http://schemas.openxmlformats.org/drawingml/2006/main" w="0">
            <a:solidFill>
              <a:srgbClr val="E17A22"/>
            </a:solidFill>
            <a:prstDash val="solid"/>
          </a:ln>
        </p:spPr>
      </p:sp>
      <p:sp>
        <p:nvSpPr>
          <p:cNvPr id="27" name="label-bg">
            <a:extLst xmlns:a="http://schemas.openxmlformats.org/drawingml/2006/main">
              <a:ext uri="{FF2B5EF4-FFF2-40B4-BE49-F238E27FC236}">
                <a16:creationId xmlns:a16="http://schemas.microsoft.com/office/drawing/2014/main" id="{519C96B0-4BB1-41D4-96C5-69B6510CB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590800"/>
            <a:ext cx="1219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label-accent">
            <a:extLst xmlns:a="http://schemas.openxmlformats.org/drawingml/2006/main">
              <a:ext uri="{FF2B5EF4-FFF2-40B4-BE49-F238E27FC236}">
                <a16:creationId xmlns:a16="http://schemas.microsoft.com/office/drawing/2014/main" id="{A4919F2E-323F-432E-AEFE-AAE43A441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590800"/>
            <a:ext cx="38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7A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38345E-6C5E-41BD-9F68-0E1BD99DB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657475"/>
            <a:ext cx="990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E17A22"/>
                </a:solidFill>
              </a:defRPr>
            </a:pPr>
            <a:r>
              <a:rPr sz="863" b="1">
                <a:solidFill>
                  <a:srgbClr val="E17A22"/>
                </a:solidFill>
              </a:rPr>
              <a:t>审计材料归类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2D7028-C914-4936-A131-E57F7057E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30099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3456"/>
                </a:solidFill>
              </a:defRPr>
            </a:pPr>
            <a:r>
              <a:rPr sz="1350" b="1">
                <a:solidFill>
                  <a:srgbClr val="063456"/>
                </a:solidFill>
              </a:rPr>
              <a:t>把材料整理成可查目录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B388732-15F9-4878-902C-8D143B2D6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3429000"/>
            <a:ext cx="27241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0" b="1">
                <a:solidFill>
                  <a:srgbClr val="29475B"/>
                </a:solidFill>
              </a:defRPr>
            </a:pPr>
            <a:r>
              <a:rPr sz="930" b="1">
                <a:solidFill>
                  <a:srgbClr val="29475B"/>
                </a:solidFill>
              </a:rPr>
              <a:t>按项目、期间、机构、业务类型自动归档</a:t>
            </a:r>
          </a:p>
          <a:p xmlns:a="http://schemas.openxmlformats.org/drawingml/2006/main">
            <a:pPr algn="l">
              <a:defRPr sz="930" b="1">
                <a:solidFill>
                  <a:srgbClr val="29475B"/>
                </a:solidFill>
              </a:defRPr>
            </a:pPr>
            <a:r>
              <a:rPr sz="930" b="1">
                <a:solidFill>
                  <a:srgbClr val="29475B"/>
                </a:solidFill>
              </a:rPr>
              <a:t>从长文档和附件中抽取关键事实和证据位置</a:t>
            </a:r>
          </a:p>
          <a:p xmlns:a="http://schemas.openxmlformats.org/drawingml/2006/main">
            <a:pPr algn="l">
              <a:defRPr sz="930" b="1">
                <a:solidFill>
                  <a:srgbClr val="29475B"/>
                </a:solidFill>
              </a:defRPr>
            </a:pPr>
            <a:r>
              <a:rPr sz="930" b="1">
                <a:solidFill>
                  <a:srgbClr val="29475B"/>
                </a:solidFill>
              </a:rPr>
              <a:t>生成审计底稿目录、证据索引和问题标签</a:t>
            </a:r>
          </a:p>
        </p:txBody>
      </p:sp>
      <p:sp>
        <p:nvSpPr>
          <p:cNvPr id="32" name="column">
            <a:extLst xmlns:a="http://schemas.openxmlformats.org/drawingml/2006/main">
              <a:ext uri="{FF2B5EF4-FFF2-40B4-BE49-F238E27FC236}">
                <a16:creationId xmlns:a16="http://schemas.microsoft.com/office/drawing/2014/main" id="{BE1075DA-A9DD-46E5-A17F-D76F040EF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362200"/>
            <a:ext cx="3333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33" name="column-top">
            <a:extLst xmlns:a="http://schemas.openxmlformats.org/drawingml/2006/main">
              <a:ext uri="{FF2B5EF4-FFF2-40B4-BE49-F238E27FC236}">
                <a16:creationId xmlns:a16="http://schemas.microsoft.com/office/drawing/2014/main" id="{8BCD3671-FF78-4F0E-9754-3907EE79B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362200"/>
            <a:ext cx="3333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2E8B57"/>
            </a:solidFill>
            <a:prstDash val="solid"/>
          </a:ln>
        </p:spPr>
      </p:sp>
      <p:sp>
        <p:nvSpPr>
          <p:cNvPr id="34" name="label-bg">
            <a:extLst xmlns:a="http://schemas.openxmlformats.org/drawingml/2006/main">
              <a:ext uri="{FF2B5EF4-FFF2-40B4-BE49-F238E27FC236}">
                <a16:creationId xmlns:a16="http://schemas.microsoft.com/office/drawing/2014/main" id="{2F1442D2-E78B-4F9F-BC8F-E67308391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90800"/>
            <a:ext cx="1219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label-accent">
            <a:extLst xmlns:a="http://schemas.openxmlformats.org/drawingml/2006/main">
              <a:ext uri="{FF2B5EF4-FFF2-40B4-BE49-F238E27FC236}">
                <a16:creationId xmlns:a16="http://schemas.microsoft.com/office/drawing/2014/main" id="{E0373EC3-7CF3-4E3E-98A1-D4D7CD2AE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90800"/>
            <a:ext cx="38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51BF48D-6264-461D-A41E-B645C2289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657475"/>
            <a:ext cx="990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2E8B57"/>
                </a:solidFill>
              </a:defRPr>
            </a:pPr>
            <a:r>
              <a:rPr sz="863" b="1">
                <a:solidFill>
                  <a:srgbClr val="2E8B57"/>
                </a:solidFill>
              </a:rPr>
              <a:t>人工复核协同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296E0B0-AC82-42B0-B46B-BE334768D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099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3456"/>
                </a:solidFill>
              </a:defRPr>
            </a:pPr>
            <a:r>
              <a:rPr sz="1350" b="1">
                <a:solidFill>
                  <a:srgbClr val="063456"/>
                </a:solidFill>
              </a:rPr>
              <a:t>把问题交给人确认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4CB9A86-6C2A-440E-B665-C41C1F614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429000"/>
            <a:ext cx="2952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0" b="1">
                <a:solidFill>
                  <a:srgbClr val="29475B"/>
                </a:solidFill>
              </a:defRPr>
            </a:pPr>
            <a:r>
              <a:rPr sz="930" b="1">
                <a:solidFill>
                  <a:srgbClr val="29475B"/>
                </a:solidFill>
              </a:rPr>
              <a:t>系统只做初筛、归类和风险提示</a:t>
            </a:r>
          </a:p>
          <a:p xmlns:a="http://schemas.openxmlformats.org/drawingml/2006/main">
            <a:pPr algn="l">
              <a:defRPr sz="930" b="1">
                <a:solidFill>
                  <a:srgbClr val="29475B"/>
                </a:solidFill>
              </a:defRPr>
            </a:pPr>
            <a:r>
              <a:rPr sz="930" b="1">
                <a:solidFill>
                  <a:srgbClr val="29475B"/>
                </a:solidFill>
              </a:rPr>
              <a:t>高风险、冲突和缺证据事项进入人工复核清单</a:t>
            </a:r>
          </a:p>
          <a:p xmlns:a="http://schemas.openxmlformats.org/drawingml/2006/main">
            <a:pPr algn="l">
              <a:defRPr sz="930" b="1">
                <a:solidFill>
                  <a:srgbClr val="29475B"/>
                </a:solidFill>
              </a:defRPr>
            </a:pPr>
            <a:r>
              <a:rPr sz="930" b="1">
                <a:solidFill>
                  <a:srgbClr val="29475B"/>
                </a:solidFill>
              </a:rPr>
              <a:t>复核结果反向沉淀为规则和案例经验</a:t>
            </a:r>
          </a:p>
        </p:txBody>
      </p:sp>
      <p:sp>
        <p:nvSpPr>
          <p:cNvPr id="39" name="path-band">
            <a:extLst xmlns:a="http://schemas.openxmlformats.org/drawingml/2006/main">
              <a:ext uri="{FF2B5EF4-FFF2-40B4-BE49-F238E27FC236}">
                <a16:creationId xmlns:a16="http://schemas.microsoft.com/office/drawing/2014/main" id="{5F681A1C-872C-4CCC-91A3-2B06AFBAE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10100"/>
            <a:ext cx="10020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40" name="path-accent">
            <a:extLst xmlns:a="http://schemas.openxmlformats.org/drawingml/2006/main">
              <a:ext uri="{FF2B5EF4-FFF2-40B4-BE49-F238E27FC236}">
                <a16:creationId xmlns:a16="http://schemas.microsoft.com/office/drawing/2014/main" id="{13132A9B-A892-400F-84D8-F0B9B49F2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1010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08F"/>
          </a:solidFill>
          <a:ln xmlns:a="http://schemas.openxmlformats.org/drawingml/2006/main" w="0">
            <a:solidFill>
              <a:srgbClr val="00508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4A105B3-8B2E-4C04-998E-DD5D4F5DC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7053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063456"/>
                </a:solidFill>
              </a:defRPr>
            </a:pPr>
            <a:r>
              <a:rPr sz="1013" b="1">
                <a:solidFill>
                  <a:srgbClr val="063456"/>
                </a:solidFill>
              </a:rPr>
              <a:t>材料接入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2BA74C3-71D7-4FFB-B455-31DC3465F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914900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65" b="1">
                <a:solidFill>
                  <a:srgbClr val="657987"/>
                </a:solidFill>
              </a:defRPr>
            </a:pPr>
            <a:r>
              <a:rPr sz="765" b="1">
                <a:solidFill>
                  <a:srgbClr val="657987"/>
                </a:solidFill>
              </a:rPr>
              <a:t>制度 / 附件 / 底稿</a:t>
            </a:r>
          </a:p>
        </p:txBody>
      </p:sp>
      <p:sp>
        <p:nvSpPr>
          <p:cNvPr id="43" name="path-line">
            <a:extLst xmlns:a="http://schemas.openxmlformats.org/drawingml/2006/main">
              <a:ext uri="{FF2B5EF4-FFF2-40B4-BE49-F238E27FC236}">
                <a16:creationId xmlns:a16="http://schemas.microsoft.com/office/drawing/2014/main" id="{5BB36CFB-0043-440E-84BD-A9CD6FFF3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876800"/>
            <a:ext cx="5524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EA"/>
          </a:solidFill>
          <a:ln xmlns:a="http://schemas.openxmlformats.org/drawingml/2006/main" w="0">
            <a:solidFill>
              <a:srgbClr val="D7E4E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F4EC457-7240-4EEC-9518-39D5DD93E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781550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57987"/>
                </a:solidFill>
              </a:defRPr>
            </a:pPr>
            <a:r>
              <a:rPr sz="1125" b="1">
                <a:solidFill>
                  <a:srgbClr val="657987"/>
                </a:solidFill>
              </a:rPr>
              <a:t>→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C459F3E-3B93-4863-A304-27B9BC773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7053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063456"/>
                </a:solidFill>
              </a:defRPr>
            </a:pPr>
            <a:r>
              <a:rPr sz="1013" b="1">
                <a:solidFill>
                  <a:srgbClr val="063456"/>
                </a:solidFill>
              </a:rPr>
              <a:t>初筛归类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C7F3F1C-A575-4E66-B325-C8377F230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914900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65" b="1">
                <a:solidFill>
                  <a:srgbClr val="657987"/>
                </a:solidFill>
              </a:defRPr>
            </a:pPr>
            <a:r>
              <a:rPr sz="765" b="1">
                <a:solidFill>
                  <a:srgbClr val="657987"/>
                </a:solidFill>
              </a:rPr>
              <a:t>类型识别与字段抽取</a:t>
            </a:r>
          </a:p>
        </p:txBody>
      </p:sp>
      <p:sp>
        <p:nvSpPr>
          <p:cNvPr id="47" name="path-line">
            <a:extLst xmlns:a="http://schemas.openxmlformats.org/drawingml/2006/main">
              <a:ext uri="{FF2B5EF4-FFF2-40B4-BE49-F238E27FC236}">
                <a16:creationId xmlns:a16="http://schemas.microsoft.com/office/drawing/2014/main" id="{7D4E246F-7286-4921-90EA-6C387B044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876800"/>
            <a:ext cx="5524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EA"/>
          </a:solidFill>
          <a:ln xmlns:a="http://schemas.openxmlformats.org/drawingml/2006/main" w="0">
            <a:solidFill>
              <a:srgbClr val="D7E4EA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D502A46-FC24-43C5-9630-A0F312BD6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781550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57987"/>
                </a:solidFill>
              </a:defRPr>
            </a:pPr>
            <a:r>
              <a:rPr sz="1125" b="1">
                <a:solidFill>
                  <a:srgbClr val="657987"/>
                </a:solidFill>
              </a:rPr>
              <a:t>→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73B0F73-1E4C-4920-ABE7-6D408D85B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7053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063456"/>
                </a:solidFill>
              </a:defRPr>
            </a:pPr>
            <a:r>
              <a:rPr sz="1013" b="1">
                <a:solidFill>
                  <a:srgbClr val="063456"/>
                </a:solidFill>
              </a:rPr>
              <a:t>问题标记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8899A16-349D-4FA7-975F-FACE9EB23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914900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65" b="1">
                <a:solidFill>
                  <a:srgbClr val="657987"/>
                </a:solidFill>
              </a:defRPr>
            </a:pPr>
            <a:r>
              <a:rPr sz="765" b="1">
                <a:solidFill>
                  <a:srgbClr val="657987"/>
                </a:solidFill>
              </a:rPr>
              <a:t>缺失 / 冲突 / 风险</a:t>
            </a:r>
          </a:p>
        </p:txBody>
      </p:sp>
      <p:sp>
        <p:nvSpPr>
          <p:cNvPr id="51" name="path-line">
            <a:extLst xmlns:a="http://schemas.openxmlformats.org/drawingml/2006/main">
              <a:ext uri="{FF2B5EF4-FFF2-40B4-BE49-F238E27FC236}">
                <a16:creationId xmlns:a16="http://schemas.microsoft.com/office/drawing/2014/main" id="{9F8FC18D-442D-4246-BEC9-5F4CBB4C7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876800"/>
            <a:ext cx="5524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EA"/>
          </a:solidFill>
          <a:ln xmlns:a="http://schemas.openxmlformats.org/drawingml/2006/main" w="0">
            <a:solidFill>
              <a:srgbClr val="D7E4EA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DCC8FCD-3616-4AFA-BB2C-E74B8EB1B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781550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57987"/>
                </a:solidFill>
              </a:defRPr>
            </a:pPr>
            <a:r>
              <a:rPr sz="1125" b="1">
                <a:solidFill>
                  <a:srgbClr val="657987"/>
                </a:solidFill>
              </a:rPr>
              <a:t>→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1026842-CC99-478B-958D-C24B6BAA4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7053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063456"/>
                </a:solidFill>
              </a:defRPr>
            </a:pPr>
            <a:r>
              <a:rPr sz="1013" b="1">
                <a:solidFill>
                  <a:srgbClr val="063456"/>
                </a:solidFill>
              </a:rPr>
              <a:t>人工确认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C97FB97-CA24-4C66-A99E-3E35570A3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914900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65" b="1">
                <a:solidFill>
                  <a:srgbClr val="657987"/>
                </a:solidFill>
              </a:defRPr>
            </a:pPr>
            <a:r>
              <a:rPr sz="765" b="1">
                <a:solidFill>
                  <a:srgbClr val="657987"/>
                </a:solidFill>
              </a:rPr>
              <a:t>清单化复核与留痕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9BD9F23-F447-42C9-A479-21C56A5E7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911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3456"/>
                </a:solidFill>
              </a:defRPr>
            </a:pPr>
            <a:r>
              <a:rPr sz="1350" b="1">
                <a:solidFill>
                  <a:srgbClr val="063456"/>
                </a:solidFill>
              </a:rPr>
              <a:t>预期效果</a:t>
            </a:r>
          </a:p>
        </p:txBody>
      </p:sp>
      <p:sp>
        <p:nvSpPr>
          <p:cNvPr id="56" name="outcome-rule">
            <a:extLst xmlns:a="http://schemas.openxmlformats.org/drawingml/2006/main">
              <a:ext uri="{FF2B5EF4-FFF2-40B4-BE49-F238E27FC236}">
                <a16:creationId xmlns:a16="http://schemas.microsoft.com/office/drawing/2014/main" id="{DDC3B70F-77E6-4BDA-B516-E30D0C75A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67375"/>
            <a:ext cx="10020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EA"/>
          </a:solidFill>
          <a:ln xmlns:a="http://schemas.openxmlformats.org/drawingml/2006/main" w="0">
            <a:solidFill>
              <a:srgbClr val="D7E4EA"/>
            </a:solidFill>
            <a:prstDash val="solid"/>
          </a:ln>
        </p:spPr>
      </p:sp>
      <p:sp>
        <p:nvSpPr>
          <p:cNvPr id="57" name="outcome">
            <a:extLst xmlns:a="http://schemas.openxmlformats.org/drawingml/2006/main">
              <a:ext uri="{FF2B5EF4-FFF2-40B4-BE49-F238E27FC236}">
                <a16:creationId xmlns:a16="http://schemas.microsoft.com/office/drawing/2014/main" id="{EB8C87C3-1425-4EC1-9970-01C6D7544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72150"/>
            <a:ext cx="2343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8" name="outcome-accent">
            <a:extLst xmlns:a="http://schemas.openxmlformats.org/drawingml/2006/main">
              <a:ext uri="{FF2B5EF4-FFF2-40B4-BE49-F238E27FC236}">
                <a16:creationId xmlns:a16="http://schemas.microsoft.com/office/drawing/2014/main" id="{16C8A817-5FBA-4681-935F-11CA7FD16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72150"/>
            <a:ext cx="285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 w="0">
            <a:solidFill>
              <a:srgbClr val="00B5CF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FB2EA83-164B-4627-8656-18E448D18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848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63456"/>
                </a:solidFill>
              </a:defRPr>
            </a:pPr>
            <a:r>
              <a:rPr sz="1050" b="1">
                <a:solidFill>
                  <a:srgbClr val="063456"/>
                </a:solidFill>
              </a:rPr>
              <a:t>降低整理成本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A4C099E-509F-44F7-972C-AE69823A6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61150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03" b="1">
                <a:solidFill>
                  <a:srgbClr val="486171"/>
                </a:solidFill>
              </a:defRPr>
            </a:pPr>
            <a:r>
              <a:rPr sz="803" b="1">
                <a:solidFill>
                  <a:srgbClr val="486171"/>
                </a:solidFill>
              </a:rPr>
              <a:t>减少人工翻附件和建目录工作</a:t>
            </a:r>
          </a:p>
        </p:txBody>
      </p:sp>
      <p:sp>
        <p:nvSpPr>
          <p:cNvPr id="61" name="outcome">
            <a:extLst xmlns:a="http://schemas.openxmlformats.org/drawingml/2006/main">
              <a:ext uri="{FF2B5EF4-FFF2-40B4-BE49-F238E27FC236}">
                <a16:creationId xmlns:a16="http://schemas.microsoft.com/office/drawing/2014/main" id="{3BA2F157-2A6D-47FE-88EA-4AB5E3D81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5772150"/>
            <a:ext cx="2343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2" name="outcome-accent">
            <a:extLst xmlns:a="http://schemas.openxmlformats.org/drawingml/2006/main">
              <a:ext uri="{FF2B5EF4-FFF2-40B4-BE49-F238E27FC236}">
                <a16:creationId xmlns:a16="http://schemas.microsoft.com/office/drawing/2014/main" id="{7A978BD2-5A17-4D9D-A078-3119FB2CA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5772150"/>
            <a:ext cx="285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7A22"/>
          </a:solidFill>
          <a:ln xmlns:a="http://schemas.openxmlformats.org/drawingml/2006/main" w="0">
            <a:solidFill>
              <a:srgbClr val="E17A22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F1FC410-A463-49AD-B122-376891309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5848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63456"/>
                </a:solidFill>
              </a:defRPr>
            </a:pPr>
            <a:r>
              <a:rPr sz="1050" b="1">
                <a:solidFill>
                  <a:srgbClr val="063456"/>
                </a:solidFill>
              </a:rPr>
              <a:t>提高初筛一致性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5A00C9D-1E13-4F61-A90D-549C68F82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61150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03" b="1">
                <a:solidFill>
                  <a:srgbClr val="486171"/>
                </a:solidFill>
              </a:defRPr>
            </a:pPr>
            <a:r>
              <a:rPr sz="803" b="1">
                <a:solidFill>
                  <a:srgbClr val="486171"/>
                </a:solidFill>
              </a:rPr>
              <a:t>按规则统一识别缺失和异常</a:t>
            </a:r>
          </a:p>
        </p:txBody>
      </p:sp>
      <p:sp>
        <p:nvSpPr>
          <p:cNvPr id="65" name="outcome">
            <a:extLst xmlns:a="http://schemas.openxmlformats.org/drawingml/2006/main">
              <a:ext uri="{FF2B5EF4-FFF2-40B4-BE49-F238E27FC236}">
                <a16:creationId xmlns:a16="http://schemas.microsoft.com/office/drawing/2014/main" id="{C64178B1-D054-40A5-85D4-1E14CBD27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772150"/>
            <a:ext cx="2343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6" name="outcome-accent">
            <a:extLst xmlns:a="http://schemas.openxmlformats.org/drawingml/2006/main">
              <a:ext uri="{FF2B5EF4-FFF2-40B4-BE49-F238E27FC236}">
                <a16:creationId xmlns:a16="http://schemas.microsoft.com/office/drawing/2014/main" id="{99605FDD-436E-4374-BB48-78CCB77E4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772150"/>
            <a:ext cx="285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2E8B57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CB31DCD-777A-4A6D-894C-5E2AECDCD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848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63456"/>
                </a:solidFill>
              </a:defRPr>
            </a:pPr>
            <a:r>
              <a:rPr sz="1050" b="1">
                <a:solidFill>
                  <a:srgbClr val="063456"/>
                </a:solidFill>
              </a:rPr>
              <a:t>强化证据管理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E1D2136-81B5-4F6E-AB84-912C81E3E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61150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03" b="1">
                <a:solidFill>
                  <a:srgbClr val="486171"/>
                </a:solidFill>
              </a:defRPr>
            </a:pPr>
            <a:r>
              <a:rPr sz="803" b="1">
                <a:solidFill>
                  <a:srgbClr val="486171"/>
                </a:solidFill>
              </a:rPr>
              <a:t>材料、结论、问题可相互追溯</a:t>
            </a:r>
          </a:p>
        </p:txBody>
      </p:sp>
      <p:sp>
        <p:nvSpPr>
          <p:cNvPr id="69" name="outcome">
            <a:extLst xmlns:a="http://schemas.openxmlformats.org/drawingml/2006/main">
              <a:ext uri="{FF2B5EF4-FFF2-40B4-BE49-F238E27FC236}">
                <a16:creationId xmlns:a16="http://schemas.microsoft.com/office/drawing/2014/main" id="{F662B1AC-E31D-44AE-94B0-CA9893CE1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772150"/>
            <a:ext cx="2343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0" name="outcome-accent">
            <a:extLst xmlns:a="http://schemas.openxmlformats.org/drawingml/2006/main">
              <a:ext uri="{FF2B5EF4-FFF2-40B4-BE49-F238E27FC236}">
                <a16:creationId xmlns:a16="http://schemas.microsoft.com/office/drawing/2014/main" id="{9A944ECD-068E-42BB-840E-7293F6BFA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772150"/>
            <a:ext cx="285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 w="0">
            <a:solidFill>
              <a:srgbClr val="00B5CF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17195DC-FC69-49C8-B9B2-859B888B3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848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63456"/>
                </a:solidFill>
              </a:defRPr>
            </a:pPr>
            <a:r>
              <a:rPr sz="1050" b="1">
                <a:solidFill>
                  <a:srgbClr val="063456"/>
                </a:solidFill>
              </a:rPr>
              <a:t>形成能力底座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53EAAAD-F0E6-4E1D-AE88-4D31503DA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61150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03" b="1">
                <a:solidFill>
                  <a:srgbClr val="486171"/>
                </a:solidFill>
              </a:defRPr>
            </a:pPr>
            <a:r>
              <a:rPr sz="803" b="1">
                <a:solidFill>
                  <a:srgbClr val="486171"/>
                </a:solidFill>
              </a:rPr>
              <a:t>支撑更多合规与审计复核场景</a:t>
            </a:r>
          </a:p>
        </p:txBody>
      </p:sp>
    </p:spTree>
    <p:extLst>
      <p:ext uri="{BB962C8B-B14F-4D97-AF65-F5344CB8AC3E}">
        <p14:creationId xmlns:p14="http://schemas.microsoft.com/office/powerpoint/2010/main" val="15183520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2026-06-23T15:07:53.9340000Z</dcterms:created>
  <dcterms:modified xsi:type="dcterms:W3CDTF">2026-06-23T15:07:53.9340000Z</dcterms:modified>
</coreProperties>
</file>