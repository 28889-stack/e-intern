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50229c19e4321" /><Relationship Type="http://schemas.openxmlformats.org/officeDocument/2006/relationships/extended-properties" Target="/docProps/app.xml" Id="R7f4eba66141746b4" /><Relationship Type="http://schemas.openxmlformats.org/officeDocument/2006/relationships/officeDocument" Target="/ppt/presentation.xml" Id="Rc7fe0ccaa5f9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da65e0b6746be"/>
  </p:sldMasterIdLst>
  <p:notesMasterIdLst>
    <p:notesMasterId xmlns:r="http://schemas.openxmlformats.org/officeDocument/2006/relationships" r:id="Rbfc7ab712e414c66"/>
  </p:notesMasterIdLst>
  <p:sldIdLst>
    <p:sldId xmlns:r="http://schemas.openxmlformats.org/officeDocument/2006/relationships" id="256" r:id="R6e0ca40d7d8148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8c1f46e65461e" /><Relationship Type="http://schemas.openxmlformats.org/officeDocument/2006/relationships/slideMaster" Target="/ppt/slideMasters/slideMaster1.xml" Id="R6adda65e0b6746be" /><Relationship Type="http://schemas.openxmlformats.org/officeDocument/2006/relationships/notesMaster" Target="/ppt/notesMasters/notesMaster1.xml" Id="Rbfc7ab712e414c66" /><Relationship Type="http://schemas.openxmlformats.org/officeDocument/2006/relationships/presProps" Target="/ppt/presProps.xml" Id="Ra3bcd3b9b76646a1" /><Relationship Type="http://schemas.openxmlformats.org/officeDocument/2006/relationships/tableStyles" Target="/ppt/tableStyles.xml" Id="R23be03fc675b4d67" /><Relationship Type="http://schemas.openxmlformats.org/officeDocument/2006/relationships/slide" Target="/ppt/slides/slide1.xml" Id="R6e0ca40d7d81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5c0ef24571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3b5c7ae1d543a6" /><Relationship Type="http://schemas.openxmlformats.org/officeDocument/2006/relationships/notesMaster" Target="/ppt/notesMasters/notesMaster1.xml" Id="R669775f9aa4841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09020e2ae46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822dade0d438d" /><Relationship Type="http://schemas.openxmlformats.org/officeDocument/2006/relationships/slideLayout" Target="/ppt/slideLayouts/slideLayout1.xml" Id="R6b31cf97f0b0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1cf97f0b0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f0d5bdd224f1d" /><Relationship Type="http://schemas.openxmlformats.org/officeDocument/2006/relationships/notesSlide" Target="/ppt/notesSlides/notesSlide1.xml" Id="R04d906c15bc049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1F2BD474-B859-4435-A6A5-E6DDD76B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8114E9BF-BEE3-490D-801D-0673922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41B1158-7784-4832-8068-5A1180B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6A609F-7B1D-411D-9FE6-970AFBEF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39C16074-B3D8-4DF5-9647-5CEC4ECD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1BCE2-CB10-49ED-9C9E-FADE5FA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99DD-7816-4D61-A7A0-5708FA8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流程｜系统操作路径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38A84-F14A-47A9-AA68-FB57B251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668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从材料上传到 Excel 导出，形成可复核的操作闭环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EEA33D60-6834-417F-A9B8-F0180910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096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AF1C984F-51E2-4250-8F69-5CCA4AC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096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99540-336C-4789-92D7-B41440A5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095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操作闭环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F7222D-7714-4E1C-8DA6-03C3AFC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57F68-2212-4B8D-86CF-B41EC522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0D921-E89F-45A8-91F3-958A1A6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865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操作流程母稿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EA363603-922F-492C-8E5B-7D74699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1002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D454E47D-E6CA-47D3-8CA4-CB9F79E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5B335-692D-43F0-B2E3-A963879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47825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面向复核人员的核心链路：先批量上传材料，由系统完成识别与结构化，再由人工围绕问题项修改核对，最后回传系统或导出 Excel 留痕。</a:t>
            </a:r>
          </a:p>
        </p:txBody>
      </p:sp>
      <p:sp>
        <p:nvSpPr>
          <p:cNvPr id="18" name="process-card">
            <a:extLst xmlns:a="http://schemas.openxmlformats.org/drawingml/2006/main">
              <a:ext uri="{FF2B5EF4-FFF2-40B4-BE49-F238E27FC236}">
                <a16:creationId xmlns:a16="http://schemas.microsoft.com/office/drawing/2014/main" id="{481745B6-275D-46F3-87C6-F76BBC6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2324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process-top">
            <a:extLst xmlns:a="http://schemas.openxmlformats.org/drawingml/2006/main">
              <a:ext uri="{FF2B5EF4-FFF2-40B4-BE49-F238E27FC236}">
                <a16:creationId xmlns:a16="http://schemas.microsoft.com/office/drawing/2014/main" id="{4DD4D229-9FFB-4ADD-B2D7-297B921E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step-index-bg">
            <a:extLst xmlns:a="http://schemas.openxmlformats.org/drawingml/2006/main">
              <a:ext uri="{FF2B5EF4-FFF2-40B4-BE49-F238E27FC236}">
                <a16:creationId xmlns:a16="http://schemas.microsoft.com/office/drawing/2014/main" id="{C8FC721A-D635-4422-AB04-4533D6A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1BF9B-52CA-46DA-A894-6C0EF75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5CF"/>
                </a:solidFill>
              </a:defRPr>
            </a:pPr>
            <a:r>
              <a:rPr sz="1050" b="1">
                <a:solidFill>
                  <a:srgbClr val="00B5CF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CBC03-1757-45BC-ACB8-206B26B4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43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上传材料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88C80-8435-4B15-87A1-7477E491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28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57987"/>
                </a:solidFill>
              </a:defRPr>
            </a:pPr>
            <a:r>
              <a:rPr sz="960" b="1">
                <a:solidFill>
                  <a:srgbClr val="657987"/>
                </a:solidFill>
              </a:rPr>
              <a:t>批量导入 PDF、图片、截图或压缩包</a:t>
            </a:r>
          </a:p>
        </p:txBody>
      </p:sp>
      <p:sp>
        <p:nvSpPr>
          <p:cNvPr id="24" name="card-rule">
            <a:extLst xmlns:a="http://schemas.openxmlformats.org/drawingml/2006/main">
              <a:ext uri="{FF2B5EF4-FFF2-40B4-BE49-F238E27FC236}">
                <a16:creationId xmlns:a16="http://schemas.microsoft.com/office/drawing/2014/main" id="{9A470D83-6FFB-4F6A-B802-CE2E692A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AD1D68-9E09-4E25-92C4-04FAAF2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95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B5CF"/>
                </a:solidFill>
              </a:defRPr>
            </a:pPr>
            <a:r>
              <a:rPr sz="900" b="1">
                <a:solidFill>
                  <a:srgbClr val="00B5CF"/>
                </a:solidFill>
              </a:rPr>
              <a:t>系统处理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5C0FF-B48B-4DDA-8A16-A3B7788E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文件归档、生成任务编号、记录上传人和时间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879B5-DDC5-4AE4-BFAF-97966F1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B5CF"/>
                </a:solidFill>
              </a:defRPr>
            </a:pPr>
            <a:r>
              <a:rPr sz="900" b="1">
                <a:solidFill>
                  <a:srgbClr val="00B5CF"/>
                </a:solidFill>
              </a:rPr>
              <a:t>人工动作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8C002-7802-4DF8-A04B-6135E52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86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选择申报对象，确认材料范围和补充说明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07C61-649E-4E0A-8E8D-EF5692ED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5CF"/>
                </a:solidFill>
              </a:defRPr>
            </a:pPr>
            <a:r>
              <a:rPr sz="21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0" name="process-card">
            <a:extLst xmlns:a="http://schemas.openxmlformats.org/drawingml/2006/main">
              <a:ext uri="{FF2B5EF4-FFF2-40B4-BE49-F238E27FC236}">
                <a16:creationId xmlns:a16="http://schemas.microsoft.com/office/drawing/2014/main" id="{3AFF5A19-41D1-4CFC-8D73-A9EEAA05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2324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1" name="process-top">
            <a:extLst xmlns:a="http://schemas.openxmlformats.org/drawingml/2006/main">
              <a:ext uri="{FF2B5EF4-FFF2-40B4-BE49-F238E27FC236}">
                <a16:creationId xmlns:a16="http://schemas.microsoft.com/office/drawing/2014/main" id="{E10E9D8C-EB3C-4CD3-A2C1-6DF0DF6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2" name="step-index-bg">
            <a:extLst xmlns:a="http://schemas.openxmlformats.org/drawingml/2006/main">
              <a:ext uri="{FF2B5EF4-FFF2-40B4-BE49-F238E27FC236}">
                <a16:creationId xmlns:a16="http://schemas.microsoft.com/office/drawing/2014/main" id="{AFC4736A-2CA6-454E-9838-58021B8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EEB163-B6B6-4B7D-9119-991987F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2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5CF"/>
                </a:solidFill>
              </a:defRPr>
            </a:pPr>
            <a:r>
              <a:rPr sz="1050" b="1">
                <a:solidFill>
                  <a:srgbClr val="00B5CF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44542-7D4D-4E1E-A11E-B0BFA7F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43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识别抽取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89019-897A-4389-BBC4-54F7482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28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57987"/>
                </a:solidFill>
              </a:defRPr>
            </a:pPr>
            <a:r>
              <a:rPr sz="960" b="1">
                <a:solidFill>
                  <a:srgbClr val="657987"/>
                </a:solidFill>
              </a:rPr>
              <a:t>OCR / PDF / 表格解析后生成候选结果</a:t>
            </a:r>
          </a:p>
        </p:txBody>
      </p:sp>
      <p:sp>
        <p:nvSpPr>
          <p:cNvPr id="36" name="card-rule">
            <a:extLst xmlns:a="http://schemas.openxmlformats.org/drawingml/2006/main">
              <a:ext uri="{FF2B5EF4-FFF2-40B4-BE49-F238E27FC236}">
                <a16:creationId xmlns:a16="http://schemas.microsoft.com/office/drawing/2014/main" id="{AF765B47-206A-4EB1-ADAA-DFA92217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33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F5B185-4BF5-461F-A407-969A72C7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95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B5CF"/>
                </a:solidFill>
              </a:defRPr>
            </a:pPr>
            <a:r>
              <a:rPr sz="900" b="1">
                <a:solidFill>
                  <a:srgbClr val="00B5CF"/>
                </a:solidFill>
              </a:rPr>
              <a:t>系统处理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024D63-DBCC-4F46-B5E0-E21E160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147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识别身份、账户、持仓、交易与证明类材料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16A1F8-DB27-41F9-8DB0-26C5FC1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29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B5CF"/>
                </a:solidFill>
              </a:defRPr>
            </a:pPr>
            <a:r>
              <a:rPr sz="900" b="1">
                <a:solidFill>
                  <a:srgbClr val="00B5CF"/>
                </a:solidFill>
              </a:rPr>
              <a:t>人工动作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C63C3-3D52-4F83-97F5-27E2C1E3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386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查看识别状态，定位失败或需补充的文件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476A96-13FA-49E1-879E-2A386D60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5CF"/>
                </a:solidFill>
              </a:defRPr>
            </a:pPr>
            <a:r>
              <a:rPr sz="21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42" name="process-card">
            <a:extLst xmlns:a="http://schemas.openxmlformats.org/drawingml/2006/main">
              <a:ext uri="{FF2B5EF4-FFF2-40B4-BE49-F238E27FC236}">
                <a16:creationId xmlns:a16="http://schemas.microsoft.com/office/drawing/2014/main" id="{866A2578-05F4-404B-A11E-C33F62DC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2324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3" name="process-top">
            <a:extLst xmlns:a="http://schemas.openxmlformats.org/drawingml/2006/main">
              <a:ext uri="{FF2B5EF4-FFF2-40B4-BE49-F238E27FC236}">
                <a16:creationId xmlns:a16="http://schemas.microsoft.com/office/drawing/2014/main" id="{8E997353-A920-4534-B268-8C63505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4" name="step-index-bg">
            <a:extLst xmlns:a="http://schemas.openxmlformats.org/drawingml/2006/main">
              <a:ext uri="{FF2B5EF4-FFF2-40B4-BE49-F238E27FC236}">
                <a16:creationId xmlns:a16="http://schemas.microsoft.com/office/drawing/2014/main" id="{D350006C-DE17-44E4-BFC0-8481C3DB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6A3FF5-976F-4719-8153-4448FD27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7A22"/>
                </a:solidFill>
              </a:defRPr>
            </a:pPr>
            <a:r>
              <a:rPr sz="1050" b="1">
                <a:solidFill>
                  <a:srgbClr val="E17A22"/>
                </a:solidFill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D7FFFD-2CB3-4DAC-A743-4729301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43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修改核对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742880-E7CE-4FE6-A397-44F5DC0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57987"/>
                </a:solidFill>
              </a:defRPr>
            </a:pPr>
            <a:r>
              <a:rPr sz="960" b="1">
                <a:solidFill>
                  <a:srgbClr val="657987"/>
                </a:solidFill>
              </a:rPr>
              <a:t>围绕合规结论、材料质量和证据链复核</a:t>
            </a:r>
          </a:p>
        </p:txBody>
      </p:sp>
      <p:sp>
        <p:nvSpPr>
          <p:cNvPr id="48" name="card-rule">
            <a:extLst xmlns:a="http://schemas.openxmlformats.org/drawingml/2006/main">
              <a:ext uri="{FF2B5EF4-FFF2-40B4-BE49-F238E27FC236}">
                <a16:creationId xmlns:a16="http://schemas.microsoft.com/office/drawing/2014/main" id="{D85E3E35-B0EF-4C1A-88EC-FB6AD874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3E86BA-6137-49EB-B6B4-2E831115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95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7A22"/>
                </a:solidFill>
              </a:defRPr>
            </a:pPr>
            <a:r>
              <a:rPr sz="900" b="1">
                <a:solidFill>
                  <a:srgbClr val="E17A22"/>
                </a:solidFill>
              </a:rPr>
              <a:t>系统处理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CCEBD5-BFF2-43E0-8DD5-8A2216DA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输出申报合规规则判断，识别材料模糊、缺页或证据不足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0B4ABB-3B0C-428A-AA49-B77D293A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7A22"/>
                </a:solidFill>
              </a:defRPr>
            </a:pPr>
            <a:r>
              <a:rPr sz="900" b="1">
                <a:solidFill>
                  <a:srgbClr val="E17A22"/>
                </a:solidFill>
              </a:rPr>
              <a:t>人工动作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8611ED-54C1-47AB-9AF0-069476E8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人工核对结论与证据，修正字段并确认准确性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AA0102-97B6-42E4-BDED-BAA762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B5CF"/>
                </a:solidFill>
              </a:defRPr>
            </a:pPr>
            <a:r>
              <a:rPr sz="21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54" name="process-card">
            <a:extLst xmlns:a="http://schemas.openxmlformats.org/drawingml/2006/main">
              <a:ext uri="{FF2B5EF4-FFF2-40B4-BE49-F238E27FC236}">
                <a16:creationId xmlns:a16="http://schemas.microsoft.com/office/drawing/2014/main" id="{A0E29E7B-3E9A-46F2-9B62-CBBE27FC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05050"/>
            <a:ext cx="2324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5" name="process-top">
            <a:extLst xmlns:a="http://schemas.openxmlformats.org/drawingml/2006/main">
              <a:ext uri="{FF2B5EF4-FFF2-40B4-BE49-F238E27FC236}">
                <a16:creationId xmlns:a16="http://schemas.microsoft.com/office/drawing/2014/main" id="{603C89DE-CAB7-4844-9F55-6DB6FCE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050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6" name="step-index-bg">
            <a:extLst xmlns:a="http://schemas.openxmlformats.org/drawingml/2006/main">
              <a:ext uri="{FF2B5EF4-FFF2-40B4-BE49-F238E27FC236}">
                <a16:creationId xmlns:a16="http://schemas.microsoft.com/office/drawing/2014/main" id="{9C1E6EE4-CC61-4311-A30B-E5906C9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20DBEE-9AD2-4B49-8049-4326350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2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04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E5E4F4-4F5B-4114-8440-FE84BFE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43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回传 / 导出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65EDBC-051F-4DBC-AC01-916A736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828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57987"/>
                </a:solidFill>
              </a:defRPr>
            </a:pPr>
            <a:r>
              <a:rPr sz="960" b="1">
                <a:solidFill>
                  <a:srgbClr val="657987"/>
                </a:solidFill>
              </a:rPr>
              <a:t>形成最终申报结果和留痕文件</a:t>
            </a:r>
          </a:p>
        </p:txBody>
      </p:sp>
      <p:sp>
        <p:nvSpPr>
          <p:cNvPr id="60" name="card-rule">
            <a:extLst xmlns:a="http://schemas.openxmlformats.org/drawingml/2006/main">
              <a:ext uri="{FF2B5EF4-FFF2-40B4-BE49-F238E27FC236}">
                <a16:creationId xmlns:a16="http://schemas.microsoft.com/office/drawing/2014/main" id="{8270D10E-BB75-4345-B105-BA321DD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7A96A4-B736-40D3-BFBD-1FDF5E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95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8B57"/>
                </a:solidFill>
              </a:defRPr>
            </a:pPr>
            <a:r>
              <a:rPr sz="900" b="1">
                <a:solidFill>
                  <a:srgbClr val="2E8B57"/>
                </a:solidFill>
              </a:rPr>
              <a:t>系统处理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AD854E-61C7-47B3-A022-10F5E5A1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147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生成最终表、完整表、持仓表、核对清单和问题清单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F849FE-9E96-4315-A5D1-473537B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29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8B57"/>
                </a:solidFill>
              </a:defRPr>
            </a:pPr>
            <a:r>
              <a:rPr sz="900" b="1">
                <a:solidFill>
                  <a:srgbClr val="2E8B57"/>
                </a:solidFill>
              </a:rPr>
              <a:t>人工动作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902EAD-96BA-4CB0-8AF0-345F6F1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386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9475B"/>
                </a:solidFill>
              </a:defRPr>
            </a:pPr>
            <a:r>
              <a:rPr sz="915" b="1">
                <a:solidFill>
                  <a:srgbClr val="29475B"/>
                </a:solidFill>
              </a:rPr>
              <a:t>确认后上传系统，或导出 Excel 用于归档与复核</a:t>
            </a:r>
          </a:p>
        </p:txBody>
      </p:sp>
      <p:sp>
        <p:nvSpPr>
          <p:cNvPr id="65" name="output-bar">
            <a:extLst xmlns:a="http://schemas.openxmlformats.org/drawingml/2006/main">
              <a:ext uri="{FF2B5EF4-FFF2-40B4-BE49-F238E27FC236}">
                <a16:creationId xmlns:a16="http://schemas.microsoft.com/office/drawing/2014/main" id="{EA08EC7D-28E4-468D-9F55-B305EF3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1002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6" name="output-accent">
            <a:extLst xmlns:a="http://schemas.openxmlformats.org/drawingml/2006/main">
              <a:ext uri="{FF2B5EF4-FFF2-40B4-BE49-F238E27FC236}">
                <a16:creationId xmlns:a16="http://schemas.microsoft.com/office/drawing/2014/main" id="{DAA3552D-01FF-4613-88B5-5C21FDE2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6F5CFF-E3FD-4BFE-9DC2-790E1D8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911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57"/>
                </a:solidFill>
              </a:defRPr>
            </a:pPr>
            <a:r>
              <a:rPr sz="1125" b="1">
                <a:solidFill>
                  <a:srgbClr val="2E8B57"/>
                </a:solidFill>
              </a:rPr>
              <a:t>最终输出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C4F693-565B-48B5-B284-37DDB711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911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可编辑申报结果  /  可追溯证据链  /  Excel 导出文件  /  系统回传记录</a:t>
            </a:r>
          </a:p>
        </p:txBody>
      </p:sp>
      <p:sp>
        <p:nvSpPr>
          <p:cNvPr id="69" name="note-bg">
            <a:extLst xmlns:a="http://schemas.openxmlformats.org/drawingml/2006/main">
              <a:ext uri="{FF2B5EF4-FFF2-40B4-BE49-F238E27FC236}">
                <a16:creationId xmlns:a16="http://schemas.microsoft.com/office/drawing/2014/main" id="{5082947A-973F-4975-8A6D-0AE8AC5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1002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note-accent">
            <a:extLst xmlns:a="http://schemas.openxmlformats.org/drawingml/2006/main">
              <a:ext uri="{FF2B5EF4-FFF2-40B4-BE49-F238E27FC236}">
                <a16:creationId xmlns:a16="http://schemas.microsoft.com/office/drawing/2014/main" id="{DE63792A-4B95-41DE-B1E7-9BF3CA0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CCED3C-21ED-4BF8-BF9E-9F65417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063456"/>
                </a:solidFill>
              </a:defRPr>
            </a:pPr>
            <a:r>
              <a:rPr sz="1035" b="1">
                <a:solidFill>
                  <a:srgbClr val="063456"/>
                </a:solidFill>
              </a:rPr>
              <a:t>操作原则：系统先把材料整理成可核对结果，人工只处理需要判断和确认的事项。</a:t>
            </a:r>
          </a:p>
        </p:txBody>
      </p:sp>
    </p:spTree>
    <p:extLst>
      <p:ext uri="{BB962C8B-B14F-4D97-AF65-F5344CB8AC3E}">
        <p14:creationId xmlns:p14="http://schemas.microsoft.com/office/powerpoint/2010/main" val="179488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2026-06-23T13:20:02.5130000Z</dcterms:created>
  <dcterms:modified xsi:type="dcterms:W3CDTF">2026-06-23T13:20:02.5130000Z</dcterms:modified>
</coreProperties>
</file>