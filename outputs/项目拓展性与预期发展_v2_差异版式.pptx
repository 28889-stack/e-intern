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b7359fc59b4415f" /><Relationship Type="http://schemas.openxmlformats.org/officeDocument/2006/relationships/extended-properties" Target="/docProps/app.xml" Id="Rca2315b023ea4998" /><Relationship Type="http://schemas.openxmlformats.org/officeDocument/2006/relationships/officeDocument" Target="/ppt/presentation.xml" Id="Rb2f7fec1d66d49f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2cc2dbe6bcd40c7"/>
  </p:sldMasterIdLst>
  <p:notesMasterIdLst>
    <p:notesMasterId xmlns:r="http://schemas.openxmlformats.org/officeDocument/2006/relationships" r:id="Rd7b0bc212f654c4b"/>
  </p:notesMasterIdLst>
  <p:sldIdLst>
    <p:sldId xmlns:r="http://schemas.openxmlformats.org/officeDocument/2006/relationships" id="256" r:id="Raf5db956093d4578"/>
    <p:sldId xmlns:r="http://schemas.openxmlformats.org/officeDocument/2006/relationships" id="257" r:id="Rf1cb7df4aa6b45e0"/>
    <p:sldId xmlns:r="http://schemas.openxmlformats.org/officeDocument/2006/relationships" id="258" r:id="R49cb82b177ec4c7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418fc1f35c54311" /><Relationship Type="http://schemas.openxmlformats.org/officeDocument/2006/relationships/slideMaster" Target="/ppt/slideMasters/slideMaster1.xml" Id="Re2cc2dbe6bcd40c7" /><Relationship Type="http://schemas.openxmlformats.org/officeDocument/2006/relationships/notesMaster" Target="/ppt/notesMasters/notesMaster1.xml" Id="Rd7b0bc212f654c4b" /><Relationship Type="http://schemas.openxmlformats.org/officeDocument/2006/relationships/presProps" Target="/ppt/presProps.xml" Id="R7b60d8c4691040fc" /><Relationship Type="http://schemas.openxmlformats.org/officeDocument/2006/relationships/tableStyles" Target="/ppt/tableStyles.xml" Id="Rf9781ee0470a4e39" /><Relationship Type="http://schemas.openxmlformats.org/officeDocument/2006/relationships/slide" Target="/ppt/slides/slide1.xml" Id="Raf5db956093d4578" /><Relationship Type="http://schemas.openxmlformats.org/officeDocument/2006/relationships/slide" Target="/ppt/slides/slide2.xml" Id="Rf1cb7df4aa6b45e0" /><Relationship Type="http://schemas.openxmlformats.org/officeDocument/2006/relationships/slide" Target="/ppt/slides/slide3.xml" Id="R49cb82b177ec4c7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095ca22217f4bb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98a6ea2953645f9" /><Relationship Type="http://schemas.openxmlformats.org/officeDocument/2006/relationships/notesMaster" Target="/ppt/notesMasters/notesMaster1.xml" Id="R1841bc3afed04c9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9095861a2ce4d80" /><Relationship Type="http://schemas.openxmlformats.org/officeDocument/2006/relationships/notesMaster" Target="/ppt/notesMasters/notesMaster1.xml" Id="R75b1d0bb822640f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efed52895f74bcb" /><Relationship Type="http://schemas.openxmlformats.org/officeDocument/2006/relationships/notesMaster" Target="/ppt/notesMasters/notesMaster1.xml" Id="R3a4205409601424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ba37ab9d3c444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6391d2f48f6438b" /><Relationship Type="http://schemas.openxmlformats.org/officeDocument/2006/relationships/slideLayout" Target="/ppt/slideLayouts/slideLayout1.xml" Id="R6ef3cbe02bff4d2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ef3cbe02bff4d2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abefeba3554d34" /><Relationship Type="http://schemas.openxmlformats.org/officeDocument/2006/relationships/notesSlide" Target="/ppt/notesSlides/notesSlide1.xml" Id="R8a06494285e7494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e6e2304f814d39" /><Relationship Type="http://schemas.openxmlformats.org/officeDocument/2006/relationships/notesSlide" Target="/ppt/notesSlides/notesSlide2.xml" Id="R18d5a5ac18da492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f317a76a994980" /><Relationship Type="http://schemas.openxmlformats.org/officeDocument/2006/relationships/notesSlide" Target="/ppt/notesSlides/notesSlide3.xml" Id="Re6ed7cd79bd243f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r">
            <a:extLst xmlns:a="http://schemas.openxmlformats.org/drawingml/2006/main">
              <a:ext uri="{FF2B5EF4-FFF2-40B4-BE49-F238E27FC236}">
                <a16:creationId xmlns:a16="http://schemas.microsoft.com/office/drawing/2014/main" id="{5D8A23CA-9C66-4014-A364-BE5B736B4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08F"/>
          </a:solidFill>
          <a:ln xmlns:a="http://schemas.openxmlformats.org/drawingml/2006/main" w="0">
            <a:solidFill>
              <a:srgbClr val="00508F"/>
            </a:solidFill>
            <a:prstDash val="solid"/>
          </a:ln>
        </p:spPr>
      </p:sp>
      <p:sp>
        <p:nvSpPr>
          <p:cNvPr id="2" name="left-bg">
            <a:extLst xmlns:a="http://schemas.openxmlformats.org/drawingml/2006/main">
              <a:ext uri="{FF2B5EF4-FFF2-40B4-BE49-F238E27FC236}">
                <a16:creationId xmlns:a16="http://schemas.microsoft.com/office/drawing/2014/main" id="{50484B15-F3DE-49A2-9551-C704936F8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0525"/>
            <a:ext cx="952500" cy="6467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2F6"/>
          </a:solidFill>
          <a:ln xmlns:a="http://schemas.openxmlformats.org/drawingml/2006/main" w="0">
            <a:solidFill>
              <a:srgbClr val="E9F2F6"/>
            </a:solidFill>
            <a:prstDash val="solid"/>
          </a:ln>
        </p:spPr>
      </p:sp>
      <p:sp>
        <p:nvSpPr>
          <p:cNvPr id="3" name="left-accent">
            <a:extLst xmlns:a="http://schemas.openxmlformats.org/drawingml/2006/main">
              <a:ext uri="{FF2B5EF4-FFF2-40B4-BE49-F238E27FC236}">
                <a16:creationId xmlns:a16="http://schemas.microsoft.com/office/drawing/2014/main" id="{041F5BFF-53C8-41AC-AEBD-B27510DAF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"/>
            <a:ext cx="114300" cy="6467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0">
            <a:solidFill>
              <a:srgbClr val="00B5CF"/>
            </a:solidFill>
            <a:prstDash val="solid"/>
          </a:ln>
        </p:spPr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C92F4300-2C62-4014-B0FD-8D955AA6E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962025"/>
            <a:ext cx="10020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0">
            <a:solidFill>
              <a:srgbClr val="00B5CF"/>
            </a:solidFill>
            <a:prstDash val="solid"/>
          </a:ln>
        </p:spPr>
      </p:sp>
      <p:sp>
        <p:nvSpPr>
          <p:cNvPr id="5" name="brand-dot">
            <a:extLst xmlns:a="http://schemas.openxmlformats.org/drawingml/2006/main">
              <a:ext uri="{FF2B5EF4-FFF2-40B4-BE49-F238E27FC236}">
                <a16:creationId xmlns:a16="http://schemas.microsoft.com/office/drawing/2014/main" id="{2C042722-F5D9-49F5-A9A8-3EE915E92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143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0">
            <a:solidFill>
              <a:srgbClr val="00B5C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318368-DA67-480C-8F93-B6CAA87C0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952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E FUND 易方达风格参考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2596A1-B758-4323-B401-1B8BD9003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42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57987"/>
                </a:solidFill>
              </a:defRPr>
            </a:pPr>
            <a:r>
              <a:rPr sz="1200" b="1">
                <a:solidFill>
                  <a:srgbClr val="657987"/>
                </a:solidFill>
              </a:rPr>
              <a:t>拓展一｜材料识别能力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1557EC-EEC7-47FE-A32C-9AEB2B63B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009650"/>
            <a:ext cx="790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63456"/>
                </a:solidFill>
              </a:defRPr>
            </a:pPr>
            <a:r>
              <a:rPr sz="2250" b="1">
                <a:solidFill>
                  <a:srgbClr val="063456"/>
                </a:solidFill>
              </a:rPr>
              <a:t>多来源材料识别能力拓展：泛化能力与识别准确率并重</a:t>
            </a:r>
          </a:p>
        </p:txBody>
      </p:sp>
      <p:sp>
        <p:nvSpPr>
          <p:cNvPr id="9" name="badge-bg">
            <a:extLst xmlns:a="http://schemas.openxmlformats.org/drawingml/2006/main">
              <a:ext uri="{FF2B5EF4-FFF2-40B4-BE49-F238E27FC236}">
                <a16:creationId xmlns:a16="http://schemas.microsoft.com/office/drawing/2014/main" id="{98C608A4-8A0B-4F0C-AA02-67BA2A36F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97155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adge-accent">
            <a:extLst xmlns:a="http://schemas.openxmlformats.org/drawingml/2006/main">
              <a:ext uri="{FF2B5EF4-FFF2-40B4-BE49-F238E27FC236}">
                <a16:creationId xmlns:a16="http://schemas.microsoft.com/office/drawing/2014/main" id="{CB93B83C-F65B-475A-9463-B2965080B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971550"/>
            <a:ext cx="38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7A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23BD1B-4949-48F7-9CD3-1447373E1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066800"/>
            <a:ext cx="1485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E17A22"/>
                </a:solidFill>
              </a:defRPr>
            </a:pPr>
            <a:r>
              <a:rPr sz="1013" b="1">
                <a:solidFill>
                  <a:srgbClr val="E17A22"/>
                </a:solidFill>
              </a:rPr>
              <a:t>多券商 / 复杂材料</a:t>
            </a:r>
          </a:p>
        </p:txBody>
      </p:sp>
      <p:sp>
        <p:nvSpPr>
          <p:cNvPr id="1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72144CCF-F59A-4BE8-A8B8-95C88583A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381750"/>
            <a:ext cx="10020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EA"/>
          </a:solidFill>
          <a:ln xmlns:a="http://schemas.openxmlformats.org/drawingml/2006/main" w="0">
            <a:solidFill>
              <a:srgbClr val="D7E4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D6C41E-DBAA-4626-9D05-0EE2E3ADF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48652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A9AA5"/>
                </a:solidFill>
              </a:defRPr>
            </a:pPr>
            <a:r>
              <a:rPr sz="825" b="1">
                <a:solidFill>
                  <a:srgbClr val="8A9AA5"/>
                </a:solidFill>
              </a:rPr>
              <a:t>易方达基金 · 内部交流，请勿外传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810D07-E0E1-4CBE-8B9F-840521001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86525"/>
            <a:ext cx="154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A9AA5"/>
                </a:solidFill>
              </a:defRPr>
            </a:pPr>
            <a:r>
              <a:rPr sz="825" b="1">
                <a:solidFill>
                  <a:srgbClr val="8A9AA5"/>
                </a:solidFill>
              </a:rPr>
              <a:t>拓展性与预期发展 1/3</a:t>
            </a:r>
          </a:p>
        </p:txBody>
      </p:sp>
      <p:sp>
        <p:nvSpPr>
          <p:cNvPr id="15" name="objective-bg">
            <a:extLst xmlns:a="http://schemas.openxmlformats.org/drawingml/2006/main">
              <a:ext uri="{FF2B5EF4-FFF2-40B4-BE49-F238E27FC236}">
                <a16:creationId xmlns:a16="http://schemas.microsoft.com/office/drawing/2014/main" id="{BDAD5575-7650-4AE9-8B02-454493166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24000"/>
            <a:ext cx="4857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objective-accent">
            <a:extLst xmlns:a="http://schemas.openxmlformats.org/drawingml/2006/main">
              <a:ext uri="{FF2B5EF4-FFF2-40B4-BE49-F238E27FC236}">
                <a16:creationId xmlns:a16="http://schemas.microsoft.com/office/drawing/2014/main" id="{D7934D97-E5AC-46DD-B6EF-9555FEF8A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24000"/>
            <a:ext cx="47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0">
            <a:solidFill>
              <a:srgbClr val="00B5C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6948DA-4372-4EF1-9A3D-5471C556F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6383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5CF"/>
                </a:solidFill>
              </a:defRPr>
            </a:pPr>
            <a:r>
              <a:rPr sz="975" b="1">
                <a:solidFill>
                  <a:srgbClr val="00B5CF"/>
                </a:solidFill>
              </a:rPr>
              <a:t>可拓展内容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B0703D-64F4-497F-ACEF-96CEC1689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866900"/>
            <a:ext cx="451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063456"/>
                </a:solidFill>
              </a:defRPr>
            </a:pPr>
            <a:r>
              <a:rPr sz="885" b="1">
                <a:solidFill>
                  <a:srgbClr val="063456"/>
                </a:solidFill>
              </a:rPr>
              <a:t>增强 Graph RAG，并强化 LLM 与 PDF 解析、OCR、表格抽取结果之间的协同。</a:t>
            </a:r>
          </a:p>
        </p:txBody>
      </p:sp>
      <p:sp>
        <p:nvSpPr>
          <p:cNvPr id="19" name="objective-bg">
            <a:extLst xmlns:a="http://schemas.openxmlformats.org/drawingml/2006/main">
              <a:ext uri="{FF2B5EF4-FFF2-40B4-BE49-F238E27FC236}">
                <a16:creationId xmlns:a16="http://schemas.microsoft.com/office/drawing/2014/main" id="{7AB3EAC9-4684-40EE-B434-27AECD5AA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524000"/>
            <a:ext cx="4857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objective-accent">
            <a:extLst xmlns:a="http://schemas.openxmlformats.org/drawingml/2006/main">
              <a:ext uri="{FF2B5EF4-FFF2-40B4-BE49-F238E27FC236}">
                <a16:creationId xmlns:a16="http://schemas.microsoft.com/office/drawing/2014/main" id="{86FA9414-73AF-499C-8B2B-CA45641AF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524000"/>
            <a:ext cx="47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7A22"/>
          </a:solidFill>
          <a:ln xmlns:a="http://schemas.openxmlformats.org/drawingml/2006/main" w="0">
            <a:solidFill>
              <a:srgbClr val="E17A2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407E63-A347-4260-BD3C-C6C65C30D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383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17A22"/>
                </a:solidFill>
              </a:defRPr>
            </a:pPr>
            <a:r>
              <a:rPr sz="975" b="1">
                <a:solidFill>
                  <a:srgbClr val="E17A22"/>
                </a:solidFill>
              </a:rPr>
              <a:t>拓展目标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28585C-F6E0-4A2B-A506-B967B9CE9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66900"/>
            <a:ext cx="451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063456"/>
                </a:solidFill>
              </a:defRPr>
            </a:pPr>
            <a:r>
              <a:rPr sz="885" b="1">
                <a:solidFill>
                  <a:srgbClr val="063456"/>
                </a:solidFill>
              </a:rPr>
              <a:t>支持更多券商材料接入，同时提升扫描件、截图、多页表格、跨页记录等复杂材料识别准确率。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7BDC8D-9E74-4D2D-8E09-E627F15CC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955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3456"/>
                </a:solidFill>
              </a:defRPr>
            </a:pPr>
            <a:r>
              <a:rPr sz="1350" b="1">
                <a:solidFill>
                  <a:srgbClr val="063456"/>
                </a:solidFill>
              </a:rPr>
              <a:t>主线一：多券商材料泛化</a:t>
            </a:r>
          </a:p>
        </p:txBody>
      </p:sp>
      <p:sp>
        <p:nvSpPr>
          <p:cNvPr id="24" name="track-left">
            <a:extLst xmlns:a="http://schemas.openxmlformats.org/drawingml/2006/main">
              <a:ext uri="{FF2B5EF4-FFF2-40B4-BE49-F238E27FC236}">
                <a16:creationId xmlns:a16="http://schemas.microsoft.com/office/drawing/2014/main" id="{2063F90A-1A90-4ADE-B004-2D8285F0D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00350"/>
            <a:ext cx="47815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25" name="track-left-top">
            <a:extLst xmlns:a="http://schemas.openxmlformats.org/drawingml/2006/main">
              <a:ext uri="{FF2B5EF4-FFF2-40B4-BE49-F238E27FC236}">
                <a16:creationId xmlns:a16="http://schemas.microsoft.com/office/drawing/2014/main" id="{8AEFA984-40A6-42A5-B431-F1470B41F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00350"/>
            <a:ext cx="4781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0">
            <a:solidFill>
              <a:srgbClr val="00B5C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3DCFA9-D616-43FB-8F87-1FAF94E6A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124200"/>
            <a:ext cx="4248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29475B"/>
                </a:solidFill>
              </a:defRPr>
            </a:pPr>
            <a:r>
              <a:rPr sz="915" b="1">
                <a:solidFill>
                  <a:srgbClr val="29475B"/>
                </a:solidFill>
              </a:rPr>
              <a:t>建立多券商字段别名、交易类型表达、表格结构和证据位置关系</a:t>
            </a:r>
          </a:p>
          <a:p xmlns:a="http://schemas.openxmlformats.org/drawingml/2006/main">
            <a:pPr algn="l">
              <a:defRPr sz="915" b="1">
                <a:solidFill>
                  <a:srgbClr val="29475B"/>
                </a:solidFill>
              </a:defRPr>
            </a:pPr>
            <a:r>
              <a:rPr sz="915" b="1">
                <a:solidFill>
                  <a:srgbClr val="29475B"/>
                </a:solidFill>
              </a:rPr>
              <a:t>识别不同券商材料中“不同表达背后的同一业务含义”</a:t>
            </a:r>
          </a:p>
          <a:p xmlns:a="http://schemas.openxmlformats.org/drawingml/2006/main">
            <a:pPr algn="l">
              <a:defRPr sz="915" b="1">
                <a:solidFill>
                  <a:srgbClr val="29475B"/>
                </a:solidFill>
              </a:defRPr>
            </a:pPr>
            <a:r>
              <a:rPr sz="915" b="1">
                <a:solidFill>
                  <a:srgbClr val="29475B"/>
                </a:solidFill>
              </a:rPr>
              <a:t>新券商材料接入时，减少完全依赖人工重新适配</a:t>
            </a:r>
          </a:p>
        </p:txBody>
      </p:sp>
      <p:sp>
        <p:nvSpPr>
          <p:cNvPr id="27" name="track-left-rule">
            <a:extLst xmlns:a="http://schemas.openxmlformats.org/drawingml/2006/main">
              <a:ext uri="{FF2B5EF4-FFF2-40B4-BE49-F238E27FC236}">
                <a16:creationId xmlns:a16="http://schemas.microsoft.com/office/drawing/2014/main" id="{8AE66E9E-3203-4D1F-BC00-A61AD7E82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114800"/>
            <a:ext cx="390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EA"/>
          </a:solidFill>
          <a:ln xmlns:a="http://schemas.openxmlformats.org/drawingml/2006/main" w="0">
            <a:solidFill>
              <a:srgbClr val="D7E4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771D55-BE3E-4D35-A837-438489083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229100"/>
            <a:ext cx="3905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00B5CF"/>
                </a:solidFill>
              </a:defRPr>
            </a:pPr>
            <a:r>
              <a:rPr sz="885" b="1">
                <a:solidFill>
                  <a:srgbClr val="00B5CF"/>
                </a:solidFill>
              </a:rPr>
              <a:t>Graph RAG 解决：券商格式和业务表达不一致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67BDB0-391D-41B0-ACAA-C959CF637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955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3456"/>
                </a:solidFill>
              </a:defRPr>
            </a:pPr>
            <a:r>
              <a:rPr sz="1350" b="1">
                <a:solidFill>
                  <a:srgbClr val="063456"/>
                </a:solidFill>
              </a:rPr>
              <a:t>主线二：解析与模型协同</a:t>
            </a:r>
          </a:p>
        </p:txBody>
      </p:sp>
      <p:sp>
        <p:nvSpPr>
          <p:cNvPr id="30" name="track-right">
            <a:extLst xmlns:a="http://schemas.openxmlformats.org/drawingml/2006/main">
              <a:ext uri="{FF2B5EF4-FFF2-40B4-BE49-F238E27FC236}">
                <a16:creationId xmlns:a16="http://schemas.microsoft.com/office/drawing/2014/main" id="{7F725BDE-72CC-4D96-9AA3-0334DB60F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00350"/>
            <a:ext cx="47815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31" name="track-right-top">
            <a:extLst xmlns:a="http://schemas.openxmlformats.org/drawingml/2006/main">
              <a:ext uri="{FF2B5EF4-FFF2-40B4-BE49-F238E27FC236}">
                <a16:creationId xmlns:a16="http://schemas.microsoft.com/office/drawing/2014/main" id="{AA53B581-6E03-4C35-B967-D3EF6C367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00350"/>
            <a:ext cx="4781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7A22"/>
          </a:solidFill>
          <a:ln xmlns:a="http://schemas.openxmlformats.org/drawingml/2006/main" w="0">
            <a:solidFill>
              <a:srgbClr val="E17A2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D1989AF-C41F-4F19-A550-E4A532DF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124200"/>
            <a:ext cx="4248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29475B"/>
                </a:solidFill>
              </a:defRPr>
            </a:pPr>
            <a:r>
              <a:rPr sz="915" b="1">
                <a:solidFill>
                  <a:srgbClr val="29475B"/>
                </a:solidFill>
              </a:rPr>
              <a:t>PDF 解析、OCR、表格抽取先保留行列结构、页码、区域和上下文</a:t>
            </a:r>
          </a:p>
          <a:p xmlns:a="http://schemas.openxmlformats.org/drawingml/2006/main">
            <a:pPr algn="l">
              <a:defRPr sz="915" b="1">
                <a:solidFill>
                  <a:srgbClr val="29475B"/>
                </a:solidFill>
              </a:defRPr>
            </a:pPr>
            <a:r>
              <a:rPr sz="915" b="1">
                <a:solidFill>
                  <a:srgbClr val="29475B"/>
                </a:solidFill>
              </a:rPr>
              <a:t>LLM 处理整理后的结构化输入，而不是混乱原始文件</a:t>
            </a:r>
          </a:p>
          <a:p xmlns:a="http://schemas.openxmlformats.org/drawingml/2006/main">
            <a:pPr algn="l">
              <a:defRPr sz="915" b="1">
                <a:solidFill>
                  <a:srgbClr val="29475B"/>
                </a:solidFill>
              </a:defRPr>
            </a:pPr>
            <a:r>
              <a:rPr sz="915" b="1">
                <a:solidFill>
                  <a:srgbClr val="29475B"/>
                </a:solidFill>
              </a:rPr>
              <a:t>对低置信 OCR、跨页表格、字段缺失、异常格式进行标记和复核</a:t>
            </a:r>
          </a:p>
        </p:txBody>
      </p:sp>
      <p:sp>
        <p:nvSpPr>
          <p:cNvPr id="33" name="track-right-rule">
            <a:extLst xmlns:a="http://schemas.openxmlformats.org/drawingml/2006/main">
              <a:ext uri="{FF2B5EF4-FFF2-40B4-BE49-F238E27FC236}">
                <a16:creationId xmlns:a16="http://schemas.microsoft.com/office/drawing/2014/main" id="{9A15267D-5BDF-4F82-B6D5-9A7E031CA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114800"/>
            <a:ext cx="390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EA"/>
          </a:solidFill>
          <a:ln xmlns:a="http://schemas.openxmlformats.org/drawingml/2006/main" w="0">
            <a:solidFill>
              <a:srgbClr val="D7E4E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921F950-E386-4BF6-8809-233C739C1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229100"/>
            <a:ext cx="3905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E17A22"/>
                </a:solidFill>
              </a:defRPr>
            </a:pPr>
            <a:r>
              <a:rPr sz="885" b="1">
                <a:solidFill>
                  <a:srgbClr val="E17A22"/>
                </a:solidFill>
              </a:rPr>
              <a:t>解析协同解决：复杂材料输入质量不稳定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79E9157-B9EC-4848-A45C-40DB3DBFF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196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3456"/>
                </a:solidFill>
              </a:defRPr>
            </a:pPr>
            <a:r>
              <a:rPr sz="1350" b="1">
                <a:solidFill>
                  <a:srgbClr val="063456"/>
                </a:solidFill>
              </a:rPr>
              <a:t>目标效果</a:t>
            </a:r>
          </a:p>
        </p:txBody>
      </p:sp>
      <p:sp>
        <p:nvSpPr>
          <p:cNvPr id="36" name="outcome-rule">
            <a:extLst xmlns:a="http://schemas.openxmlformats.org/drawingml/2006/main">
              <a:ext uri="{FF2B5EF4-FFF2-40B4-BE49-F238E27FC236}">
                <a16:creationId xmlns:a16="http://schemas.microsoft.com/office/drawing/2014/main" id="{C97E351E-E63C-423C-94E2-39593AE7D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10020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EA"/>
          </a:solidFill>
          <a:ln xmlns:a="http://schemas.openxmlformats.org/drawingml/2006/main" w="0">
            <a:solidFill>
              <a:srgbClr val="D7E4EA"/>
            </a:solidFill>
            <a:prstDash val="solid"/>
          </a:ln>
        </p:spPr>
      </p:sp>
      <p:sp>
        <p:nvSpPr>
          <p:cNvPr id="37" name="outcome">
            <a:extLst xmlns:a="http://schemas.openxmlformats.org/drawingml/2006/main">
              <a:ext uri="{FF2B5EF4-FFF2-40B4-BE49-F238E27FC236}">
                <a16:creationId xmlns:a16="http://schemas.microsoft.com/office/drawing/2014/main" id="{377CD6B2-4E1C-4652-B044-8D5C26898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19700"/>
            <a:ext cx="2343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8" name="outcome-accent">
            <a:extLst xmlns:a="http://schemas.openxmlformats.org/drawingml/2006/main">
              <a:ext uri="{FF2B5EF4-FFF2-40B4-BE49-F238E27FC236}">
                <a16:creationId xmlns:a16="http://schemas.microsoft.com/office/drawing/2014/main" id="{AFCD40E7-2F4D-4673-826E-062BD7872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19700"/>
            <a:ext cx="285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0">
            <a:solidFill>
              <a:srgbClr val="00B5C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0D718BE-A83D-456C-AC87-70170DA37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295900"/>
            <a:ext cx="2114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63456"/>
                </a:solidFill>
              </a:defRPr>
            </a:pPr>
            <a:r>
              <a:rPr sz="1013" b="1">
                <a:solidFill>
                  <a:srgbClr val="063456"/>
                </a:solidFill>
              </a:rPr>
              <a:t>多券商接入更快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F03C2F3-1394-40F4-8957-1701EE0EC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553075"/>
            <a:ext cx="2114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0" b="1">
                <a:solidFill>
                  <a:srgbClr val="486171"/>
                </a:solidFill>
              </a:defRPr>
            </a:pPr>
            <a:r>
              <a:rPr sz="780" b="1">
                <a:solidFill>
                  <a:srgbClr val="486171"/>
                </a:solidFill>
              </a:rPr>
              <a:t>复用业务语义关系，减少重复适配</a:t>
            </a:r>
          </a:p>
        </p:txBody>
      </p:sp>
      <p:sp>
        <p:nvSpPr>
          <p:cNvPr id="41" name="outcome">
            <a:extLst xmlns:a="http://schemas.openxmlformats.org/drawingml/2006/main">
              <a:ext uri="{FF2B5EF4-FFF2-40B4-BE49-F238E27FC236}">
                <a16:creationId xmlns:a16="http://schemas.microsoft.com/office/drawing/2014/main" id="{7E1B3367-949C-4F5D-B7CC-755DA98F0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5219700"/>
            <a:ext cx="2343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2" name="outcome-accent">
            <a:extLst xmlns:a="http://schemas.openxmlformats.org/drawingml/2006/main">
              <a:ext uri="{FF2B5EF4-FFF2-40B4-BE49-F238E27FC236}">
                <a16:creationId xmlns:a16="http://schemas.microsoft.com/office/drawing/2014/main" id="{47C5C6EC-51EB-4418-9468-16DD9E60B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5219700"/>
            <a:ext cx="285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7A22"/>
          </a:solidFill>
          <a:ln xmlns:a="http://schemas.openxmlformats.org/drawingml/2006/main" w="0">
            <a:solidFill>
              <a:srgbClr val="E17A2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9F190E1-7582-4BA7-A6AA-38EDF0EF7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295900"/>
            <a:ext cx="2114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63456"/>
                </a:solidFill>
              </a:defRPr>
            </a:pPr>
            <a:r>
              <a:rPr sz="1013" b="1">
                <a:solidFill>
                  <a:srgbClr val="063456"/>
                </a:solidFill>
              </a:rPr>
              <a:t>复杂材料识别更准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4DEBEFF-4512-477B-8B75-0E8EB51E8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553075"/>
            <a:ext cx="2114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0" b="1">
                <a:solidFill>
                  <a:srgbClr val="486171"/>
                </a:solidFill>
              </a:defRPr>
            </a:pPr>
            <a:r>
              <a:rPr sz="780" b="1">
                <a:solidFill>
                  <a:srgbClr val="486171"/>
                </a:solidFill>
              </a:rPr>
              <a:t>减少 OCR 错漏、表格错位和跨页丢失</a:t>
            </a:r>
          </a:p>
        </p:txBody>
      </p:sp>
      <p:sp>
        <p:nvSpPr>
          <p:cNvPr id="45" name="outcome">
            <a:extLst xmlns:a="http://schemas.openxmlformats.org/drawingml/2006/main">
              <a:ext uri="{FF2B5EF4-FFF2-40B4-BE49-F238E27FC236}">
                <a16:creationId xmlns:a16="http://schemas.microsoft.com/office/drawing/2014/main" id="{611F543B-C326-4413-8DC8-4FD518372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219700"/>
            <a:ext cx="2343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6" name="outcome-accent">
            <a:extLst xmlns:a="http://schemas.openxmlformats.org/drawingml/2006/main">
              <a:ext uri="{FF2B5EF4-FFF2-40B4-BE49-F238E27FC236}">
                <a16:creationId xmlns:a16="http://schemas.microsoft.com/office/drawing/2014/main" id="{3296A369-8DA8-4171-9EA0-444A5249B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219700"/>
            <a:ext cx="285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2E8B57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C2036B2-BE43-4CFB-B207-309E38B63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295900"/>
            <a:ext cx="2114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63456"/>
                </a:solidFill>
              </a:defRPr>
            </a:pPr>
            <a:r>
              <a:rPr sz="1013" b="1">
                <a:solidFill>
                  <a:srgbClr val="063456"/>
                </a:solidFill>
              </a:rPr>
              <a:t>抽取结果更可追溯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F3710CD-4847-4D91-A4C2-877409865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553075"/>
            <a:ext cx="2114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0" b="1">
                <a:solidFill>
                  <a:srgbClr val="486171"/>
                </a:solidFill>
              </a:defRPr>
            </a:pPr>
            <a:r>
              <a:rPr sz="780" b="1">
                <a:solidFill>
                  <a:srgbClr val="486171"/>
                </a:solidFill>
              </a:rPr>
              <a:t>字段回到页码、区域和原始证据</a:t>
            </a:r>
          </a:p>
        </p:txBody>
      </p:sp>
      <p:sp>
        <p:nvSpPr>
          <p:cNvPr id="49" name="outcome">
            <a:extLst xmlns:a="http://schemas.openxmlformats.org/drawingml/2006/main">
              <a:ext uri="{FF2B5EF4-FFF2-40B4-BE49-F238E27FC236}">
                <a16:creationId xmlns:a16="http://schemas.microsoft.com/office/drawing/2014/main" id="{52A68921-9DD1-410C-94B4-BBA729B91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219700"/>
            <a:ext cx="2343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0" name="outcome-accent">
            <a:extLst xmlns:a="http://schemas.openxmlformats.org/drawingml/2006/main">
              <a:ext uri="{FF2B5EF4-FFF2-40B4-BE49-F238E27FC236}">
                <a16:creationId xmlns:a16="http://schemas.microsoft.com/office/drawing/2014/main" id="{791A5611-3C57-4072-913A-C38BFEB00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219700"/>
            <a:ext cx="285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0">
            <a:solidFill>
              <a:srgbClr val="00B5C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0DF8E11-E16D-4955-A3E8-1E2FAF1D4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295900"/>
            <a:ext cx="2114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63456"/>
                </a:solidFill>
              </a:defRPr>
            </a:pPr>
            <a:r>
              <a:rPr sz="1013" b="1">
                <a:solidFill>
                  <a:srgbClr val="063456"/>
                </a:solidFill>
              </a:rPr>
              <a:t>泛化能力可持续沉淀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64F5207-D1BE-49D4-986A-09CEB8724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553075"/>
            <a:ext cx="2114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0" b="1">
                <a:solidFill>
                  <a:srgbClr val="486171"/>
                </a:solidFill>
              </a:defRPr>
            </a:pPr>
            <a:r>
              <a:rPr sz="780" b="1">
                <a:solidFill>
                  <a:srgbClr val="486171"/>
                </a:solidFill>
              </a:rPr>
              <a:t>新材料反哺图谱和解析策略</a:t>
            </a:r>
          </a:p>
        </p:txBody>
      </p:sp>
    </p:spTree>
    <p:extLst>
      <p:ext uri="{BB962C8B-B14F-4D97-AF65-F5344CB8AC3E}">
        <p14:creationId xmlns:p14="http://schemas.microsoft.com/office/powerpoint/2010/main" val="21029536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r">
            <a:extLst xmlns:a="http://schemas.openxmlformats.org/drawingml/2006/main">
              <a:ext uri="{FF2B5EF4-FFF2-40B4-BE49-F238E27FC236}">
                <a16:creationId xmlns:a16="http://schemas.microsoft.com/office/drawing/2014/main" id="{707EB333-8C0E-4C8E-B870-FAF887520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08F"/>
          </a:solidFill>
          <a:ln xmlns:a="http://schemas.openxmlformats.org/drawingml/2006/main" w="0">
            <a:solidFill>
              <a:srgbClr val="00508F"/>
            </a:solidFill>
            <a:prstDash val="solid"/>
          </a:ln>
        </p:spPr>
      </p:sp>
      <p:sp>
        <p:nvSpPr>
          <p:cNvPr id="2" name="left-bg">
            <a:extLst xmlns:a="http://schemas.openxmlformats.org/drawingml/2006/main">
              <a:ext uri="{FF2B5EF4-FFF2-40B4-BE49-F238E27FC236}">
                <a16:creationId xmlns:a16="http://schemas.microsoft.com/office/drawing/2014/main" id="{06C401BF-4845-42A6-9C38-EC0FF283B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0525"/>
            <a:ext cx="952500" cy="6467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2F6"/>
          </a:solidFill>
          <a:ln xmlns:a="http://schemas.openxmlformats.org/drawingml/2006/main" w="0">
            <a:solidFill>
              <a:srgbClr val="E9F2F6"/>
            </a:solidFill>
            <a:prstDash val="solid"/>
          </a:ln>
        </p:spPr>
      </p:sp>
      <p:sp>
        <p:nvSpPr>
          <p:cNvPr id="3" name="left-accent">
            <a:extLst xmlns:a="http://schemas.openxmlformats.org/drawingml/2006/main">
              <a:ext uri="{FF2B5EF4-FFF2-40B4-BE49-F238E27FC236}">
                <a16:creationId xmlns:a16="http://schemas.microsoft.com/office/drawing/2014/main" id="{36EB94E5-971C-4D89-AEB8-97EF9B64D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"/>
            <a:ext cx="114300" cy="6467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0">
            <a:solidFill>
              <a:srgbClr val="00B5CF"/>
            </a:solidFill>
            <a:prstDash val="solid"/>
          </a:ln>
        </p:spPr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55818F24-1A4F-453F-8D80-E4C9DBE0C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962025"/>
            <a:ext cx="10020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0">
            <a:solidFill>
              <a:srgbClr val="00B5CF"/>
            </a:solidFill>
            <a:prstDash val="solid"/>
          </a:ln>
        </p:spPr>
      </p:sp>
      <p:sp>
        <p:nvSpPr>
          <p:cNvPr id="5" name="brand-dot">
            <a:extLst xmlns:a="http://schemas.openxmlformats.org/drawingml/2006/main">
              <a:ext uri="{FF2B5EF4-FFF2-40B4-BE49-F238E27FC236}">
                <a16:creationId xmlns:a16="http://schemas.microsoft.com/office/drawing/2014/main" id="{F98337BE-3F9F-4804-AA38-414CCE894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143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0">
            <a:solidFill>
              <a:srgbClr val="00B5C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E0EF70-DD06-4035-B7D5-9C2229D11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952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E FUND 易方达风格参考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C54D8B-6319-4875-806E-CA66BBF6A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42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57987"/>
                </a:solidFill>
              </a:defRPr>
            </a:pPr>
            <a:r>
              <a:rPr sz="1200" b="1">
                <a:solidFill>
                  <a:srgbClr val="657987"/>
                </a:solidFill>
              </a:rPr>
              <a:t>拓展二｜规则知识化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B36E47-CE2F-433F-98E3-24E67474E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009650"/>
            <a:ext cx="790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63456"/>
                </a:solidFill>
              </a:defRPr>
            </a:pPr>
            <a:r>
              <a:rPr sz="2250" b="1">
                <a:solidFill>
                  <a:srgbClr val="063456"/>
                </a:solidFill>
              </a:rPr>
              <a:t>合规规则知识化拓展：支撑规则校验与“问小易”问答</a:t>
            </a:r>
          </a:p>
        </p:txBody>
      </p:sp>
      <p:sp>
        <p:nvSpPr>
          <p:cNvPr id="9" name="badge-bg">
            <a:extLst xmlns:a="http://schemas.openxmlformats.org/drawingml/2006/main">
              <a:ext uri="{FF2B5EF4-FFF2-40B4-BE49-F238E27FC236}">
                <a16:creationId xmlns:a16="http://schemas.microsoft.com/office/drawing/2014/main" id="{42EDB978-6869-4E53-A43E-3AB6F9FEF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97155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adge-accent">
            <a:extLst xmlns:a="http://schemas.openxmlformats.org/drawingml/2006/main">
              <a:ext uri="{FF2B5EF4-FFF2-40B4-BE49-F238E27FC236}">
                <a16:creationId xmlns:a16="http://schemas.microsoft.com/office/drawing/2014/main" id="{F2D2E8A3-B3C4-4E95-BBEE-428F4C4D3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971550"/>
            <a:ext cx="38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7A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74EA1C-E0EA-419F-9FFB-8C22E7EE1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066800"/>
            <a:ext cx="1485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E17A22"/>
                </a:solidFill>
              </a:defRPr>
            </a:pPr>
            <a:r>
              <a:rPr sz="1013" b="1">
                <a:solidFill>
                  <a:srgbClr val="E17A22"/>
                </a:solidFill>
              </a:rPr>
              <a:t>知识库技术支撑</a:t>
            </a:r>
          </a:p>
        </p:txBody>
      </p:sp>
      <p:sp>
        <p:nvSpPr>
          <p:cNvPr id="1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A024D4A4-1BF4-4659-9604-688C037B1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381750"/>
            <a:ext cx="10020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EA"/>
          </a:solidFill>
          <a:ln xmlns:a="http://schemas.openxmlformats.org/drawingml/2006/main" w="0">
            <a:solidFill>
              <a:srgbClr val="D7E4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B76D8A-14C6-416B-89FD-5283C86DF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48652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A9AA5"/>
                </a:solidFill>
              </a:defRPr>
            </a:pPr>
            <a:r>
              <a:rPr sz="825" b="1">
                <a:solidFill>
                  <a:srgbClr val="8A9AA5"/>
                </a:solidFill>
              </a:rPr>
              <a:t>易方达基金 · 内部交流，请勿外传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539108-B287-479D-8A3E-440E47AD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86525"/>
            <a:ext cx="154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A9AA5"/>
                </a:solidFill>
              </a:defRPr>
            </a:pPr>
            <a:r>
              <a:rPr sz="825" b="1">
                <a:solidFill>
                  <a:srgbClr val="8A9AA5"/>
                </a:solidFill>
              </a:rPr>
              <a:t>拓展性与预期发展 2/3</a:t>
            </a:r>
          </a:p>
        </p:txBody>
      </p:sp>
      <p:sp>
        <p:nvSpPr>
          <p:cNvPr id="15" name="objective-bg">
            <a:extLst xmlns:a="http://schemas.openxmlformats.org/drawingml/2006/main">
              <a:ext uri="{FF2B5EF4-FFF2-40B4-BE49-F238E27FC236}">
                <a16:creationId xmlns:a16="http://schemas.microsoft.com/office/drawing/2014/main" id="{5A96AF03-6C14-462B-BB3A-6CF7FEE5E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24000"/>
            <a:ext cx="10020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objective-accent">
            <a:extLst xmlns:a="http://schemas.openxmlformats.org/drawingml/2006/main">
              <a:ext uri="{FF2B5EF4-FFF2-40B4-BE49-F238E27FC236}">
                <a16:creationId xmlns:a16="http://schemas.microsoft.com/office/drawing/2014/main" id="{398D3938-E330-4E39-8780-199580352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24000"/>
            <a:ext cx="47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08F"/>
          </a:solidFill>
          <a:ln xmlns:a="http://schemas.openxmlformats.org/drawingml/2006/main" w="0">
            <a:solidFill>
              <a:srgbClr val="00508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6DEAF4-3EEC-4DF3-97A4-B063CA51A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6383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508F"/>
                </a:solidFill>
              </a:defRPr>
            </a:pPr>
            <a:r>
              <a:rPr sz="975" b="1">
                <a:solidFill>
                  <a:srgbClr val="00508F"/>
                </a:solidFill>
              </a:rPr>
              <a:t>可拓展内容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579ED6-7EF0-4BA7-9566-A174264E1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866900"/>
            <a:ext cx="967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063456"/>
                </a:solidFill>
              </a:defRPr>
            </a:pPr>
            <a:r>
              <a:rPr sz="885" b="1">
                <a:solidFill>
                  <a:srgbClr val="063456"/>
                </a:solidFill>
              </a:rPr>
              <a:t>建设可检索、可维护、可追溯的合规知识库，将制度条款、业务口径、材料要求、复核经验和常见问题沉淀为项目可调用的知识资产。</a:t>
            </a:r>
          </a:p>
        </p:txBody>
      </p:sp>
      <p:sp>
        <p:nvSpPr>
          <p:cNvPr id="19" name="goal-left">
            <a:extLst xmlns:a="http://schemas.openxmlformats.org/drawingml/2006/main">
              <a:ext uri="{FF2B5EF4-FFF2-40B4-BE49-F238E27FC236}">
                <a16:creationId xmlns:a16="http://schemas.microsoft.com/office/drawing/2014/main" id="{B0A4713A-7B16-43F8-8A3B-41E30907E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76500"/>
            <a:ext cx="47815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20" name="goal-left-accent">
            <a:extLst xmlns:a="http://schemas.openxmlformats.org/drawingml/2006/main">
              <a:ext uri="{FF2B5EF4-FFF2-40B4-BE49-F238E27FC236}">
                <a16:creationId xmlns:a16="http://schemas.microsoft.com/office/drawing/2014/main" id="{7162A6E0-26C1-4DE4-8B31-5A9DAD151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76500"/>
            <a:ext cx="476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0">
            <a:solidFill>
              <a:srgbClr val="00B5C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D6B1CE-27F9-4AB9-BC6D-CD1A61A70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7051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3456"/>
                </a:solidFill>
              </a:defRPr>
            </a:pPr>
            <a:r>
              <a:rPr sz="1350" b="1">
                <a:solidFill>
                  <a:srgbClr val="063456"/>
                </a:solidFill>
              </a:rPr>
              <a:t>目标一：增强项目中的合规规则校验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D438C6-9AC4-448F-A4D5-7253456BE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105150"/>
            <a:ext cx="4171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7" b="1">
                <a:solidFill>
                  <a:srgbClr val="29475B"/>
                </a:solidFill>
              </a:defRPr>
            </a:pPr>
            <a:r>
              <a:rPr sz="907" b="1">
                <a:solidFill>
                  <a:srgbClr val="29475B"/>
                </a:solidFill>
              </a:rPr>
              <a:t>抽取结果形成后，调用知识库中的制度条款、材料要求和校验口径</a:t>
            </a:r>
          </a:p>
          <a:p xmlns:a="http://schemas.openxmlformats.org/drawingml/2006/main">
            <a:pPr algn="l">
              <a:defRPr sz="907" b="1">
                <a:solidFill>
                  <a:srgbClr val="29475B"/>
                </a:solidFill>
              </a:defRPr>
            </a:pPr>
            <a:r>
              <a:rPr sz="907" b="1">
                <a:solidFill>
                  <a:srgbClr val="29475B"/>
                </a:solidFill>
              </a:rPr>
              <a:t>辅助判断字段缺失、材料支撑不足、交易是否属于申报范围</a:t>
            </a:r>
          </a:p>
          <a:p xmlns:a="http://schemas.openxmlformats.org/drawingml/2006/main">
            <a:pPr algn="l">
              <a:defRPr sz="907" b="1">
                <a:solidFill>
                  <a:srgbClr val="29475B"/>
                </a:solidFill>
              </a:defRPr>
            </a:pPr>
            <a:r>
              <a:rPr sz="907" b="1">
                <a:solidFill>
                  <a:srgbClr val="29475B"/>
                </a:solidFill>
              </a:rPr>
              <a:t>输出规则依据、适用口径和需要人工确认的问题项</a:t>
            </a:r>
          </a:p>
        </p:txBody>
      </p:sp>
      <p:sp>
        <p:nvSpPr>
          <p:cNvPr id="23" name="goal-right">
            <a:extLst xmlns:a="http://schemas.openxmlformats.org/drawingml/2006/main">
              <a:ext uri="{FF2B5EF4-FFF2-40B4-BE49-F238E27FC236}">
                <a16:creationId xmlns:a16="http://schemas.microsoft.com/office/drawing/2014/main" id="{3629101E-3961-4B9E-8114-8466987A1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76500"/>
            <a:ext cx="47815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24" name="goal-right-accent">
            <a:extLst xmlns:a="http://schemas.openxmlformats.org/drawingml/2006/main">
              <a:ext uri="{FF2B5EF4-FFF2-40B4-BE49-F238E27FC236}">
                <a16:creationId xmlns:a16="http://schemas.microsoft.com/office/drawing/2014/main" id="{9C785FC1-E905-4FFF-91BC-49ACEE714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76500"/>
            <a:ext cx="476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7A22"/>
          </a:solidFill>
          <a:ln xmlns:a="http://schemas.openxmlformats.org/drawingml/2006/main" w="0">
            <a:solidFill>
              <a:srgbClr val="E17A2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999B54-4F1F-476D-A29E-715857A57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7051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3456"/>
                </a:solidFill>
              </a:defRPr>
            </a:pPr>
            <a:r>
              <a:rPr sz="1350" b="1">
                <a:solidFill>
                  <a:srgbClr val="063456"/>
                </a:solidFill>
              </a:rPr>
              <a:t>目标二：增强“问小易”的合规问答能力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789536-D8F7-41BB-B6B1-9F7599E4A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105150"/>
            <a:ext cx="4171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7" b="1">
                <a:solidFill>
                  <a:srgbClr val="29475B"/>
                </a:solidFill>
              </a:defRPr>
            </a:pPr>
            <a:r>
              <a:rPr sz="907" b="1">
                <a:solidFill>
                  <a:srgbClr val="29475B"/>
                </a:solidFill>
              </a:rPr>
              <a:t>员工和复核人员可自然语言查询申报范围、材料要求和流程口径</a:t>
            </a:r>
          </a:p>
          <a:p xmlns:a="http://schemas.openxmlformats.org/drawingml/2006/main">
            <a:pPr algn="l">
              <a:defRPr sz="907" b="1">
                <a:solidFill>
                  <a:srgbClr val="29475B"/>
                </a:solidFill>
              </a:defRPr>
            </a:pPr>
            <a:r>
              <a:rPr sz="907" b="1">
                <a:solidFill>
                  <a:srgbClr val="29475B"/>
                </a:solidFill>
              </a:rPr>
              <a:t>回答附带依据来源、适用范围和人工复核提示</a:t>
            </a:r>
          </a:p>
          <a:p xmlns:a="http://schemas.openxmlformats.org/drawingml/2006/main">
            <a:pPr algn="l">
              <a:defRPr sz="907" b="1">
                <a:solidFill>
                  <a:srgbClr val="29475B"/>
                </a:solidFill>
              </a:defRPr>
            </a:pPr>
            <a:r>
              <a:rPr sz="907" b="1">
                <a:solidFill>
                  <a:srgbClr val="29475B"/>
                </a:solidFill>
              </a:rPr>
              <a:t>常见问题和复核经验持续沉淀，形成可维护知识资产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26FFC9-05C2-41D3-A55A-0AAF12CE2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720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3456"/>
                </a:solidFill>
              </a:defRPr>
            </a:pPr>
            <a:r>
              <a:rPr sz="1350" b="1">
                <a:solidFill>
                  <a:srgbClr val="063456"/>
                </a:solidFill>
              </a:rPr>
              <a:t>知识库支撑链路</a:t>
            </a:r>
          </a:p>
        </p:txBody>
      </p:sp>
      <p:sp>
        <p:nvSpPr>
          <p:cNvPr id="28" name="knowledge-band">
            <a:extLst xmlns:a="http://schemas.openxmlformats.org/drawingml/2006/main">
              <a:ext uri="{FF2B5EF4-FFF2-40B4-BE49-F238E27FC236}">
                <a16:creationId xmlns:a16="http://schemas.microsoft.com/office/drawing/2014/main" id="{F31803A6-0957-4A03-83AE-F1F0EB74D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76800"/>
            <a:ext cx="10020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29" name="knowledge-accent">
            <a:extLst xmlns:a="http://schemas.openxmlformats.org/drawingml/2006/main">
              <a:ext uri="{FF2B5EF4-FFF2-40B4-BE49-F238E27FC236}">
                <a16:creationId xmlns:a16="http://schemas.microsoft.com/office/drawing/2014/main" id="{BF66F531-D099-4399-8AD1-17FAFFE50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76800"/>
            <a:ext cx="47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08F"/>
          </a:solidFill>
          <a:ln xmlns:a="http://schemas.openxmlformats.org/drawingml/2006/main" w="0">
            <a:solidFill>
              <a:srgbClr val="00508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D86A03B-1EC0-48C2-A502-C914FC6D0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911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063456"/>
                </a:solidFill>
              </a:defRPr>
            </a:pPr>
            <a:r>
              <a:rPr sz="1013" b="1">
                <a:solidFill>
                  <a:srgbClr val="063456"/>
                </a:solidFill>
              </a:rPr>
              <a:t>制度条款入库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C921233-A776-4911-B2F6-FA23D14D3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00650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0" b="1">
                <a:solidFill>
                  <a:srgbClr val="657987"/>
                </a:solidFill>
              </a:defRPr>
            </a:pPr>
            <a:r>
              <a:rPr sz="780" b="1">
                <a:solidFill>
                  <a:srgbClr val="657987"/>
                </a:solidFill>
              </a:rPr>
              <a:t>制度、口径、材料要求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2056FB4-B05A-4F18-9531-B7E5FBC12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067300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57987"/>
                </a:solidFill>
              </a:defRPr>
            </a:pPr>
            <a:r>
              <a:rPr sz="1125" b="1">
                <a:solidFill>
                  <a:srgbClr val="657987"/>
                </a:solidFill>
              </a:rPr>
              <a:t>→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2564148-A2C1-4E4A-A2DC-5D9914108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9911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063456"/>
                </a:solidFill>
              </a:defRPr>
            </a:pPr>
            <a:r>
              <a:rPr sz="1013" b="1">
                <a:solidFill>
                  <a:srgbClr val="063456"/>
                </a:solidFill>
              </a:rPr>
              <a:t>规则口径结构化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986BE24-8169-4D6B-9BAC-FA1D9AA62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200650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0" b="1">
                <a:solidFill>
                  <a:srgbClr val="657987"/>
                </a:solidFill>
              </a:defRPr>
            </a:pPr>
            <a:r>
              <a:rPr sz="780" b="1">
                <a:solidFill>
                  <a:srgbClr val="657987"/>
                </a:solidFill>
              </a:rPr>
              <a:t>字段、范围、例外情形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6D7395C-02DF-41DD-B2C1-070F52136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067300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57987"/>
                </a:solidFill>
              </a:defRPr>
            </a:pPr>
            <a:r>
              <a:rPr sz="1125" b="1">
                <a:solidFill>
                  <a:srgbClr val="657987"/>
                </a:solidFill>
              </a:rPr>
              <a:t>→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4EE24F9-4C32-4293-80E5-5E57ECC21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9911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063456"/>
                </a:solidFill>
              </a:defRPr>
            </a:pPr>
            <a:r>
              <a:rPr sz="1013" b="1">
                <a:solidFill>
                  <a:srgbClr val="063456"/>
                </a:solidFill>
              </a:rPr>
              <a:t>系统调用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4AE591B-85CF-4023-A254-C124AD834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200650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0" b="1">
                <a:solidFill>
                  <a:srgbClr val="657987"/>
                </a:solidFill>
              </a:defRPr>
            </a:pPr>
            <a:r>
              <a:rPr sz="780" b="1">
                <a:solidFill>
                  <a:srgbClr val="657987"/>
                </a:solidFill>
              </a:rPr>
              <a:t>校验 / 问答 / 复核提示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83659E6-6C8D-499F-979E-2436F75F8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067300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57987"/>
                </a:solidFill>
              </a:defRPr>
            </a:pPr>
            <a:r>
              <a:rPr sz="1125" b="1">
                <a:solidFill>
                  <a:srgbClr val="657987"/>
                </a:solidFill>
              </a:rPr>
              <a:t>→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9D28299-9898-4FF9-BC0F-FA7423082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9911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063456"/>
                </a:solidFill>
              </a:defRPr>
            </a:pPr>
            <a:r>
              <a:rPr sz="1013" b="1">
                <a:solidFill>
                  <a:srgbClr val="063456"/>
                </a:solidFill>
              </a:rPr>
              <a:t>依据留痕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DD22958-1424-4BF3-B1FF-AF1DF8E66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200650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0" b="1">
                <a:solidFill>
                  <a:srgbClr val="657987"/>
                </a:solidFill>
              </a:defRPr>
            </a:pPr>
            <a:r>
              <a:rPr sz="780" b="1">
                <a:solidFill>
                  <a:srgbClr val="657987"/>
                </a:solidFill>
              </a:rPr>
              <a:t>来源、版本、适用范围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E734AFF-B0A5-4CC4-B640-6790ED9C6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72150"/>
            <a:ext cx="10020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063456"/>
                </a:solidFill>
              </a:defRPr>
            </a:pPr>
            <a:r>
              <a:rPr sz="990" b="1">
                <a:solidFill>
                  <a:srgbClr val="063456"/>
                </a:solidFill>
              </a:rPr>
              <a:t>关键表达：知识库不是展示型文档库，而是将制度、口径和复核经验转化为系统可检索、可引用、可追溯的合规知识能力。</a:t>
            </a:r>
          </a:p>
        </p:txBody>
      </p:sp>
    </p:spTree>
    <p:extLst>
      <p:ext uri="{BB962C8B-B14F-4D97-AF65-F5344CB8AC3E}">
        <p14:creationId xmlns:p14="http://schemas.microsoft.com/office/powerpoint/2010/main" val="9963347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r">
            <a:extLst xmlns:a="http://schemas.openxmlformats.org/drawingml/2006/main">
              <a:ext uri="{FF2B5EF4-FFF2-40B4-BE49-F238E27FC236}">
                <a16:creationId xmlns:a16="http://schemas.microsoft.com/office/drawing/2014/main" id="{2D2CF9FA-7FDA-4779-BA67-109A7BF46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08F"/>
          </a:solidFill>
          <a:ln xmlns:a="http://schemas.openxmlformats.org/drawingml/2006/main" w="0">
            <a:solidFill>
              <a:srgbClr val="00508F"/>
            </a:solidFill>
            <a:prstDash val="solid"/>
          </a:ln>
        </p:spPr>
      </p:sp>
      <p:sp>
        <p:nvSpPr>
          <p:cNvPr id="2" name="left-bg">
            <a:extLst xmlns:a="http://schemas.openxmlformats.org/drawingml/2006/main">
              <a:ext uri="{FF2B5EF4-FFF2-40B4-BE49-F238E27FC236}">
                <a16:creationId xmlns:a16="http://schemas.microsoft.com/office/drawing/2014/main" id="{48065F82-3658-4FDE-949F-97C80956F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0525"/>
            <a:ext cx="952500" cy="6467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2F6"/>
          </a:solidFill>
          <a:ln xmlns:a="http://schemas.openxmlformats.org/drawingml/2006/main" w="0">
            <a:solidFill>
              <a:srgbClr val="E9F2F6"/>
            </a:solidFill>
            <a:prstDash val="solid"/>
          </a:ln>
        </p:spPr>
      </p:sp>
      <p:sp>
        <p:nvSpPr>
          <p:cNvPr id="3" name="left-accent">
            <a:extLst xmlns:a="http://schemas.openxmlformats.org/drawingml/2006/main">
              <a:ext uri="{FF2B5EF4-FFF2-40B4-BE49-F238E27FC236}">
                <a16:creationId xmlns:a16="http://schemas.microsoft.com/office/drawing/2014/main" id="{AEC2A04A-1D37-4EC0-A1E5-C332755CC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"/>
            <a:ext cx="114300" cy="6467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0">
            <a:solidFill>
              <a:srgbClr val="00B5CF"/>
            </a:solidFill>
            <a:prstDash val="solid"/>
          </a:ln>
        </p:spPr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74B68EFF-9D73-4FE5-A9B2-C276D79E5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962025"/>
            <a:ext cx="10020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0">
            <a:solidFill>
              <a:srgbClr val="00B5CF"/>
            </a:solidFill>
            <a:prstDash val="solid"/>
          </a:ln>
        </p:spPr>
      </p:sp>
      <p:sp>
        <p:nvSpPr>
          <p:cNvPr id="5" name="brand-dot">
            <a:extLst xmlns:a="http://schemas.openxmlformats.org/drawingml/2006/main">
              <a:ext uri="{FF2B5EF4-FFF2-40B4-BE49-F238E27FC236}">
                <a16:creationId xmlns:a16="http://schemas.microsoft.com/office/drawing/2014/main" id="{E570D4F6-CE41-4226-BF89-FDF1BFB5B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143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0">
            <a:solidFill>
              <a:srgbClr val="00B5C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8FF7D5-9AFB-4A92-8E73-F7A0C2505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952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E FUND 易方达风格参考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E42722-DDB8-4292-8A11-2F4AD8BD2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42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57987"/>
                </a:solidFill>
              </a:defRPr>
            </a:pPr>
            <a:r>
              <a:rPr sz="1200" b="1">
                <a:solidFill>
                  <a:srgbClr val="657987"/>
                </a:solidFill>
              </a:rPr>
              <a:t>拓展三｜复核场景迁移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704CEE-CA7B-4351-9084-BBC3EAE99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009650"/>
            <a:ext cx="790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63456"/>
                </a:solidFill>
              </a:defRPr>
            </a:pPr>
            <a:r>
              <a:rPr sz="2250" b="1">
                <a:solidFill>
                  <a:srgbClr val="063456"/>
                </a:solidFill>
              </a:rPr>
              <a:t>合规材料复核场景拓展：面向内控与审计材料的初筛归类</a:t>
            </a:r>
          </a:p>
        </p:txBody>
      </p:sp>
      <p:sp>
        <p:nvSpPr>
          <p:cNvPr id="9" name="badge-bg">
            <a:extLst xmlns:a="http://schemas.openxmlformats.org/drawingml/2006/main">
              <a:ext uri="{FF2B5EF4-FFF2-40B4-BE49-F238E27FC236}">
                <a16:creationId xmlns:a16="http://schemas.microsoft.com/office/drawing/2014/main" id="{4C1B2D31-4B43-457F-ADB8-E5A2F8A1A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97155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adge-accent">
            <a:extLst xmlns:a="http://schemas.openxmlformats.org/drawingml/2006/main">
              <a:ext uri="{FF2B5EF4-FFF2-40B4-BE49-F238E27FC236}">
                <a16:creationId xmlns:a16="http://schemas.microsoft.com/office/drawing/2014/main" id="{ED40ABFA-B42E-4082-A481-CCBB78E96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971550"/>
            <a:ext cx="38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7A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062A3F-1247-4150-A16A-0B073D4D2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066800"/>
            <a:ext cx="1485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E17A22"/>
                </a:solidFill>
              </a:defRPr>
            </a:pPr>
            <a:r>
              <a:rPr sz="1013" b="1">
                <a:solidFill>
                  <a:srgbClr val="E17A22"/>
                </a:solidFill>
              </a:rPr>
              <a:t>场景范围拓展</a:t>
            </a:r>
          </a:p>
        </p:txBody>
      </p:sp>
      <p:sp>
        <p:nvSpPr>
          <p:cNvPr id="1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377B917E-9EA3-4479-A3F2-D145EA813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381750"/>
            <a:ext cx="10020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EA"/>
          </a:solidFill>
          <a:ln xmlns:a="http://schemas.openxmlformats.org/drawingml/2006/main" w="0">
            <a:solidFill>
              <a:srgbClr val="D7E4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78BC88-8012-4435-A49A-4BA8E341F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48652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A9AA5"/>
                </a:solidFill>
              </a:defRPr>
            </a:pPr>
            <a:r>
              <a:rPr sz="825" b="1">
                <a:solidFill>
                  <a:srgbClr val="8A9AA5"/>
                </a:solidFill>
              </a:rPr>
              <a:t>易方达基金 · 内部交流，请勿外传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5FF7C6-50B5-4092-A716-60099771B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86525"/>
            <a:ext cx="154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A9AA5"/>
                </a:solidFill>
              </a:defRPr>
            </a:pPr>
            <a:r>
              <a:rPr sz="825" b="1">
                <a:solidFill>
                  <a:srgbClr val="8A9AA5"/>
                </a:solidFill>
              </a:rPr>
              <a:t>拓展性与预期发展 3/3</a:t>
            </a:r>
          </a:p>
        </p:txBody>
      </p:sp>
      <p:sp>
        <p:nvSpPr>
          <p:cNvPr id="15" name="objective-bg">
            <a:extLst xmlns:a="http://schemas.openxmlformats.org/drawingml/2006/main">
              <a:ext uri="{FF2B5EF4-FFF2-40B4-BE49-F238E27FC236}">
                <a16:creationId xmlns:a16="http://schemas.microsoft.com/office/drawing/2014/main" id="{9D1CE9BE-B0A1-4466-8AB0-57433E937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24000"/>
            <a:ext cx="4857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objective-accent">
            <a:extLst xmlns:a="http://schemas.openxmlformats.org/drawingml/2006/main">
              <a:ext uri="{FF2B5EF4-FFF2-40B4-BE49-F238E27FC236}">
                <a16:creationId xmlns:a16="http://schemas.microsoft.com/office/drawing/2014/main" id="{31F7EA8A-D432-4CFA-9277-5FC733B3C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24000"/>
            <a:ext cx="47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0">
            <a:solidFill>
              <a:srgbClr val="00B5C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D5D36C-BB6E-46C3-8193-2BF66DD6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6383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5CF"/>
                </a:solidFill>
              </a:defRPr>
            </a:pPr>
            <a:r>
              <a:rPr sz="975" b="1">
                <a:solidFill>
                  <a:srgbClr val="00B5CF"/>
                </a:solidFill>
              </a:rPr>
              <a:t>可拓展内容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45C6DB-B44E-475A-B5BC-1DAA77A23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866900"/>
            <a:ext cx="451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063456"/>
                </a:solidFill>
              </a:defRPr>
            </a:pPr>
            <a:r>
              <a:rPr sz="885" b="1">
                <a:solidFill>
                  <a:srgbClr val="063456"/>
                </a:solidFill>
              </a:rPr>
              <a:t>将“材料理解 + 规则判断 + 证据链管理”能力迁移到内控检查、审计支持、稽核材料整理等复核环节。</a:t>
            </a:r>
          </a:p>
        </p:txBody>
      </p:sp>
      <p:sp>
        <p:nvSpPr>
          <p:cNvPr id="19" name="objective-bg">
            <a:extLst xmlns:a="http://schemas.openxmlformats.org/drawingml/2006/main">
              <a:ext uri="{FF2B5EF4-FFF2-40B4-BE49-F238E27FC236}">
                <a16:creationId xmlns:a16="http://schemas.microsoft.com/office/drawing/2014/main" id="{505C83FA-EC20-48A0-91E4-B8CC1FB1E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524000"/>
            <a:ext cx="4857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objective-accent">
            <a:extLst xmlns:a="http://schemas.openxmlformats.org/drawingml/2006/main">
              <a:ext uri="{FF2B5EF4-FFF2-40B4-BE49-F238E27FC236}">
                <a16:creationId xmlns:a16="http://schemas.microsoft.com/office/drawing/2014/main" id="{31E4C645-2205-498A-9F5C-108537C64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524000"/>
            <a:ext cx="47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7A22"/>
          </a:solidFill>
          <a:ln xmlns:a="http://schemas.openxmlformats.org/drawingml/2006/main" w="0">
            <a:solidFill>
              <a:srgbClr val="E17A2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879950-3C16-44A5-9F2E-7C55EBEBA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383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17A22"/>
                </a:solidFill>
              </a:defRPr>
            </a:pPr>
            <a:r>
              <a:rPr sz="975" b="1">
                <a:solidFill>
                  <a:srgbClr val="E17A22"/>
                </a:solidFill>
              </a:rPr>
              <a:t>拓展目标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6C5B7D-2831-476A-8C1D-4DD8BD688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66900"/>
            <a:ext cx="451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063456"/>
                </a:solidFill>
              </a:defRPr>
            </a:pPr>
            <a:r>
              <a:rPr sz="885" b="1">
                <a:solidFill>
                  <a:srgbClr val="063456"/>
                </a:solidFill>
              </a:rPr>
              <a:t>提前完成材料整理、风险提示和证据定位，减少人工查找、归类、比对的重复工作；最终判断仍由人工完成。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5F5C78-94BC-4B73-B9D3-EC0A6241F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336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3456"/>
                </a:solidFill>
              </a:defRPr>
            </a:pPr>
            <a:r>
              <a:rPr sz="1350" b="1">
                <a:solidFill>
                  <a:srgbClr val="063456"/>
                </a:solidFill>
              </a:rPr>
              <a:t>场景迁移流程</a:t>
            </a:r>
          </a:p>
        </p:txBody>
      </p:sp>
      <p:sp>
        <p:nvSpPr>
          <p:cNvPr id="24" name="scenario-step">
            <a:extLst xmlns:a="http://schemas.openxmlformats.org/drawingml/2006/main">
              <a:ext uri="{FF2B5EF4-FFF2-40B4-BE49-F238E27FC236}">
                <a16:creationId xmlns:a16="http://schemas.microsoft.com/office/drawing/2014/main" id="{32080324-4FBF-4DA6-BBBB-BBC1741B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95600"/>
            <a:ext cx="22669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25" name="step-top">
            <a:extLst xmlns:a="http://schemas.openxmlformats.org/drawingml/2006/main">
              <a:ext uri="{FF2B5EF4-FFF2-40B4-BE49-F238E27FC236}">
                <a16:creationId xmlns:a16="http://schemas.microsoft.com/office/drawing/2014/main" id="{D2D0F863-C83E-43BA-8EBF-39BBE1F68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95600"/>
            <a:ext cx="2266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0">
            <a:solidFill>
              <a:srgbClr val="00B5C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62E7FE-49E5-4AA0-8FEC-F8914DA8E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1242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63456"/>
                </a:solidFill>
              </a:defRPr>
            </a:pPr>
            <a:r>
              <a:rPr sz="1275" b="1">
                <a:solidFill>
                  <a:srgbClr val="063456"/>
                </a:solidFill>
              </a:rPr>
              <a:t>材料接入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7E4244-B1BC-4ECD-B817-BA3C9C8F9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86150"/>
            <a:ext cx="1885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486171"/>
                </a:solidFill>
              </a:defRPr>
            </a:pPr>
            <a:r>
              <a:rPr sz="840" b="1">
                <a:solidFill>
                  <a:srgbClr val="486171"/>
                </a:solidFill>
              </a:rPr>
              <a:t>制度 / 附件 / 底稿</a:t>
            </a:r>
          </a:p>
          <a:p xmlns:a="http://schemas.openxmlformats.org/drawingml/2006/main">
            <a:pPr algn="ctr">
              <a:defRPr sz="840" b="1">
                <a:solidFill>
                  <a:srgbClr val="486171"/>
                </a:solidFill>
              </a:defRPr>
            </a:pPr>
            <a:r>
              <a:rPr sz="840" b="1">
                <a:solidFill>
                  <a:srgbClr val="486171"/>
                </a:solidFill>
              </a:rPr>
              <a:t>按项目和流程进入系统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67325B-2EE6-41C0-84A3-2D4A6F539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35280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57987"/>
                </a:solidFill>
              </a:defRPr>
            </a:pPr>
            <a:r>
              <a:rPr sz="1350" b="1">
                <a:solidFill>
                  <a:srgbClr val="657987"/>
                </a:solidFill>
              </a:rPr>
              <a:t>→</a:t>
            </a:r>
          </a:p>
        </p:txBody>
      </p:sp>
      <p:sp>
        <p:nvSpPr>
          <p:cNvPr id="29" name="scenario-step">
            <a:extLst xmlns:a="http://schemas.openxmlformats.org/drawingml/2006/main">
              <a:ext uri="{FF2B5EF4-FFF2-40B4-BE49-F238E27FC236}">
                <a16:creationId xmlns:a16="http://schemas.microsoft.com/office/drawing/2014/main" id="{F2442921-2A3E-4BC3-B6E0-C4732F156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895600"/>
            <a:ext cx="22669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30" name="step-top">
            <a:extLst xmlns:a="http://schemas.openxmlformats.org/drawingml/2006/main">
              <a:ext uri="{FF2B5EF4-FFF2-40B4-BE49-F238E27FC236}">
                <a16:creationId xmlns:a16="http://schemas.microsoft.com/office/drawing/2014/main" id="{236D5775-2F25-4020-834E-0CF9C625B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895600"/>
            <a:ext cx="2266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7A22"/>
          </a:solidFill>
          <a:ln xmlns:a="http://schemas.openxmlformats.org/drawingml/2006/main" w="0">
            <a:solidFill>
              <a:srgbClr val="E17A2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9880341-7A3E-47D1-A2F9-478CFE5CB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1242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63456"/>
                </a:solidFill>
              </a:defRPr>
            </a:pPr>
            <a:r>
              <a:rPr sz="1275" b="1">
                <a:solidFill>
                  <a:srgbClr val="063456"/>
                </a:solidFill>
              </a:rPr>
              <a:t>内控初筛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66B3A5D-B0C6-4A6C-A1B3-1BA2309E3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486150"/>
            <a:ext cx="1885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486171"/>
                </a:solidFill>
              </a:defRPr>
            </a:pPr>
            <a:r>
              <a:rPr sz="840" b="1">
                <a:solidFill>
                  <a:srgbClr val="486171"/>
                </a:solidFill>
              </a:rPr>
              <a:t>识别材料类型和关键字段</a:t>
            </a:r>
          </a:p>
          <a:p xmlns:a="http://schemas.openxmlformats.org/drawingml/2006/main">
            <a:pPr algn="ctr">
              <a:defRPr sz="840" b="1">
                <a:solidFill>
                  <a:srgbClr val="486171"/>
                </a:solidFill>
              </a:defRPr>
            </a:pPr>
            <a:r>
              <a:rPr sz="840" b="1">
                <a:solidFill>
                  <a:srgbClr val="486171"/>
                </a:solidFill>
              </a:rPr>
              <a:t>提示缺失、版本、签章异常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AE1B2B5-C4AD-4431-9FD3-7B2A04537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35280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57987"/>
                </a:solidFill>
              </a:defRPr>
            </a:pPr>
            <a:r>
              <a:rPr sz="1350" b="1">
                <a:solidFill>
                  <a:srgbClr val="657987"/>
                </a:solidFill>
              </a:rPr>
              <a:t>→</a:t>
            </a:r>
          </a:p>
        </p:txBody>
      </p:sp>
      <p:sp>
        <p:nvSpPr>
          <p:cNvPr id="34" name="scenario-step">
            <a:extLst xmlns:a="http://schemas.openxmlformats.org/drawingml/2006/main">
              <a:ext uri="{FF2B5EF4-FFF2-40B4-BE49-F238E27FC236}">
                <a16:creationId xmlns:a16="http://schemas.microsoft.com/office/drawing/2014/main" id="{50AF44FC-E0A9-4C12-963D-78C4DBFB3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95600"/>
            <a:ext cx="22669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35" name="step-top">
            <a:extLst xmlns:a="http://schemas.openxmlformats.org/drawingml/2006/main">
              <a:ext uri="{FF2B5EF4-FFF2-40B4-BE49-F238E27FC236}">
                <a16:creationId xmlns:a16="http://schemas.microsoft.com/office/drawing/2014/main" id="{9D4F59CA-B649-455A-99AB-C461800C1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95600"/>
            <a:ext cx="2266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2E8B5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57F83B9-3ED7-48AF-B27D-21A683245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1242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63456"/>
                </a:solidFill>
              </a:defRPr>
            </a:pPr>
            <a:r>
              <a:rPr sz="1275" b="1">
                <a:solidFill>
                  <a:srgbClr val="063456"/>
                </a:solidFill>
              </a:rPr>
              <a:t>审计归类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C604A72-7024-4B4B-A9C1-FC42E08F3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486150"/>
            <a:ext cx="1885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486171"/>
                </a:solidFill>
              </a:defRPr>
            </a:pPr>
            <a:r>
              <a:rPr sz="840" b="1">
                <a:solidFill>
                  <a:srgbClr val="486171"/>
                </a:solidFill>
              </a:rPr>
              <a:t>按期间、机构、业务类型归档</a:t>
            </a:r>
          </a:p>
          <a:p xmlns:a="http://schemas.openxmlformats.org/drawingml/2006/main">
            <a:pPr algn="ctr">
              <a:defRPr sz="840" b="1">
                <a:solidFill>
                  <a:srgbClr val="486171"/>
                </a:solidFill>
              </a:defRPr>
            </a:pPr>
            <a:r>
              <a:rPr sz="840" b="1">
                <a:solidFill>
                  <a:srgbClr val="486171"/>
                </a:solidFill>
              </a:rPr>
              <a:t>抽取事实和证据位置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752F61D-B52A-4305-A4CB-CB6BC76AF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35280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57987"/>
                </a:solidFill>
              </a:defRPr>
            </a:pPr>
            <a:r>
              <a:rPr sz="1350" b="1">
                <a:solidFill>
                  <a:srgbClr val="657987"/>
                </a:solidFill>
              </a:rPr>
              <a:t>→</a:t>
            </a:r>
          </a:p>
        </p:txBody>
      </p:sp>
      <p:sp>
        <p:nvSpPr>
          <p:cNvPr id="39" name="scenario-step">
            <a:extLst xmlns:a="http://schemas.openxmlformats.org/drawingml/2006/main">
              <a:ext uri="{FF2B5EF4-FFF2-40B4-BE49-F238E27FC236}">
                <a16:creationId xmlns:a16="http://schemas.microsoft.com/office/drawing/2014/main" id="{52C3A21C-16EF-4AA1-AB68-549E0BEEB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895600"/>
            <a:ext cx="22669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40" name="step-top">
            <a:extLst xmlns:a="http://schemas.openxmlformats.org/drawingml/2006/main">
              <a:ext uri="{FF2B5EF4-FFF2-40B4-BE49-F238E27FC236}">
                <a16:creationId xmlns:a16="http://schemas.microsoft.com/office/drawing/2014/main" id="{1C841B62-2DC3-4886-82BE-1C0467491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895600"/>
            <a:ext cx="2266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08F"/>
          </a:solidFill>
          <a:ln xmlns:a="http://schemas.openxmlformats.org/drawingml/2006/main" w="0">
            <a:solidFill>
              <a:srgbClr val="00508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5D00167-8A89-40C2-8520-37AD81234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1242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63456"/>
                </a:solidFill>
              </a:defRPr>
            </a:pPr>
            <a:r>
              <a:rPr sz="1275" b="1">
                <a:solidFill>
                  <a:srgbClr val="063456"/>
                </a:solidFill>
              </a:rPr>
              <a:t>人工确认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EF25520-43C9-4DA3-8985-E496768BE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486150"/>
            <a:ext cx="1885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486171"/>
                </a:solidFill>
              </a:defRPr>
            </a:pPr>
            <a:r>
              <a:rPr sz="840" b="1">
                <a:solidFill>
                  <a:srgbClr val="486171"/>
                </a:solidFill>
              </a:rPr>
              <a:t>高风险和冲突事项入清单</a:t>
            </a:r>
          </a:p>
          <a:p xmlns:a="http://schemas.openxmlformats.org/drawingml/2006/main">
            <a:pPr algn="ctr">
              <a:defRPr sz="840" b="1">
                <a:solidFill>
                  <a:srgbClr val="486171"/>
                </a:solidFill>
              </a:defRPr>
            </a:pPr>
            <a:r>
              <a:rPr sz="840" b="1">
                <a:solidFill>
                  <a:srgbClr val="486171"/>
                </a:solidFill>
              </a:rPr>
              <a:t>复核结论反向沉淀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790D112-CB4D-407C-A1CC-BB2726889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958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3456"/>
                </a:solidFill>
              </a:defRPr>
            </a:pPr>
            <a:r>
              <a:rPr sz="1350" b="1">
                <a:solidFill>
                  <a:srgbClr val="063456"/>
                </a:solidFill>
              </a:rPr>
              <a:t>适用边界</a:t>
            </a:r>
          </a:p>
        </p:txBody>
      </p:sp>
      <p:sp>
        <p:nvSpPr>
          <p:cNvPr id="44" name="boundary">
            <a:extLst xmlns:a="http://schemas.openxmlformats.org/drawingml/2006/main">
              <a:ext uri="{FF2B5EF4-FFF2-40B4-BE49-F238E27FC236}">
                <a16:creationId xmlns:a16="http://schemas.microsoft.com/office/drawing/2014/main" id="{B3C4565B-4078-4CC4-B204-8BBAAAD68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00600"/>
            <a:ext cx="10020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45" name="boundary-accent">
            <a:extLst xmlns:a="http://schemas.openxmlformats.org/drawingml/2006/main">
              <a:ext uri="{FF2B5EF4-FFF2-40B4-BE49-F238E27FC236}">
                <a16:creationId xmlns:a16="http://schemas.microsoft.com/office/drawing/2014/main" id="{F2555A78-A115-4601-B8FF-897EF7290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00600"/>
            <a:ext cx="47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2E8B5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5CA24B2-874F-42DF-BEC6-E356BB124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010150"/>
            <a:ext cx="941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63456"/>
                </a:solidFill>
              </a:defRPr>
            </a:pPr>
            <a:r>
              <a:rPr sz="1050" b="1">
                <a:solidFill>
                  <a:srgbClr val="063456"/>
                </a:solidFill>
              </a:rPr>
              <a:t>适合材料密集、规则明确、需要证据索引的复核环节；系统负责初筛、归类、提示和索引，不替代内控或审计人员作出最终判断。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A972169-1918-4C23-9944-A0DA0CA64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531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3456"/>
                </a:solidFill>
              </a:defRPr>
            </a:pPr>
            <a:r>
              <a:rPr sz="1350" b="1">
                <a:solidFill>
                  <a:srgbClr val="063456"/>
                </a:solidFill>
              </a:rPr>
              <a:t>预期效果</a:t>
            </a:r>
          </a:p>
        </p:txBody>
      </p:sp>
      <p:sp>
        <p:nvSpPr>
          <p:cNvPr id="48" name="effect-line">
            <a:extLst xmlns:a="http://schemas.openxmlformats.org/drawingml/2006/main">
              <a:ext uri="{FF2B5EF4-FFF2-40B4-BE49-F238E27FC236}">
                <a16:creationId xmlns:a16="http://schemas.microsoft.com/office/drawing/2014/main" id="{BC75E17B-E394-4478-9DB9-EA689B613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867400"/>
            <a:ext cx="8877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EA"/>
          </a:solidFill>
          <a:ln xmlns:a="http://schemas.openxmlformats.org/drawingml/2006/main" w="0">
            <a:solidFill>
              <a:srgbClr val="D7E4EA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770DBF7-9051-4346-9846-09D88F208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772150"/>
            <a:ext cx="790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20" b="1">
                <a:solidFill>
                  <a:srgbClr val="29475B"/>
                </a:solidFill>
              </a:defRPr>
            </a:pPr>
            <a:r>
              <a:rPr sz="1020" b="1">
                <a:solidFill>
                  <a:srgbClr val="29475B"/>
                </a:solidFill>
              </a:rPr>
              <a:t>降低整理成本     提高初筛一致性     强化证据管理     形成可迁移能力底座</a:t>
            </a:r>
          </a:p>
        </p:txBody>
      </p:sp>
    </p:spTree>
    <p:extLst>
      <p:ext uri="{BB962C8B-B14F-4D97-AF65-F5344CB8AC3E}">
        <p14:creationId xmlns:p14="http://schemas.microsoft.com/office/powerpoint/2010/main" val="5775679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2026-06-23T16:15:11.8070000Z</dcterms:created>
  <dcterms:modified xsi:type="dcterms:W3CDTF">2026-06-23T16:15:11.8070000Z</dcterms:modified>
</coreProperties>
</file>