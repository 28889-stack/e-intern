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59e84d21c44657" /><Relationship Type="http://schemas.openxmlformats.org/officeDocument/2006/relationships/extended-properties" Target="/docProps/app.xml" Id="Rcd3b559017f0482d" /><Relationship Type="http://schemas.openxmlformats.org/officeDocument/2006/relationships/officeDocument" Target="/ppt/presentation.xml" Id="R9f4744c87e3247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c4bcd6bb64a52"/>
  </p:sldMasterIdLst>
  <p:notesMasterIdLst>
    <p:notesMasterId xmlns:r="http://schemas.openxmlformats.org/officeDocument/2006/relationships" r:id="R56e3530f588047ca"/>
  </p:notesMasterIdLst>
  <p:sldIdLst>
    <p:sldId xmlns:r="http://schemas.openxmlformats.org/officeDocument/2006/relationships" id="256" r:id="R757e74fb099c4f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37e2bd5244cea" /><Relationship Type="http://schemas.openxmlformats.org/officeDocument/2006/relationships/slideMaster" Target="/ppt/slideMasters/slideMaster1.xml" Id="Rdcdc4bcd6bb64a52" /><Relationship Type="http://schemas.openxmlformats.org/officeDocument/2006/relationships/notesMaster" Target="/ppt/notesMasters/notesMaster1.xml" Id="R56e3530f588047ca" /><Relationship Type="http://schemas.openxmlformats.org/officeDocument/2006/relationships/presProps" Target="/ppt/presProps.xml" Id="Rf88f38feafe7458f" /><Relationship Type="http://schemas.openxmlformats.org/officeDocument/2006/relationships/tableStyles" Target="/ppt/tableStyles.xml" Id="Ra00a2095072040c7" /><Relationship Type="http://schemas.openxmlformats.org/officeDocument/2006/relationships/slide" Target="/ppt/slides/slide1.xml" Id="R757e74fb099c4f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4541267bf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89721500844e7" /><Relationship Type="http://schemas.openxmlformats.org/officeDocument/2006/relationships/notesMaster" Target="/ppt/notesMasters/notesMaster1.xml" Id="R77a0142be8ae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ccd7f497447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10673b509440d" /><Relationship Type="http://schemas.openxmlformats.org/officeDocument/2006/relationships/slideLayout" Target="/ppt/slideLayouts/slideLayout1.xml" Id="Rd0851da44f8a41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851da44f8a41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c3b6ab3d34911" /><Relationship Type="http://schemas.openxmlformats.org/officeDocument/2006/relationships/notesSlide" Target="/ppt/notesSlides/notesSlide1.xml" Id="Rac338db81a51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5F00086A-6B4F-4FAD-888F-BE5DDAC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E0534799-CDE2-4A9A-8ECB-490DC8B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525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73897ED0-E3C0-47B1-B79D-EC3D281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1143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AECC56C5-6444-4B66-99A1-09FF285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38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625423DA-B15D-448C-9349-82731236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238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易方达基金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A678CF68-7DC1-4C20-99BF-C67B956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8C84D23F-BFE3-4DC1-87DD-CF2D4B73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实习答辩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F66F4FE-EA33-41AE-A49C-EB49E3B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63456"/>
                </a:solidFill>
              </a:defRPr>
            </a:pPr>
            <a:r>
              <a:rPr sz="4050" b="1">
                <a:solidFill>
                  <a:srgbClr val="063456"/>
                </a:solidFill>
              </a:rPr>
              <a:t>目录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7166DBB9-8F3D-40BB-8EE8-F339BB2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08F"/>
                </a:solidFill>
              </a:defRPr>
            </a:pPr>
            <a:r>
              <a:rPr sz="1350" b="1">
                <a:solidFill>
                  <a:srgbClr val="00508F"/>
                </a:solidFill>
              </a:rPr>
              <a:t>CONTENTS</a:t>
            </a:r>
          </a:p>
        </p:txBody>
      </p:sp>
      <p:sp>
        <p:nvSpPr>
          <p:cNvPr id="10" name="desc">
            <a:extLst xmlns:a="http://schemas.openxmlformats.org/drawingml/2006/main">
              <a:ext uri="{FF2B5EF4-FFF2-40B4-BE49-F238E27FC236}">
                <a16:creationId xmlns:a16="http://schemas.microsoft.com/office/drawing/2014/main" id="{1B95A98D-A51D-42BB-A3EB-D7FA9BC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63456"/>
                </a:solidFill>
              </a:defRPr>
            </a:pPr>
            <a:r>
              <a:rPr sz="1350" b="0">
                <a:solidFill>
                  <a:srgbClr val="063456"/>
                </a:solidFill>
              </a:rPr>
              <a:t>证券投资申报材料智能处理项目</a:t>
            </a:r>
          </a:p>
        </p:txBody>
      </p:sp>
      <p:sp>
        <p:nvSpPr>
          <p:cNvPr id="11" name="left-line">
            <a:extLst xmlns:a="http://schemas.openxmlformats.org/drawingml/2006/main">
              <a:ext uri="{FF2B5EF4-FFF2-40B4-BE49-F238E27FC236}">
                <a16:creationId xmlns:a16="http://schemas.microsoft.com/office/drawing/2014/main" id="{F9614A79-161F-432E-873A-8CA89D3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2" name="date">
            <a:extLst xmlns:a="http://schemas.openxmlformats.org/drawingml/2006/main">
              <a:ext uri="{FF2B5EF4-FFF2-40B4-BE49-F238E27FC236}">
                <a16:creationId xmlns:a16="http://schemas.microsoft.com/office/drawing/2014/main" id="{ADEDA794-C30C-4925-9BED-1EFA4EB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2026年6月</a:t>
            </a:r>
          </a:p>
        </p:txBody>
      </p:sp>
      <p:sp>
        <p:nvSpPr>
          <p:cNvPr id="13" name="list-bg">
            <a:extLst xmlns:a="http://schemas.openxmlformats.org/drawingml/2006/main">
              <a:ext uri="{FF2B5EF4-FFF2-40B4-BE49-F238E27FC236}">
                <a16:creationId xmlns:a16="http://schemas.microsoft.com/office/drawing/2014/main" id="{1BDA3E67-845A-4237-9021-DCA684A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43000"/>
            <a:ext cx="5143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4" name="list-accent">
            <a:extLst xmlns:a="http://schemas.openxmlformats.org/drawingml/2006/main">
              <a:ext uri="{FF2B5EF4-FFF2-40B4-BE49-F238E27FC236}">
                <a16:creationId xmlns:a16="http://schemas.microsoft.com/office/drawing/2014/main" id="{D472214A-C386-4D58-8D85-CAF42D41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43000"/>
            <a:ext cx="571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5" name="item-line-01">
            <a:extLst xmlns:a="http://schemas.openxmlformats.org/drawingml/2006/main">
              <a:ext uri="{FF2B5EF4-FFF2-40B4-BE49-F238E27FC236}">
                <a16:creationId xmlns:a16="http://schemas.microsoft.com/office/drawing/2014/main" id="{7E817A54-825F-4C12-BBB9-6E7C0A1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6" name="item-dot-01">
            <a:extLst xmlns:a="http://schemas.openxmlformats.org/drawingml/2006/main">
              <a:ext uri="{FF2B5EF4-FFF2-40B4-BE49-F238E27FC236}">
                <a16:creationId xmlns:a16="http://schemas.microsoft.com/office/drawing/2014/main" id="{297ABCF2-759C-4949-8A8A-8FC9FB0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item-no-01">
            <a:extLst xmlns:a="http://schemas.openxmlformats.org/drawingml/2006/main">
              <a:ext uri="{FF2B5EF4-FFF2-40B4-BE49-F238E27FC236}">
                <a16:creationId xmlns:a16="http://schemas.microsoft.com/office/drawing/2014/main" id="{5E887567-5AE0-4EB9-9ABA-A8460C7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438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66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item-title-01">
            <a:extLst xmlns:a="http://schemas.openxmlformats.org/drawingml/2006/main">
              <a:ext uri="{FF2B5EF4-FFF2-40B4-BE49-F238E27FC236}">
                <a16:creationId xmlns:a16="http://schemas.microsoft.com/office/drawing/2014/main" id="{C3C9B8AE-D546-4E51-B5D4-380B70E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25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项目背景与目标</a:t>
            </a:r>
          </a:p>
        </p:txBody>
      </p:sp>
      <p:sp>
        <p:nvSpPr>
          <p:cNvPr id="19" name="item-sub-01">
            <a:extLst xmlns:a="http://schemas.openxmlformats.org/drawingml/2006/main">
              <a:ext uri="{FF2B5EF4-FFF2-40B4-BE49-F238E27FC236}">
                <a16:creationId xmlns:a16="http://schemas.microsoft.com/office/drawing/2014/main" id="{B14CA04A-9BA0-4157-B3C7-2E040CBB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为什么做，解决什么问题</a:t>
            </a:r>
          </a:p>
        </p:txBody>
      </p:sp>
      <p:sp>
        <p:nvSpPr>
          <p:cNvPr id="20" name="item-line-02">
            <a:extLst xmlns:a="http://schemas.openxmlformats.org/drawingml/2006/main">
              <a:ext uri="{FF2B5EF4-FFF2-40B4-BE49-F238E27FC236}">
                <a16:creationId xmlns:a16="http://schemas.microsoft.com/office/drawing/2014/main" id="{5F2D8643-E027-440E-8E01-4B03089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21" name="item-dot-02">
            <a:extLst xmlns:a="http://schemas.openxmlformats.org/drawingml/2006/main">
              <a:ext uri="{FF2B5EF4-FFF2-40B4-BE49-F238E27FC236}">
                <a16:creationId xmlns:a16="http://schemas.microsoft.com/office/drawing/2014/main" id="{71B1C95C-FC2B-414C-8B28-B12BE054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14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2" name="item-no-02">
            <a:extLst xmlns:a="http://schemas.openxmlformats.org/drawingml/2006/main">
              <a:ext uri="{FF2B5EF4-FFF2-40B4-BE49-F238E27FC236}">
                <a16:creationId xmlns:a16="http://schemas.microsoft.com/office/drawing/2014/main" id="{8C3FFCE1-284E-49EC-956C-302E5967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438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66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B57"/>
                </a:solidFill>
              </a:defRPr>
            </a:pPr>
            <a:r>
              <a:rPr sz="900" b="1">
                <a:solidFill>
                  <a:srgbClr val="2E8B57"/>
                </a:solidFill>
              </a:rPr>
              <a:t>02</a:t>
            </a:r>
          </a:p>
        </p:txBody>
      </p:sp>
      <p:sp>
        <p:nvSpPr>
          <p:cNvPr id="23" name="item-title-02">
            <a:extLst xmlns:a="http://schemas.openxmlformats.org/drawingml/2006/main">
              <a:ext uri="{FF2B5EF4-FFF2-40B4-BE49-F238E27FC236}">
                <a16:creationId xmlns:a16="http://schemas.microsoft.com/office/drawing/2014/main" id="{3696F1B7-3FD2-4710-8D9E-F510CB0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方案设计与处理链路</a:t>
            </a:r>
          </a:p>
        </p:txBody>
      </p:sp>
      <p:sp>
        <p:nvSpPr>
          <p:cNvPr id="24" name="item-sub-02">
            <a:extLst xmlns:a="http://schemas.openxmlformats.org/drawingml/2006/main">
              <a:ext uri="{FF2B5EF4-FFF2-40B4-BE49-F238E27FC236}">
                <a16:creationId xmlns:a16="http://schemas.microsoft.com/office/drawing/2014/main" id="{23D39A8F-CBFC-4B40-9D0E-A8E2A271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材料解析、结构化抽取、结果输出</a:t>
            </a:r>
          </a:p>
        </p:txBody>
      </p:sp>
      <p:sp>
        <p:nvSpPr>
          <p:cNvPr id="25" name="item-line-03">
            <a:extLst xmlns:a="http://schemas.openxmlformats.org/drawingml/2006/main">
              <a:ext uri="{FF2B5EF4-FFF2-40B4-BE49-F238E27FC236}">
                <a16:creationId xmlns:a16="http://schemas.microsoft.com/office/drawing/2014/main" id="{EF6B1170-6FEF-4DCB-BADD-864293C5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26" name="item-dot-03">
            <a:extLst xmlns:a="http://schemas.openxmlformats.org/drawingml/2006/main">
              <a:ext uri="{FF2B5EF4-FFF2-40B4-BE49-F238E27FC236}">
                <a16:creationId xmlns:a16="http://schemas.microsoft.com/office/drawing/2014/main" id="{3F1AB360-3CFE-42C1-AA0E-961D91B9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7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7" name="item-no-03">
            <a:extLst xmlns:a="http://schemas.openxmlformats.org/drawingml/2006/main">
              <a:ext uri="{FF2B5EF4-FFF2-40B4-BE49-F238E27FC236}">
                <a16:creationId xmlns:a16="http://schemas.microsoft.com/office/drawing/2014/main" id="{27CDB097-24CE-42E2-BACD-4B9C6991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438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66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7A22"/>
                </a:solidFill>
              </a:defRPr>
            </a:pPr>
            <a:r>
              <a:rPr sz="900" b="1">
                <a:solidFill>
                  <a:srgbClr val="E17A22"/>
                </a:solidFill>
              </a:rPr>
              <a:t>03</a:t>
            </a:r>
          </a:p>
        </p:txBody>
      </p:sp>
      <p:sp>
        <p:nvSpPr>
          <p:cNvPr id="28" name="item-title-03">
            <a:extLst xmlns:a="http://schemas.openxmlformats.org/drawingml/2006/main">
              <a:ext uri="{FF2B5EF4-FFF2-40B4-BE49-F238E27FC236}">
                <a16:creationId xmlns:a16="http://schemas.microsoft.com/office/drawing/2014/main" id="{1E3BB9B7-244E-44AF-A8B7-3561436C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384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关键问题与解决方法</a:t>
            </a:r>
          </a:p>
        </p:txBody>
      </p:sp>
      <p:sp>
        <p:nvSpPr>
          <p:cNvPr id="29" name="item-sub-03">
            <a:extLst xmlns:a="http://schemas.openxmlformats.org/drawingml/2006/main">
              <a:ext uri="{FF2B5EF4-FFF2-40B4-BE49-F238E27FC236}">
                <a16:creationId xmlns:a16="http://schemas.microsoft.com/office/drawing/2014/main" id="{3CAAE6D8-B493-43FB-81AB-182F1C28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复杂来源、业务分类、风险控制</a:t>
            </a:r>
          </a:p>
        </p:txBody>
      </p:sp>
      <p:sp>
        <p:nvSpPr>
          <p:cNvPr id="30" name="item-line-04">
            <a:extLst xmlns:a="http://schemas.openxmlformats.org/drawingml/2006/main">
              <a:ext uri="{FF2B5EF4-FFF2-40B4-BE49-F238E27FC236}">
                <a16:creationId xmlns:a16="http://schemas.microsoft.com/office/drawing/2014/main" id="{9AB12150-7976-4E4A-B40F-6370156B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1" name="item-dot-04">
            <a:extLst xmlns:a="http://schemas.openxmlformats.org/drawingml/2006/main">
              <a:ext uri="{FF2B5EF4-FFF2-40B4-BE49-F238E27FC236}">
                <a16:creationId xmlns:a16="http://schemas.microsoft.com/office/drawing/2014/main" id="{7CC99DFF-8220-47C9-B590-50978CF1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004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2" name="item-no-04">
            <a:extLst xmlns:a="http://schemas.openxmlformats.org/drawingml/2006/main">
              <a:ext uri="{FF2B5EF4-FFF2-40B4-BE49-F238E27FC236}">
                <a16:creationId xmlns:a16="http://schemas.microsoft.com/office/drawing/2014/main" id="{954F3889-2075-4FB7-A396-70E03ADD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438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66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08F"/>
                </a:solidFill>
              </a:defRPr>
            </a:pPr>
            <a:r>
              <a:rPr sz="900" b="1">
                <a:solidFill>
                  <a:srgbClr val="00508F"/>
                </a:solidFill>
              </a:rPr>
              <a:t>04</a:t>
            </a:r>
          </a:p>
        </p:txBody>
      </p:sp>
      <p:sp>
        <p:nvSpPr>
          <p:cNvPr id="33" name="item-title-04">
            <a:extLst xmlns:a="http://schemas.openxmlformats.org/drawingml/2006/main">
              <a:ext uri="{FF2B5EF4-FFF2-40B4-BE49-F238E27FC236}">
                <a16:creationId xmlns:a16="http://schemas.microsoft.com/office/drawing/2014/main" id="{54214D90-705E-45C3-B52F-587F8AE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项目成果与价值</a:t>
            </a:r>
          </a:p>
        </p:txBody>
      </p:sp>
      <p:sp>
        <p:nvSpPr>
          <p:cNvPr id="34" name="item-sub-04">
            <a:extLst xmlns:a="http://schemas.openxmlformats.org/drawingml/2006/main">
              <a:ext uri="{FF2B5EF4-FFF2-40B4-BE49-F238E27FC236}">
                <a16:creationId xmlns:a16="http://schemas.microsoft.com/office/drawing/2014/main" id="{AE5AFA8B-752A-41EF-B9B6-4B898323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效率提升、证据链、复核支持</a:t>
            </a:r>
          </a:p>
        </p:txBody>
      </p:sp>
      <p:sp>
        <p:nvSpPr>
          <p:cNvPr id="35" name="item-line-05">
            <a:extLst xmlns:a="http://schemas.openxmlformats.org/drawingml/2006/main">
              <a:ext uri="{FF2B5EF4-FFF2-40B4-BE49-F238E27FC236}">
                <a16:creationId xmlns:a16="http://schemas.microsoft.com/office/drawing/2014/main" id="{8D935183-A4CB-4F52-A196-B3CD4082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244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6" name="item-dot-05">
            <a:extLst xmlns:a="http://schemas.openxmlformats.org/drawingml/2006/main">
              <a:ext uri="{FF2B5EF4-FFF2-40B4-BE49-F238E27FC236}">
                <a16:creationId xmlns:a16="http://schemas.microsoft.com/office/drawing/2014/main" id="{E5B87128-615D-493A-895C-D01686E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43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7" name="item-no-05">
            <a:extLst xmlns:a="http://schemas.openxmlformats.org/drawingml/2006/main">
              <a:ext uri="{FF2B5EF4-FFF2-40B4-BE49-F238E27FC236}">
                <a16:creationId xmlns:a16="http://schemas.microsoft.com/office/drawing/2014/main" id="{33D49445-B96A-4077-9D2B-1D7C7EEE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438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66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B57"/>
                </a:solidFill>
              </a:defRPr>
            </a:pPr>
            <a:r>
              <a:rPr sz="900" b="1">
                <a:solidFill>
                  <a:srgbClr val="2E8B57"/>
                </a:solidFill>
              </a:rPr>
              <a:t>05</a:t>
            </a:r>
          </a:p>
        </p:txBody>
      </p:sp>
      <p:sp>
        <p:nvSpPr>
          <p:cNvPr id="38" name="item-title-05">
            <a:extLst xmlns:a="http://schemas.openxmlformats.org/drawingml/2006/main">
              <a:ext uri="{FF2B5EF4-FFF2-40B4-BE49-F238E27FC236}">
                <a16:creationId xmlns:a16="http://schemas.microsoft.com/office/drawing/2014/main" id="{AF590EBA-6E92-45B5-AF89-E719327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4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拓展方向与实习总结</a:t>
            </a:r>
          </a:p>
        </p:txBody>
      </p:sp>
      <p:sp>
        <p:nvSpPr>
          <p:cNvPr id="39" name="item-sub-05">
            <a:extLst xmlns:a="http://schemas.openxmlformats.org/drawingml/2006/main">
              <a:ext uri="{FF2B5EF4-FFF2-40B4-BE49-F238E27FC236}">
                <a16:creationId xmlns:a16="http://schemas.microsoft.com/office/drawing/2014/main" id="{595513D9-F06A-4545-8CB6-743DFEF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Graph RAG、知识库、内控材料场景</a:t>
            </a:r>
          </a:p>
        </p:txBody>
      </p:sp>
      <p:sp>
        <p:nvSpPr>
          <p:cNvPr id="40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77AADF2-BC4C-40D9-97CF-0D5606D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53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14F711BE-7425-49B5-8FD2-DA6BD5C9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实习答辩 · 证券投资申报材料智能处理项目</a:t>
            </a:r>
          </a:p>
        </p:txBody>
      </p:sp>
    </p:spTree>
    <p:extLst>
      <p:ext uri="{BB962C8B-B14F-4D97-AF65-F5344CB8AC3E}">
        <p14:creationId xmlns:p14="http://schemas.microsoft.com/office/powerpoint/2010/main" val="269838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2026-06-25T06:25:20.2380000Z</dcterms:created>
  <dcterms:modified xsi:type="dcterms:W3CDTF">2026-06-25T06:25:20.2380000Z</dcterms:modified>
</coreProperties>
</file>