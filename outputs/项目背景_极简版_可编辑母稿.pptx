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42403447394602" /><Relationship Type="http://schemas.openxmlformats.org/officeDocument/2006/relationships/extended-properties" Target="/docProps/app.xml" Id="Re046fd457f354235" /><Relationship Type="http://schemas.openxmlformats.org/officeDocument/2006/relationships/officeDocument" Target="/ppt/presentation.xml" Id="R4fd68ef7aea8431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9c01c8a9ad74d9a"/>
  </p:sldMasterIdLst>
  <p:notesMasterIdLst>
    <p:notesMasterId xmlns:r="http://schemas.openxmlformats.org/officeDocument/2006/relationships" r:id="R3e2733234ca94cfd"/>
  </p:notesMasterIdLst>
  <p:sldIdLst>
    <p:sldId xmlns:r="http://schemas.openxmlformats.org/officeDocument/2006/relationships" id="256" r:id="R06ad49e3a7164ae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a2ec1118614e86" /><Relationship Type="http://schemas.openxmlformats.org/officeDocument/2006/relationships/slideMaster" Target="/ppt/slideMasters/slideMaster1.xml" Id="R49c01c8a9ad74d9a" /><Relationship Type="http://schemas.openxmlformats.org/officeDocument/2006/relationships/notesMaster" Target="/ppt/notesMasters/notesMaster1.xml" Id="R3e2733234ca94cfd" /><Relationship Type="http://schemas.openxmlformats.org/officeDocument/2006/relationships/presProps" Target="/ppt/presProps.xml" Id="Rc7aa355f84ff48e8" /><Relationship Type="http://schemas.openxmlformats.org/officeDocument/2006/relationships/tableStyles" Target="/ppt/tableStyles.xml" Id="Rb9ff82aa335346ee" /><Relationship Type="http://schemas.openxmlformats.org/officeDocument/2006/relationships/slide" Target="/ppt/slides/slide1.xml" Id="R06ad49e3a7164ae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465e772dd994d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05a161e15a401c" /><Relationship Type="http://schemas.openxmlformats.org/officeDocument/2006/relationships/notesMaster" Target="/ppt/notesMasters/notesMaster1.xml" Id="Rdbe490a1bf2640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26739c3d6a4c3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2721dce3de4ee1" /><Relationship Type="http://schemas.openxmlformats.org/officeDocument/2006/relationships/slideLayout" Target="/ppt/slideLayouts/slideLayout1.xml" Id="R98b7cfbcaf764ca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8b7cfbcaf764ca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1500b0966b4ebd" /><Relationship Type="http://schemas.openxmlformats.org/officeDocument/2006/relationships/notesSlide" Target="/ppt/notesSlides/notesSlide1.xml" Id="Rc8308f1777a5446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bar">
            <a:extLst xmlns:a="http://schemas.openxmlformats.org/drawingml/2006/main">
              <a:ext uri="{FF2B5EF4-FFF2-40B4-BE49-F238E27FC236}">
                <a16:creationId xmlns:a16="http://schemas.microsoft.com/office/drawing/2014/main" id="{91A878F8-9128-4881-AC24-E184A3B0D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8F"/>
          </a:solidFill>
          <a:ln xmlns:a="http://schemas.openxmlformats.org/drawingml/2006/main" w="0">
            <a:solidFill>
              <a:srgbClr val="00508F"/>
            </a:solidFill>
            <a:prstDash val="solid"/>
          </a:ln>
        </p:spPr>
      </p:sp>
      <p:sp>
        <p:nvSpPr>
          <p:cNvPr id="2" name="left-pale">
            <a:extLst xmlns:a="http://schemas.openxmlformats.org/drawingml/2006/main">
              <a:ext uri="{FF2B5EF4-FFF2-40B4-BE49-F238E27FC236}">
                <a16:creationId xmlns:a16="http://schemas.microsoft.com/office/drawing/2014/main" id="{F487191E-532A-44FC-817E-F47EB2639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0525"/>
            <a:ext cx="952500" cy="6467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9"/>
          </a:solidFill>
          <a:ln xmlns:a="http://schemas.openxmlformats.org/drawingml/2006/main" w="0">
            <a:solidFill>
              <a:srgbClr val="F0F6F9"/>
            </a:solidFill>
            <a:prstDash val="solid"/>
          </a:ln>
        </p:spPr>
      </p:sp>
      <p:sp>
        <p:nvSpPr>
          <p:cNvPr id="3" name="cyan-strip">
            <a:extLst xmlns:a="http://schemas.openxmlformats.org/drawingml/2006/main">
              <a:ext uri="{FF2B5EF4-FFF2-40B4-BE49-F238E27FC236}">
                <a16:creationId xmlns:a16="http://schemas.microsoft.com/office/drawing/2014/main" id="{570030E7-E66E-4F7C-A126-41FBB2E43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"/>
            <a:ext cx="114300" cy="6467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solidFill>
              <a:srgbClr val="00B5CF"/>
            </a:solidFill>
            <a:prstDash val="solid"/>
          </a:ln>
        </p:spPr>
      </p:sp>
      <p:sp>
        <p:nvSpPr>
          <p:cNvPr id="4" name="brand-dot">
            <a:extLst xmlns:a="http://schemas.openxmlformats.org/drawingml/2006/main">
              <a:ext uri="{FF2B5EF4-FFF2-40B4-BE49-F238E27FC236}">
                <a16:creationId xmlns:a16="http://schemas.microsoft.com/office/drawing/2014/main" id="{1FFDB976-16A4-4F14-88A7-C2C771564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14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5D54E94D-18DE-4B5E-B0A9-EBFDF3064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239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57987"/>
                </a:solidFill>
              </a:defRPr>
            </a:pPr>
            <a:r>
              <a:rPr sz="1125" b="1">
                <a:solidFill>
                  <a:srgbClr val="657987"/>
                </a:solidFill>
              </a:rPr>
              <a:t>项目背景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44E33BAF-A9E8-4711-9044-495519051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000125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3456"/>
                </a:solidFill>
              </a:defRPr>
            </a:pPr>
            <a:r>
              <a:rPr sz="2400" b="1">
                <a:solidFill>
                  <a:srgbClr val="063456"/>
                </a:solidFill>
              </a:rPr>
              <a:t>从法规要求到材料结构化</a:t>
            </a:r>
          </a:p>
        </p:txBody>
      </p:sp>
      <p:sp>
        <p:nvSpPr>
          <p:cNvPr id="7" name="title-rule">
            <a:extLst xmlns:a="http://schemas.openxmlformats.org/drawingml/2006/main">
              <a:ext uri="{FF2B5EF4-FFF2-40B4-BE49-F238E27FC236}">
                <a16:creationId xmlns:a16="http://schemas.microsoft.com/office/drawing/2014/main" id="{7DDEE1EF-A09C-42E5-887C-CA87C7185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438275"/>
            <a:ext cx="10020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8F"/>
          </a:solidFill>
          <a:ln xmlns:a="http://schemas.openxmlformats.org/drawingml/2006/main" w="0">
            <a:solidFill>
              <a:srgbClr val="00508F"/>
            </a:solidFill>
            <a:prstDash val="solid"/>
          </a:ln>
        </p:spPr>
      </p:sp>
      <p:sp>
        <p:nvSpPr>
          <p:cNvPr id="8" name="badge">
            <a:extLst xmlns:a="http://schemas.openxmlformats.org/drawingml/2006/main">
              <a:ext uri="{FF2B5EF4-FFF2-40B4-BE49-F238E27FC236}">
                <a16:creationId xmlns:a16="http://schemas.microsoft.com/office/drawing/2014/main" id="{53A2D272-275B-47FF-94A4-4F45E8E74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952500"/>
            <a:ext cx="16002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9525">
            <a:solidFill>
              <a:srgbClr val="00508F"/>
            </a:solidFill>
            <a:prstDash val="solid"/>
          </a:ln>
        </p:spPr>
      </p:sp>
      <p:sp>
        <p:nvSpPr>
          <p:cNvPr id="9" name="badge-accent">
            <a:extLst xmlns:a="http://schemas.openxmlformats.org/drawingml/2006/main">
              <a:ext uri="{FF2B5EF4-FFF2-40B4-BE49-F238E27FC236}">
                <a16:creationId xmlns:a16="http://schemas.microsoft.com/office/drawing/2014/main" id="{F62F405A-113B-416E-8E24-7DA0F2822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952500"/>
            <a:ext cx="47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8F"/>
          </a:solidFill>
          <a:ln xmlns:a="http://schemas.openxmlformats.org/drawingml/2006/main" w="0">
            <a:solidFill>
              <a:srgbClr val="00508F"/>
            </a:solidFill>
            <a:prstDash val="solid"/>
          </a:ln>
        </p:spPr>
      </p:sp>
      <p:sp>
        <p:nvSpPr>
          <p:cNvPr id="10" name="badge-text">
            <a:extLst xmlns:a="http://schemas.openxmlformats.org/drawingml/2006/main">
              <a:ext uri="{FF2B5EF4-FFF2-40B4-BE49-F238E27FC236}">
                <a16:creationId xmlns:a16="http://schemas.microsoft.com/office/drawing/2014/main" id="{597D8E7D-99F5-441C-B34B-42FF9768B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047750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508F"/>
                </a:solidFill>
              </a:defRPr>
            </a:pPr>
            <a:r>
              <a:rPr sz="975" b="1">
                <a:solidFill>
                  <a:srgbClr val="00508F"/>
                </a:solidFill>
              </a:rPr>
              <a:t>背景 / 目标</a:t>
            </a:r>
          </a:p>
        </p:txBody>
      </p:sp>
      <p:sp>
        <p:nvSpPr>
          <p:cNvPr id="11" name="lead">
            <a:extLst xmlns:a="http://schemas.openxmlformats.org/drawingml/2006/main">
              <a:ext uri="{FF2B5EF4-FFF2-40B4-BE49-F238E27FC236}">
                <a16:creationId xmlns:a16="http://schemas.microsoft.com/office/drawing/2014/main" id="{AE8F08E3-0967-4D10-912E-810BF89B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52600"/>
            <a:ext cx="847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3446"/>
                </a:solidFill>
              </a:defRPr>
            </a:pPr>
            <a:r>
              <a:rPr sz="1500" b="1">
                <a:solidFill>
                  <a:srgbClr val="1A3446"/>
                </a:solidFill>
              </a:rPr>
              <a:t>法律法规提出申报要求，公司需要收集材料、审核判断并留痕。</a:t>
            </a:r>
          </a:p>
        </p:txBody>
      </p:sp>
      <p:sp>
        <p:nvSpPr>
          <p:cNvPr id="12" name="card-1">
            <a:extLst xmlns:a="http://schemas.openxmlformats.org/drawingml/2006/main">
              <a:ext uri="{FF2B5EF4-FFF2-40B4-BE49-F238E27FC236}">
                <a16:creationId xmlns:a16="http://schemas.microsoft.com/office/drawing/2014/main" id="{01F7B08C-A594-405E-BF50-CCE9C5F0F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52700"/>
            <a:ext cx="2952750" cy="2247900"/>
          </a:xfrm>
          <a:prstGeom xmlns:a="http://schemas.openxmlformats.org/drawingml/2006/main" prst="roundRect">
            <a:avLst>
              <a:gd name="adj" fmla="val 25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13" name="card-top-1">
            <a:extLst xmlns:a="http://schemas.openxmlformats.org/drawingml/2006/main">
              <a:ext uri="{FF2B5EF4-FFF2-40B4-BE49-F238E27FC236}">
                <a16:creationId xmlns:a16="http://schemas.microsoft.com/office/drawing/2014/main" id="{A2C6C3D8-50F6-411B-BC83-D95205D9B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52700"/>
            <a:ext cx="295275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9525">
            <a:solidFill>
              <a:srgbClr val="00508F"/>
            </a:solidFill>
            <a:prstDash val="solid"/>
          </a:ln>
        </p:spPr>
      </p:sp>
      <p:sp>
        <p:nvSpPr>
          <p:cNvPr id="14" name="card-no-1">
            <a:extLst xmlns:a="http://schemas.openxmlformats.org/drawingml/2006/main">
              <a:ext uri="{FF2B5EF4-FFF2-40B4-BE49-F238E27FC236}">
                <a16:creationId xmlns:a16="http://schemas.microsoft.com/office/drawing/2014/main" id="{DBFA940E-9E1C-4693-A831-9E6EB32F5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14625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508F"/>
                </a:solidFill>
              </a:defRPr>
            </a:pPr>
            <a:r>
              <a:rPr sz="1050" b="1">
                <a:solidFill>
                  <a:srgbClr val="00508F"/>
                </a:solidFill>
              </a:rPr>
              <a:t>01</a:t>
            </a:r>
          </a:p>
        </p:txBody>
      </p:sp>
      <p:sp>
        <p:nvSpPr>
          <p:cNvPr id="15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41D3822C-E2F3-4DD0-BF1B-24481398D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69557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3456"/>
                </a:solidFill>
              </a:defRPr>
            </a:pPr>
            <a:r>
              <a:rPr sz="1350" b="1">
                <a:solidFill>
                  <a:srgbClr val="063456"/>
                </a:solidFill>
              </a:rPr>
              <a:t>法规要求</a:t>
            </a:r>
          </a:p>
        </p:txBody>
      </p:sp>
      <p:sp>
        <p:nvSpPr>
          <p:cNvPr id="16" name="card-keywords-1">
            <a:extLst xmlns:a="http://schemas.openxmlformats.org/drawingml/2006/main">
              <a:ext uri="{FF2B5EF4-FFF2-40B4-BE49-F238E27FC236}">
                <a16:creationId xmlns:a16="http://schemas.microsoft.com/office/drawing/2014/main" id="{0455DCFA-1045-41BE-8703-BE590CCF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3909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508F"/>
                </a:solidFill>
              </a:defRPr>
            </a:pPr>
            <a:r>
              <a:rPr sz="2100" b="1">
                <a:solidFill>
                  <a:srgbClr val="00508F"/>
                </a:solidFill>
              </a:rPr>
              <a:t>申报 / 审核 / 留痕</a:t>
            </a:r>
          </a:p>
        </p:txBody>
      </p:sp>
      <p:sp>
        <p:nvSpPr>
          <p:cNvPr id="17" name="card-note-1">
            <a:extLst xmlns:a="http://schemas.openxmlformats.org/drawingml/2006/main">
              <a:ext uri="{FF2B5EF4-FFF2-40B4-BE49-F238E27FC236}">
                <a16:creationId xmlns:a16="http://schemas.microsoft.com/office/drawing/2014/main" id="{267F0C74-4855-47C0-A3CD-5B22047B2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133850"/>
            <a:ext cx="2343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57987"/>
                </a:solidFill>
              </a:defRPr>
            </a:pPr>
            <a:r>
              <a:rPr sz="1125" b="0">
                <a:solidFill>
                  <a:srgbClr val="657987"/>
                </a:solidFill>
              </a:rPr>
              <a:t>从业人员及相关人员证券投资需要纳入管理</a:t>
            </a:r>
          </a:p>
        </p:txBody>
      </p:sp>
      <p:sp>
        <p:nvSpPr>
          <p:cNvPr id="18" name="card-2">
            <a:extLst xmlns:a="http://schemas.openxmlformats.org/drawingml/2006/main">
              <a:ext uri="{FF2B5EF4-FFF2-40B4-BE49-F238E27FC236}">
                <a16:creationId xmlns:a16="http://schemas.microsoft.com/office/drawing/2014/main" id="{AB03A914-78AA-46F4-BA2B-65AD77C3F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52700"/>
            <a:ext cx="2952750" cy="2247900"/>
          </a:xfrm>
          <a:prstGeom xmlns:a="http://schemas.openxmlformats.org/drawingml/2006/main" prst="roundRect">
            <a:avLst>
              <a:gd name="adj" fmla="val 25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19" name="card-top-2">
            <a:extLst xmlns:a="http://schemas.openxmlformats.org/drawingml/2006/main">
              <a:ext uri="{FF2B5EF4-FFF2-40B4-BE49-F238E27FC236}">
                <a16:creationId xmlns:a16="http://schemas.microsoft.com/office/drawing/2014/main" id="{F170BFDE-888E-410B-B610-6C5A01DC1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52700"/>
            <a:ext cx="295275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E17A22"/>
            </a:solidFill>
            <a:prstDash val="solid"/>
          </a:ln>
        </p:spPr>
      </p:sp>
      <p:sp>
        <p:nvSpPr>
          <p:cNvPr id="20" name="card-no-2">
            <a:extLst xmlns:a="http://schemas.openxmlformats.org/drawingml/2006/main">
              <a:ext uri="{FF2B5EF4-FFF2-40B4-BE49-F238E27FC236}">
                <a16:creationId xmlns:a16="http://schemas.microsoft.com/office/drawing/2014/main" id="{742C0668-85AF-4FA6-8E68-5CD1CE436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714625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17A22"/>
                </a:solidFill>
              </a:defRPr>
            </a:pPr>
            <a:r>
              <a:rPr sz="1050" b="1">
                <a:solidFill>
                  <a:srgbClr val="E17A22"/>
                </a:solidFill>
              </a:rPr>
              <a:t>02</a:t>
            </a:r>
          </a:p>
        </p:txBody>
      </p:sp>
      <p:sp>
        <p:nvSpPr>
          <p:cNvPr id="21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E8875F48-1184-49D1-87EC-3F9DCFE64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9557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3456"/>
                </a:solidFill>
              </a:defRPr>
            </a:pPr>
            <a:r>
              <a:rPr sz="1350" b="1">
                <a:solidFill>
                  <a:srgbClr val="063456"/>
                </a:solidFill>
              </a:rPr>
              <a:t>当前痛点</a:t>
            </a:r>
          </a:p>
        </p:txBody>
      </p:sp>
      <p:sp>
        <p:nvSpPr>
          <p:cNvPr id="22" name="card-keywords-2">
            <a:extLst xmlns:a="http://schemas.openxmlformats.org/drawingml/2006/main">
              <a:ext uri="{FF2B5EF4-FFF2-40B4-BE49-F238E27FC236}">
                <a16:creationId xmlns:a16="http://schemas.microsoft.com/office/drawing/2014/main" id="{DC3F6A8C-2397-403A-B47C-DC4FD7DF8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3909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17A22"/>
                </a:solidFill>
              </a:defRPr>
            </a:pPr>
            <a:r>
              <a:rPr sz="2100" b="1">
                <a:solidFill>
                  <a:srgbClr val="E17A22"/>
                </a:solidFill>
              </a:rPr>
              <a:t>人工 / 分散 / 难追溯</a:t>
            </a:r>
          </a:p>
        </p:txBody>
      </p:sp>
      <p:sp>
        <p:nvSpPr>
          <p:cNvPr id="23" name="card-note-2">
            <a:extLst xmlns:a="http://schemas.openxmlformats.org/drawingml/2006/main">
              <a:ext uri="{FF2B5EF4-FFF2-40B4-BE49-F238E27FC236}">
                <a16:creationId xmlns:a16="http://schemas.microsoft.com/office/drawing/2014/main" id="{9ED0A599-BD8F-48B1-8113-195DE88A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4133850"/>
            <a:ext cx="2343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57987"/>
                </a:solidFill>
              </a:defRPr>
            </a:pPr>
            <a:r>
              <a:rPr sz="1125" b="0">
                <a:solidFill>
                  <a:srgbClr val="657987"/>
                </a:solidFill>
              </a:rPr>
              <a:t>关键信息散落在券商材料中，难以复核处理</a:t>
            </a:r>
          </a:p>
        </p:txBody>
      </p:sp>
      <p:sp>
        <p:nvSpPr>
          <p:cNvPr id="24" name="card-3">
            <a:extLst xmlns:a="http://schemas.openxmlformats.org/drawingml/2006/main">
              <a:ext uri="{FF2B5EF4-FFF2-40B4-BE49-F238E27FC236}">
                <a16:creationId xmlns:a16="http://schemas.microsoft.com/office/drawing/2014/main" id="{5EE2401C-7D35-4DEB-8955-E845A40D9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52700"/>
            <a:ext cx="3638550" cy="2247900"/>
          </a:xfrm>
          <a:prstGeom xmlns:a="http://schemas.openxmlformats.org/drawingml/2006/main" prst="roundRect">
            <a:avLst>
              <a:gd name="adj" fmla="val 25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25" name="card-top-3">
            <a:extLst xmlns:a="http://schemas.openxmlformats.org/drawingml/2006/main">
              <a:ext uri="{FF2B5EF4-FFF2-40B4-BE49-F238E27FC236}">
                <a16:creationId xmlns:a16="http://schemas.microsoft.com/office/drawing/2014/main" id="{B23E3DA2-6425-4FA0-ABC9-A0A53CF2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52700"/>
            <a:ext cx="363855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9525">
            <a:solidFill>
              <a:srgbClr val="2E8B57"/>
            </a:solidFill>
            <a:prstDash val="solid"/>
          </a:ln>
        </p:spPr>
      </p:sp>
      <p:sp>
        <p:nvSpPr>
          <p:cNvPr id="26" name="card-no-3">
            <a:extLst xmlns:a="http://schemas.openxmlformats.org/drawingml/2006/main">
              <a:ext uri="{FF2B5EF4-FFF2-40B4-BE49-F238E27FC236}">
                <a16:creationId xmlns:a16="http://schemas.microsoft.com/office/drawing/2014/main" id="{7E45425E-303E-4DFF-9CF7-3574D35DC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14625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E8B57"/>
                </a:solidFill>
              </a:defRPr>
            </a:pPr>
            <a:r>
              <a:rPr sz="1050" b="1">
                <a:solidFill>
                  <a:srgbClr val="2E8B57"/>
                </a:solidFill>
              </a:rPr>
              <a:t>03</a:t>
            </a:r>
          </a:p>
        </p:txBody>
      </p:sp>
      <p:sp>
        <p:nvSpPr>
          <p:cNvPr id="27" name="card-title-3">
            <a:extLst xmlns:a="http://schemas.openxmlformats.org/drawingml/2006/main">
              <a:ext uri="{FF2B5EF4-FFF2-40B4-BE49-F238E27FC236}">
                <a16:creationId xmlns:a16="http://schemas.microsoft.com/office/drawing/2014/main" id="{15419A96-6EB1-4167-81AC-55E326F4A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695575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3456"/>
                </a:solidFill>
              </a:defRPr>
            </a:pPr>
            <a:r>
              <a:rPr sz="1350" b="1">
                <a:solidFill>
                  <a:srgbClr val="063456"/>
                </a:solidFill>
              </a:rPr>
              <a:t>项目目标</a:t>
            </a:r>
          </a:p>
        </p:txBody>
      </p:sp>
      <p:sp>
        <p:nvSpPr>
          <p:cNvPr id="28" name="card-keywords-3">
            <a:extLst xmlns:a="http://schemas.openxmlformats.org/drawingml/2006/main">
              <a:ext uri="{FF2B5EF4-FFF2-40B4-BE49-F238E27FC236}">
                <a16:creationId xmlns:a16="http://schemas.microsoft.com/office/drawing/2014/main" id="{7E63B9C2-51DE-4613-8362-6C5D09887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90900"/>
            <a:ext cx="3067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E8B57"/>
                </a:solidFill>
              </a:defRPr>
            </a:pPr>
            <a:r>
              <a:rPr sz="2100" b="1">
                <a:solidFill>
                  <a:srgbClr val="2E8B57"/>
                </a:solidFill>
              </a:rPr>
              <a:t>结构化 / 可复核 / 可导出</a:t>
            </a:r>
          </a:p>
        </p:txBody>
      </p:sp>
      <p:sp>
        <p:nvSpPr>
          <p:cNvPr id="29" name="card-note-3">
            <a:extLst xmlns:a="http://schemas.openxmlformats.org/drawingml/2006/main">
              <a:ext uri="{FF2B5EF4-FFF2-40B4-BE49-F238E27FC236}">
                <a16:creationId xmlns:a16="http://schemas.microsoft.com/office/drawing/2014/main" id="{A18CDD8C-FFB4-41E9-9500-C8997E29E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133850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57987"/>
                </a:solidFill>
              </a:defRPr>
            </a:pPr>
            <a:r>
              <a:rPr sz="1125" b="0">
                <a:solidFill>
                  <a:srgbClr val="657987"/>
                </a:solidFill>
              </a:rPr>
              <a:t>把材料转成后续可核对、可处理的申报数据</a:t>
            </a:r>
          </a:p>
        </p:txBody>
      </p:sp>
      <p:sp>
        <p:nvSpPr>
          <p:cNvPr id="30" name="bottom-callout">
            <a:extLst xmlns:a="http://schemas.openxmlformats.org/drawingml/2006/main">
              <a:ext uri="{FF2B5EF4-FFF2-40B4-BE49-F238E27FC236}">
                <a16:creationId xmlns:a16="http://schemas.microsoft.com/office/drawing/2014/main" id="{0969E616-51EE-434D-A3BB-B5D70488E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67350"/>
            <a:ext cx="10020300" cy="685800"/>
          </a:xfrm>
          <a:prstGeom xmlns:a="http://schemas.openxmlformats.org/drawingml/2006/main" prst="roundRect">
            <a:avLst>
              <a:gd name="adj" fmla="val 69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31" name="bottom-accent">
            <a:extLst xmlns:a="http://schemas.openxmlformats.org/drawingml/2006/main">
              <a:ext uri="{FF2B5EF4-FFF2-40B4-BE49-F238E27FC236}">
                <a16:creationId xmlns:a16="http://schemas.microsoft.com/office/drawing/2014/main" id="{B16C4536-FDB5-430D-A132-4C0C27F21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67350"/>
            <a:ext cx="47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8F"/>
          </a:solidFill>
          <a:ln xmlns:a="http://schemas.openxmlformats.org/drawingml/2006/main" w="0">
            <a:solidFill>
              <a:srgbClr val="00508F"/>
            </a:solidFill>
            <a:prstDash val="solid"/>
          </a:ln>
        </p:spPr>
      </p:sp>
      <p:sp>
        <p:nvSpPr>
          <p:cNvPr id="32" name="bottom-text">
            <a:extLst xmlns:a="http://schemas.openxmlformats.org/drawingml/2006/main">
              <a:ext uri="{FF2B5EF4-FFF2-40B4-BE49-F238E27FC236}">
                <a16:creationId xmlns:a16="http://schemas.microsoft.com/office/drawing/2014/main" id="{BB70827D-8ECF-477B-9773-19850898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686425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63456"/>
                </a:solidFill>
              </a:defRPr>
            </a:pPr>
            <a:r>
              <a:rPr sz="1650" b="1">
                <a:solidFill>
                  <a:srgbClr val="063456"/>
                </a:solidFill>
              </a:rPr>
              <a:t>一句话：把非结构化证券材料，变成可复核、可追溯、可编辑、可导出的申报结果。</a:t>
            </a:r>
          </a:p>
        </p:txBody>
      </p:sp>
      <p:sp>
        <p:nvSpPr>
          <p:cNvPr id="33" name="footer-line">
            <a:extLst xmlns:a="http://schemas.openxmlformats.org/drawingml/2006/main">
              <a:ext uri="{FF2B5EF4-FFF2-40B4-BE49-F238E27FC236}">
                <a16:creationId xmlns:a16="http://schemas.microsoft.com/office/drawing/2014/main" id="{BAC564DC-9B8A-4672-B145-768BBB66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381750"/>
            <a:ext cx="10020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A"/>
          </a:solidFill>
          <a:ln xmlns:a="http://schemas.openxmlformats.org/drawingml/2006/main" w="0">
            <a:solidFill>
              <a:srgbClr val="D7E4EA"/>
            </a:solidFill>
            <a:prstDash val="solid"/>
          </a:ln>
        </p:spPr>
      </p:sp>
      <p:sp>
        <p:nvSpPr>
          <p:cNvPr id="3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92E6706-9F32-4479-82DC-6C4128C16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486525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987"/>
                </a:solidFill>
              </a:defRPr>
            </a:pPr>
            <a:r>
              <a:rPr sz="750" b="0">
                <a:solidFill>
                  <a:srgbClr val="657987"/>
                </a:solidFill>
              </a:rPr>
              <a:t>易方达基金 · 内部交流，请勿外传</a:t>
            </a:r>
          </a:p>
        </p:txBody>
      </p:sp>
      <p:sp>
        <p:nvSpPr>
          <p:cNvPr id="3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27C79E66-6FDD-4C60-9A31-50178114C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86525"/>
            <a:ext cx="163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57987"/>
                </a:solidFill>
              </a:defRPr>
            </a:pPr>
            <a:r>
              <a:rPr sz="750" b="0">
                <a:solidFill>
                  <a:srgbClr val="657987"/>
                </a:solidFill>
              </a:rPr>
              <a:t>项目背景 / 极简版</a:t>
            </a:r>
          </a:p>
        </p:txBody>
      </p:sp>
    </p:spTree>
    <p:extLst>
      <p:ext uri="{BB962C8B-B14F-4D97-AF65-F5344CB8AC3E}">
        <p14:creationId xmlns:p14="http://schemas.microsoft.com/office/powerpoint/2010/main" val="19276482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2026-06-24T13:25:09.5610000Z</dcterms:created>
  <dcterms:modified xsi:type="dcterms:W3CDTF">2026-06-24T13:25:09.5610000Z</dcterms:modified>
</coreProperties>
</file>