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6f83a0bd3c42bf" /><Relationship Type="http://schemas.openxmlformats.org/officeDocument/2006/relationships/extended-properties" Target="/docProps/app.xml" Id="Rb08695e59bee4960" /><Relationship Type="http://schemas.openxmlformats.org/officeDocument/2006/relationships/officeDocument" Target="/ppt/presentation.xml" Id="Ra63fd14962b649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6097cbd582407e"/>
  </p:sldMasterIdLst>
  <p:notesMasterIdLst>
    <p:notesMasterId xmlns:r="http://schemas.openxmlformats.org/officeDocument/2006/relationships" r:id="Rda34e3bc43b3446c"/>
  </p:notesMasterIdLst>
  <p:sldIdLst>
    <p:sldId xmlns:r="http://schemas.openxmlformats.org/officeDocument/2006/relationships" id="256" r:id="R59b64d1a0e48437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3ee80a6aeb4363" /><Relationship Type="http://schemas.openxmlformats.org/officeDocument/2006/relationships/slideMaster" Target="/ppt/slideMasters/slideMaster1.xml" Id="R5d6097cbd582407e" /><Relationship Type="http://schemas.openxmlformats.org/officeDocument/2006/relationships/notesMaster" Target="/ppt/notesMasters/notesMaster1.xml" Id="Rda34e3bc43b3446c" /><Relationship Type="http://schemas.openxmlformats.org/officeDocument/2006/relationships/presProps" Target="/ppt/presProps.xml" Id="R907856b3a92b479d" /><Relationship Type="http://schemas.openxmlformats.org/officeDocument/2006/relationships/tableStyles" Target="/ppt/tableStyles.xml" Id="R2a19d468d7e240e6" /><Relationship Type="http://schemas.openxmlformats.org/officeDocument/2006/relationships/slide" Target="/ppt/slides/slide1.xml" Id="R59b64d1a0e4843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9bf7affd9d4e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f6ec8a1c404bad" /><Relationship Type="http://schemas.openxmlformats.org/officeDocument/2006/relationships/notesMaster" Target="/ppt/notesMasters/notesMaster1.xml" Id="R30088a424d9d4b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19aa801cb547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c11c44a5e8456e" /><Relationship Type="http://schemas.openxmlformats.org/officeDocument/2006/relationships/slideLayout" Target="/ppt/slideLayouts/slideLayout1.xml" Id="R86c7d6f522bb49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c7d6f522bb49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ef47259054484" /><Relationship Type="http://schemas.openxmlformats.org/officeDocument/2006/relationships/notesSlide" Target="/ppt/notesSlides/notesSlide1.xml" Id="Rfc9dbfcfac244b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bar">
            <a:extLst xmlns:a="http://schemas.openxmlformats.org/drawingml/2006/main">
              <a:ext uri="{FF2B5EF4-FFF2-40B4-BE49-F238E27FC236}">
                <a16:creationId xmlns:a16="http://schemas.microsoft.com/office/drawing/2014/main" id="{7CC85502-7613-449F-820B-1A600EC5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" name="left-pale">
            <a:extLst xmlns:a="http://schemas.openxmlformats.org/drawingml/2006/main">
              <a:ext uri="{FF2B5EF4-FFF2-40B4-BE49-F238E27FC236}">
                <a16:creationId xmlns:a16="http://schemas.microsoft.com/office/drawing/2014/main" id="{922C985A-837F-4EDF-984C-34337C4E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952500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solidFill>
              <a:srgbClr val="F0F6F9"/>
            </a:solidFill>
            <a:prstDash val="solid"/>
          </a:ln>
        </p:spPr>
      </p:sp>
      <p:sp>
        <p:nvSpPr>
          <p:cNvPr id="3" name="cyan-strip">
            <a:extLst xmlns:a="http://schemas.openxmlformats.org/drawingml/2006/main">
              <a:ext uri="{FF2B5EF4-FFF2-40B4-BE49-F238E27FC236}">
                <a16:creationId xmlns:a16="http://schemas.microsoft.com/office/drawing/2014/main" id="{A1056AAF-82F7-432B-8A15-0ADF38A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"/>
            <a:ext cx="114300" cy="643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" name="brand-dot">
            <a:extLst xmlns:a="http://schemas.openxmlformats.org/drawingml/2006/main">
              <a:ext uri="{FF2B5EF4-FFF2-40B4-BE49-F238E27FC236}">
                <a16:creationId xmlns:a16="http://schemas.microsoft.com/office/drawing/2014/main" id="{011C14CB-442A-42D0-A0A7-B03BB46A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3825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brand">
            <a:extLst xmlns:a="http://schemas.openxmlformats.org/drawingml/2006/main">
              <a:ext uri="{FF2B5EF4-FFF2-40B4-BE49-F238E27FC236}">
                <a16:creationId xmlns:a16="http://schemas.microsoft.com/office/drawing/2014/main" id="{2B6E66C8-377A-41A3-8142-E11D9135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238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易方达基金</a:t>
            </a:r>
          </a:p>
        </p:txBody>
      </p:sp>
      <p:sp>
        <p:nvSpPr>
          <p:cNvPr id="6" name="cover-rule">
            <a:extLst xmlns:a="http://schemas.openxmlformats.org/drawingml/2006/main">
              <a:ext uri="{FF2B5EF4-FFF2-40B4-BE49-F238E27FC236}">
                <a16:creationId xmlns:a16="http://schemas.microsoft.com/office/drawing/2014/main" id="{7F167B15-35FD-4645-9656-59B5E529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2395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EB26603C-3FF0-4057-B6BA-6148296E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620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987"/>
                </a:solidFill>
              </a:defRPr>
            </a:pPr>
            <a:r>
              <a:rPr sz="1200" b="1">
                <a:solidFill>
                  <a:srgbClr val="657987"/>
                </a:solidFill>
              </a:rPr>
              <a:t>易方达基金 · 实习答辩</a:t>
            </a:r>
          </a:p>
        </p:txBody>
      </p:sp>
      <p:sp>
        <p:nvSpPr>
          <p:cNvPr id="8" name="title1">
            <a:extLst xmlns:a="http://schemas.openxmlformats.org/drawingml/2006/main">
              <a:ext uri="{FF2B5EF4-FFF2-40B4-BE49-F238E27FC236}">
                <a16:creationId xmlns:a16="http://schemas.microsoft.com/office/drawing/2014/main" id="{50D68E77-C4DA-4015-842E-695A2FA1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5737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59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63456"/>
                </a:solidFill>
              </a:defRPr>
            </a:pPr>
            <a:r>
              <a:rPr sz="3900" b="1">
                <a:solidFill>
                  <a:srgbClr val="063456"/>
                </a:solidFill>
              </a:rPr>
              <a:t>实习答辩</a:t>
            </a:r>
          </a:p>
        </p:txBody>
      </p:sp>
      <p:sp>
        <p:nvSpPr>
          <p:cNvPr id="9" name="title2">
            <a:extLst xmlns:a="http://schemas.openxmlformats.org/drawingml/2006/main">
              <a:ext uri="{FF2B5EF4-FFF2-40B4-BE49-F238E27FC236}">
                <a16:creationId xmlns:a16="http://schemas.microsoft.com/office/drawing/2014/main" id="{62393DAA-2765-4F32-A763-33F0CA66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098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508F"/>
                </a:solidFill>
              </a:defRPr>
            </a:pPr>
            <a:r>
              <a:rPr sz="2250" b="1">
                <a:solidFill>
                  <a:srgbClr val="00508F"/>
                </a:solidFill>
              </a:rPr>
              <a:t>证券投资申报材料智能处理项目</a:t>
            </a:r>
          </a:p>
        </p:txBody>
      </p:sp>
      <p:sp>
        <p:nvSpPr>
          <p:cNvPr id="10" name="subtitle">
            <a:extLst xmlns:a="http://schemas.openxmlformats.org/drawingml/2006/main">
              <a:ext uri="{FF2B5EF4-FFF2-40B4-BE49-F238E27FC236}">
                <a16:creationId xmlns:a16="http://schemas.microsoft.com/office/drawing/2014/main" id="{1755B17F-0942-43E1-AB83-49DA2EA7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A3446"/>
                </a:solidFill>
              </a:defRPr>
            </a:pPr>
            <a:r>
              <a:rPr sz="1425" b="0">
                <a:solidFill>
                  <a:srgbClr val="1A3446"/>
                </a:solidFill>
              </a:rPr>
              <a:t>材料结构化 · 证据链留痕 · 合规复核</a:t>
            </a:r>
          </a:p>
        </p:txBody>
      </p:sp>
      <p:sp>
        <p:nvSpPr>
          <p:cNvPr id="11" name="info-line">
            <a:extLst xmlns:a="http://schemas.openxmlformats.org/drawingml/2006/main">
              <a:ext uri="{FF2B5EF4-FFF2-40B4-BE49-F238E27FC236}">
                <a16:creationId xmlns:a16="http://schemas.microsoft.com/office/drawing/2014/main" id="{5EF50C8A-11AD-4A56-A730-B30536FF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404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12" name="date">
            <a:extLst xmlns:a="http://schemas.openxmlformats.org/drawingml/2006/main">
              <a:ext uri="{FF2B5EF4-FFF2-40B4-BE49-F238E27FC236}">
                <a16:creationId xmlns:a16="http://schemas.microsoft.com/office/drawing/2014/main" id="{B43A155E-D73B-4D40-B82F-0C932767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987"/>
                </a:solidFill>
              </a:defRPr>
            </a:pPr>
            <a:r>
              <a:rPr sz="1125" b="0">
                <a:solidFill>
                  <a:srgbClr val="657987"/>
                </a:solidFill>
              </a:rPr>
              <a:t>2026年6月</a:t>
            </a:r>
          </a:p>
        </p:txBody>
      </p:sp>
      <p:sp>
        <p:nvSpPr>
          <p:cNvPr id="13" name="confidential">
            <a:extLst xmlns:a="http://schemas.openxmlformats.org/drawingml/2006/main">
              <a:ext uri="{FF2B5EF4-FFF2-40B4-BE49-F238E27FC236}">
                <a16:creationId xmlns:a16="http://schemas.microsoft.com/office/drawing/2014/main" id="{AB477499-5DB4-46BE-A32C-E23F9EB5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987"/>
                </a:solidFill>
              </a:defRPr>
            </a:pPr>
            <a:r>
              <a:rPr sz="1125" b="0">
                <a:solidFill>
                  <a:srgbClr val="657987"/>
                </a:solidFill>
              </a:rPr>
              <a:t>内部交流，请勿外传</a:t>
            </a:r>
          </a:p>
        </p:txBody>
      </p:sp>
      <p:sp>
        <p:nvSpPr>
          <p:cNvPr id="14" name="visual-panel">
            <a:extLst xmlns:a="http://schemas.openxmlformats.org/drawingml/2006/main">
              <a:ext uri="{FF2B5EF4-FFF2-40B4-BE49-F238E27FC236}">
                <a16:creationId xmlns:a16="http://schemas.microsoft.com/office/drawing/2014/main" id="{DB0F0C6F-8DCD-4753-9D3A-A0278641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57300"/>
            <a:ext cx="3619500" cy="3857625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5" name="visual-accent">
            <a:extLst xmlns:a="http://schemas.openxmlformats.org/drawingml/2006/main">
              <a:ext uri="{FF2B5EF4-FFF2-40B4-BE49-F238E27FC236}">
                <a16:creationId xmlns:a16="http://schemas.microsoft.com/office/drawing/2014/main" id="{62983254-9957-4C39-BC60-95DF25CB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57300"/>
            <a:ext cx="6667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16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4CD62AF5-1B96-4D79-86C9-7EA6960C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600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456"/>
                </a:solidFill>
              </a:defRPr>
            </a:pPr>
            <a:r>
              <a:rPr sz="1425" b="1">
                <a:solidFill>
                  <a:srgbClr val="063456"/>
                </a:solidFill>
              </a:rPr>
              <a:t>实习项目主线</a:t>
            </a:r>
          </a:p>
        </p:txBody>
      </p:sp>
      <p:sp>
        <p:nvSpPr>
          <p:cNvPr id="17" name="visual-note">
            <a:extLst xmlns:a="http://schemas.openxmlformats.org/drawingml/2006/main">
              <a:ext uri="{FF2B5EF4-FFF2-40B4-BE49-F238E27FC236}">
                <a16:creationId xmlns:a16="http://schemas.microsoft.com/office/drawing/2014/main" id="{9256F4C4-A47A-41FD-BA3F-7AD79FD1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240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987"/>
                </a:solidFill>
              </a:defRPr>
            </a:pPr>
            <a:r>
              <a:rPr sz="975" b="0">
                <a:solidFill>
                  <a:srgbClr val="657987"/>
                </a:solidFill>
              </a:rPr>
              <a:t>围绕投资申报材料处理与合规复核展开</a:t>
            </a:r>
          </a:p>
        </p:txBody>
      </p:sp>
      <p:sp>
        <p:nvSpPr>
          <p:cNvPr id="18" name="mini-券商材料">
            <a:extLst xmlns:a="http://schemas.openxmlformats.org/drawingml/2006/main">
              <a:ext uri="{FF2B5EF4-FFF2-40B4-BE49-F238E27FC236}">
                <a16:creationId xmlns:a16="http://schemas.microsoft.com/office/drawing/2014/main" id="{E3670877-F283-422F-8673-AD08FEFB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52700"/>
            <a:ext cx="10668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00508F"/>
            </a:solidFill>
            <a:prstDash val="solid"/>
          </a:ln>
        </p:spPr>
      </p:sp>
      <p:sp>
        <p:nvSpPr>
          <p:cNvPr id="19" name="mini-text-券商材料">
            <a:extLst xmlns:a="http://schemas.openxmlformats.org/drawingml/2006/main">
              <a:ext uri="{FF2B5EF4-FFF2-40B4-BE49-F238E27FC236}">
                <a16:creationId xmlns:a16="http://schemas.microsoft.com/office/drawing/2014/main" id="{40862A60-A284-4048-B8AE-BAA108F2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95575"/>
            <a:ext cx="876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508F"/>
                </a:solidFill>
              </a:defRPr>
            </a:pPr>
            <a:r>
              <a:rPr sz="975" b="1">
                <a:solidFill>
                  <a:srgbClr val="00508F"/>
                </a:solidFill>
              </a:rPr>
              <a:t>券商材料</a:t>
            </a:r>
          </a:p>
        </p:txBody>
      </p:sp>
      <p:sp>
        <p:nvSpPr>
          <p:cNvPr id="20" name="mini-中证登材料">
            <a:extLst xmlns:a="http://schemas.openxmlformats.org/drawingml/2006/main">
              <a:ext uri="{FF2B5EF4-FFF2-40B4-BE49-F238E27FC236}">
                <a16:creationId xmlns:a16="http://schemas.microsoft.com/office/drawing/2014/main" id="{CC8ADADA-4A4B-46A7-B6D0-A7BC94FF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52700"/>
            <a:ext cx="11811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21" name="mini-text-中证登材料">
            <a:extLst xmlns:a="http://schemas.openxmlformats.org/drawingml/2006/main">
              <a:ext uri="{FF2B5EF4-FFF2-40B4-BE49-F238E27FC236}">
                <a16:creationId xmlns:a16="http://schemas.microsoft.com/office/drawing/2014/main" id="{7493B838-299A-45D4-BA85-B254C548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95575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8B57"/>
                </a:solidFill>
              </a:defRPr>
            </a:pPr>
            <a:r>
              <a:rPr sz="975" b="1">
                <a:solidFill>
                  <a:srgbClr val="2E8B57"/>
                </a:solidFill>
              </a:rPr>
              <a:t>中证登材料</a:t>
            </a:r>
          </a:p>
        </p:txBody>
      </p:sp>
      <p:sp>
        <p:nvSpPr>
          <p:cNvPr id="22" name="arr1">
            <a:extLst xmlns:a="http://schemas.openxmlformats.org/drawingml/2006/main">
              <a:ext uri="{FF2B5EF4-FFF2-40B4-BE49-F238E27FC236}">
                <a16:creationId xmlns:a16="http://schemas.microsoft.com/office/drawing/2014/main" id="{67B77748-EBA4-43DE-BBAA-720AA4F8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051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508F"/>
                </a:solidFill>
              </a:defRPr>
            </a:pPr>
            <a:r>
              <a:rPr sz="1800" b="1">
                <a:solidFill>
                  <a:srgbClr val="00508F"/>
                </a:solidFill>
              </a:rPr>
              <a:t>↓</a:t>
            </a:r>
          </a:p>
        </p:txBody>
      </p:sp>
      <p:sp>
        <p:nvSpPr>
          <p:cNvPr id="23" name="arr2">
            <a:extLst xmlns:a="http://schemas.openxmlformats.org/drawingml/2006/main">
              <a:ext uri="{FF2B5EF4-FFF2-40B4-BE49-F238E27FC236}">
                <a16:creationId xmlns:a16="http://schemas.microsoft.com/office/drawing/2014/main" id="{2C6BE065-4B1B-4AE1-80A1-5262277B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051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8B57"/>
                </a:solidFill>
              </a:defRPr>
            </a:pPr>
            <a:r>
              <a:rPr sz="1800" b="1">
                <a:solidFill>
                  <a:srgbClr val="2E8B57"/>
                </a:solidFill>
              </a:rPr>
              <a:t>↓</a:t>
            </a:r>
          </a:p>
        </p:txBody>
      </p:sp>
      <p:sp>
        <p:nvSpPr>
          <p:cNvPr id="24" name="process">
            <a:extLst xmlns:a="http://schemas.openxmlformats.org/drawingml/2006/main">
              <a:ext uri="{FF2B5EF4-FFF2-40B4-BE49-F238E27FC236}">
                <a16:creationId xmlns:a16="http://schemas.microsoft.com/office/drawing/2014/main" id="{2667CDA1-7B4F-43CA-AA82-B7366061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57575"/>
            <a:ext cx="20574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508F"/>
            </a:solidFill>
            <a:prstDash val="solid"/>
          </a:ln>
        </p:spPr>
      </p:sp>
      <p:sp>
        <p:nvSpPr>
          <p:cNvPr id="25" name="process-text">
            <a:extLst xmlns:a="http://schemas.openxmlformats.org/drawingml/2006/main">
              <a:ext uri="{FF2B5EF4-FFF2-40B4-BE49-F238E27FC236}">
                <a16:creationId xmlns:a16="http://schemas.microsoft.com/office/drawing/2014/main" id="{9C591868-C778-4FE3-B547-52FEA0AE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29025"/>
            <a:ext cx="1866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08F"/>
                </a:solidFill>
              </a:defRPr>
            </a:pPr>
            <a:r>
              <a:rPr sz="1275" b="1">
                <a:solidFill>
                  <a:srgbClr val="00508F"/>
                </a:solidFill>
              </a:rPr>
              <a:t>AI 结构化处理</a:t>
            </a:r>
          </a:p>
        </p:txBody>
      </p:sp>
      <p:sp>
        <p:nvSpPr>
          <p:cNvPr id="26" name="arr3">
            <a:extLst xmlns:a="http://schemas.openxmlformats.org/drawingml/2006/main">
              <a:ext uri="{FF2B5EF4-FFF2-40B4-BE49-F238E27FC236}">
                <a16:creationId xmlns:a16="http://schemas.microsoft.com/office/drawing/2014/main" id="{821C3C7E-27BE-414F-BA9E-6DAB500E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14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508F"/>
                </a:solidFill>
              </a:defRPr>
            </a:pPr>
            <a:r>
              <a:rPr sz="1800" b="1">
                <a:solidFill>
                  <a:srgbClr val="00508F"/>
                </a:solidFill>
              </a:rPr>
              <a:t>↓</a:t>
            </a:r>
          </a:p>
        </p:txBody>
      </p:sp>
      <p:sp>
        <p:nvSpPr>
          <p:cNvPr id="27" name="mini-申报表 / 问题清单">
            <a:extLst xmlns:a="http://schemas.openxmlformats.org/drawingml/2006/main">
              <a:ext uri="{FF2B5EF4-FFF2-40B4-BE49-F238E27FC236}">
                <a16:creationId xmlns:a16="http://schemas.microsoft.com/office/drawing/2014/main" id="{C9C6A21D-70E2-4279-ADB8-8F39EFE9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57700"/>
            <a:ext cx="25336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E17A22"/>
            </a:solidFill>
            <a:prstDash val="solid"/>
          </a:ln>
        </p:spPr>
      </p:sp>
      <p:sp>
        <p:nvSpPr>
          <p:cNvPr id="28" name="mini-text-申报表 / 问题清单">
            <a:extLst xmlns:a="http://schemas.openxmlformats.org/drawingml/2006/main">
              <a:ext uri="{FF2B5EF4-FFF2-40B4-BE49-F238E27FC236}">
                <a16:creationId xmlns:a16="http://schemas.microsoft.com/office/drawing/2014/main" id="{29321348-BB0C-4F13-8970-E86CB5C4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00575"/>
            <a:ext cx="23431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17A22"/>
                </a:solidFill>
              </a:defRPr>
            </a:pPr>
            <a:r>
              <a:rPr sz="975" b="1">
                <a:solidFill>
                  <a:srgbClr val="E17A22"/>
                </a:solidFill>
              </a:rPr>
              <a:t>申报表 / 问题清单</a:t>
            </a:r>
          </a:p>
        </p:txBody>
      </p:sp>
      <p:sp>
        <p:nvSpPr>
          <p:cNvPr id="29" name="bottom-line">
            <a:extLst xmlns:a="http://schemas.openxmlformats.org/drawingml/2006/main">
              <a:ext uri="{FF2B5EF4-FFF2-40B4-BE49-F238E27FC236}">
                <a16:creationId xmlns:a16="http://schemas.microsoft.com/office/drawing/2014/main" id="{1F721130-FF0E-472A-8C70-E4821198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5315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ECB7E0FC-534A-4B1E-9EE3-CEE85E47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055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987"/>
                </a:solidFill>
              </a:defRPr>
            </a:pPr>
            <a:r>
              <a:rPr sz="825" b="0">
                <a:solidFill>
                  <a:srgbClr val="657987"/>
                </a:solidFill>
              </a:rPr>
              <a:t>实习答辩 · 证券投资申报材料智能处理项目</a:t>
            </a:r>
          </a:p>
        </p:txBody>
      </p:sp>
    </p:spTree>
    <p:extLst>
      <p:ext uri="{BB962C8B-B14F-4D97-AF65-F5344CB8AC3E}">
        <p14:creationId xmlns:p14="http://schemas.microsoft.com/office/powerpoint/2010/main" val="7814352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2026-06-25T05:54:37.5300000Z</dcterms:created>
  <dcterms:modified xsi:type="dcterms:W3CDTF">2026-06-25T05:54:37.5300000Z</dcterms:modified>
</coreProperties>
</file>