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a2e703d3514cec" /><Relationship Type="http://schemas.openxmlformats.org/officeDocument/2006/relationships/extended-properties" Target="/docProps/app.xml" Id="R97dca5fc19e04ee6" /><Relationship Type="http://schemas.openxmlformats.org/officeDocument/2006/relationships/officeDocument" Target="/ppt/presentation.xml" Id="Rb004fd35ea394d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ba1e288fc7f42cd"/>
  </p:sldMasterIdLst>
  <p:notesMasterIdLst>
    <p:notesMasterId xmlns:r="http://schemas.openxmlformats.org/officeDocument/2006/relationships" r:id="Ra228361f43ba42ec"/>
  </p:notesMasterIdLst>
  <p:sldIdLst>
    <p:sldId xmlns:r="http://schemas.openxmlformats.org/officeDocument/2006/relationships" id="256" r:id="R94a88062d59d4df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5563fe21004867" /><Relationship Type="http://schemas.openxmlformats.org/officeDocument/2006/relationships/slideMaster" Target="/ppt/slideMasters/slideMaster1.xml" Id="R0ba1e288fc7f42cd" /><Relationship Type="http://schemas.openxmlformats.org/officeDocument/2006/relationships/notesMaster" Target="/ppt/notesMasters/notesMaster1.xml" Id="Ra228361f43ba42ec" /><Relationship Type="http://schemas.openxmlformats.org/officeDocument/2006/relationships/presProps" Target="/ppt/presProps.xml" Id="R34feb1cb73144d18" /><Relationship Type="http://schemas.openxmlformats.org/officeDocument/2006/relationships/tableStyles" Target="/ppt/tableStyles.xml" Id="R4eb9406a724a4145" /><Relationship Type="http://schemas.openxmlformats.org/officeDocument/2006/relationships/slide" Target="/ppt/slides/slide1.xml" Id="R94a88062d59d4d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29be9c7f444c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f3b79412eb44f8" /><Relationship Type="http://schemas.openxmlformats.org/officeDocument/2006/relationships/notesMaster" Target="/ppt/notesMasters/notesMaster1.xml" Id="R2686719754054a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01cdabbac944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285b7475484a31" /><Relationship Type="http://schemas.openxmlformats.org/officeDocument/2006/relationships/slideLayout" Target="/ppt/slideLayouts/slideLayout1.xml" Id="Rb43dd50dc61e42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3dd50dc61e42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6f529945264f6a" /><Relationship Type="http://schemas.openxmlformats.org/officeDocument/2006/relationships/notesSlide" Target="/ppt/notesSlides/notesSlide1.xml" Id="Rd6eea8d5b5c548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bar">
            <a:extLst xmlns:a="http://schemas.openxmlformats.org/drawingml/2006/main">
              <a:ext uri="{FF2B5EF4-FFF2-40B4-BE49-F238E27FC236}">
                <a16:creationId xmlns:a16="http://schemas.microsoft.com/office/drawing/2014/main" id="{2C6BC3E4-8621-4151-8B43-8F82083D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2" name="left-pale">
            <a:extLst xmlns:a="http://schemas.openxmlformats.org/drawingml/2006/main">
              <a:ext uri="{FF2B5EF4-FFF2-40B4-BE49-F238E27FC236}">
                <a16:creationId xmlns:a16="http://schemas.microsoft.com/office/drawing/2014/main" id="{A4FDC796-F694-4787-AA8A-141E7363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525"/>
            <a:ext cx="9525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solidFill>
              <a:srgbClr val="F0F6F9"/>
            </a:solidFill>
            <a:prstDash val="solid"/>
          </a:ln>
        </p:spPr>
      </p:sp>
      <p:sp>
        <p:nvSpPr>
          <p:cNvPr id="3" name="cyan-strip">
            <a:extLst xmlns:a="http://schemas.openxmlformats.org/drawingml/2006/main">
              <a:ext uri="{FF2B5EF4-FFF2-40B4-BE49-F238E27FC236}">
                <a16:creationId xmlns:a16="http://schemas.microsoft.com/office/drawing/2014/main" id="{20F145A4-AD83-432F-B446-7300252F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"/>
            <a:ext cx="1143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4" name="brand-dot">
            <a:extLst xmlns:a="http://schemas.openxmlformats.org/drawingml/2006/main">
              <a:ext uri="{FF2B5EF4-FFF2-40B4-BE49-F238E27FC236}">
                <a16:creationId xmlns:a16="http://schemas.microsoft.com/office/drawing/2014/main" id="{D3A071EB-2559-41FD-890B-85EC3A03B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4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30BF984C-7536-4DDA-85DC-2AA5C397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239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987"/>
                </a:solidFill>
              </a:defRPr>
            </a:pPr>
            <a:r>
              <a:rPr sz="1125" b="1">
                <a:solidFill>
                  <a:srgbClr val="657987"/>
                </a:solidFill>
              </a:rPr>
              <a:t>项目问题与挑战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BCE273E1-FAE2-4F04-989A-AB613387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00125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63456"/>
                </a:solidFill>
              </a:defRPr>
            </a:pPr>
            <a:r>
              <a:rPr sz="2250" b="1">
                <a:solidFill>
                  <a:srgbClr val="063456"/>
                </a:solidFill>
              </a:rPr>
              <a:t>问题二：业务类型复杂，交易、持仓与资金流水混在一起</a:t>
            </a:r>
          </a:p>
        </p:txBody>
      </p:sp>
      <p:sp>
        <p:nvSpPr>
          <p:cNvPr id="7" name="title-rule">
            <a:extLst xmlns:a="http://schemas.openxmlformats.org/drawingml/2006/main">
              <a:ext uri="{FF2B5EF4-FFF2-40B4-BE49-F238E27FC236}">
                <a16:creationId xmlns:a16="http://schemas.microsoft.com/office/drawing/2014/main" id="{452ED94F-A274-4528-A350-F17B03FA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38275"/>
            <a:ext cx="10020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8" name="badge">
            <a:extLst xmlns:a="http://schemas.openxmlformats.org/drawingml/2006/main">
              <a:ext uri="{FF2B5EF4-FFF2-40B4-BE49-F238E27FC236}">
                <a16:creationId xmlns:a16="http://schemas.microsoft.com/office/drawing/2014/main" id="{FFC85BD4-B052-4EC1-84A8-6D07C83C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52500"/>
            <a:ext cx="16002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0C187"/>
            </a:solidFill>
            <a:prstDash val="solid"/>
          </a:ln>
        </p:spPr>
      </p:sp>
      <p:sp>
        <p:nvSpPr>
          <p:cNvPr id="9" name="badge-accent">
            <a:extLst xmlns:a="http://schemas.openxmlformats.org/drawingml/2006/main">
              <a:ext uri="{FF2B5EF4-FFF2-40B4-BE49-F238E27FC236}">
                <a16:creationId xmlns:a16="http://schemas.microsoft.com/office/drawing/2014/main" id="{EEF8772D-B6CC-4120-A76E-C86D73312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5250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10" name="badge-text">
            <a:extLst xmlns:a="http://schemas.openxmlformats.org/drawingml/2006/main">
              <a:ext uri="{FF2B5EF4-FFF2-40B4-BE49-F238E27FC236}">
                <a16:creationId xmlns:a16="http://schemas.microsoft.com/office/drawing/2014/main" id="{614C0803-2E5F-4A4A-A77F-0883F346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0477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17A22"/>
                </a:solidFill>
              </a:defRPr>
            </a:pPr>
            <a:r>
              <a:rPr sz="975" b="1">
                <a:solidFill>
                  <a:srgbClr val="E17A22"/>
                </a:solidFill>
              </a:rPr>
              <a:t>风险 / 问题</a:t>
            </a:r>
          </a:p>
        </p:txBody>
      </p:sp>
      <p:sp>
        <p:nvSpPr>
          <p:cNvPr id="11" name="lead">
            <a:extLst xmlns:a="http://schemas.openxmlformats.org/drawingml/2006/main">
              <a:ext uri="{FF2B5EF4-FFF2-40B4-BE49-F238E27FC236}">
                <a16:creationId xmlns:a16="http://schemas.microsoft.com/office/drawing/2014/main" id="{D9D9BA85-C6EB-4CAA-BFB9-4B031D28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28775"/>
            <a:ext cx="10020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A3446"/>
                </a:solidFill>
              </a:defRPr>
            </a:pPr>
            <a:r>
              <a:rPr sz="1350" b="0">
                <a:solidFill>
                  <a:srgbClr val="1A3446"/>
                </a:solidFill>
              </a:rPr>
              <a:t>证券材料并不是标准化交易清单。同一文件中可能同时出现买卖交易、权益变动、持仓变化和资金流水，且不同材料对同类业务的字段和名称并不一致。</a:t>
            </a:r>
          </a:p>
        </p:txBody>
      </p:sp>
      <p:sp>
        <p:nvSpPr>
          <p:cNvPr id="12" name="section-问题来源：多类记录混杂">
            <a:extLst xmlns:a="http://schemas.openxmlformats.org/drawingml/2006/main">
              <a:ext uri="{FF2B5EF4-FFF2-40B4-BE49-F238E27FC236}">
                <a16:creationId xmlns:a16="http://schemas.microsoft.com/office/drawing/2014/main" id="{07F13147-FFE4-4A9A-ACD4-F6B8EC87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00250"/>
            <a:ext cx="2428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问题来源：多类记录混杂</a:t>
            </a:r>
          </a:p>
        </p:txBody>
      </p:sp>
      <p:sp>
        <p:nvSpPr>
          <p:cNvPr id="13" name="section-rule-问题来源：多类记录混杂">
            <a:extLst xmlns:a="http://schemas.openxmlformats.org/drawingml/2006/main">
              <a:ext uri="{FF2B5EF4-FFF2-40B4-BE49-F238E27FC236}">
                <a16:creationId xmlns:a16="http://schemas.microsoft.com/office/drawing/2014/main" id="{242665A7-E353-4B0F-86AF-078F8F4F0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95525"/>
            <a:ext cx="2428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14" name="left-panel">
            <a:extLst xmlns:a="http://schemas.openxmlformats.org/drawingml/2006/main">
              <a:ext uri="{FF2B5EF4-FFF2-40B4-BE49-F238E27FC236}">
                <a16:creationId xmlns:a16="http://schemas.microsoft.com/office/drawing/2014/main" id="{A6A9D991-1829-4CA6-AB03-90189CAF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62200"/>
            <a:ext cx="2495550" cy="2952750"/>
          </a:xfrm>
          <a:prstGeom xmlns:a="http://schemas.openxmlformats.org/drawingml/2006/main" prst="roundRect">
            <a:avLst>
              <a:gd name="adj" fmla="val 2290"/>
            </a:avLst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5" name="cat-交易 / 持仓">
            <a:extLst xmlns:a="http://schemas.openxmlformats.org/drawingml/2006/main">
              <a:ext uri="{FF2B5EF4-FFF2-40B4-BE49-F238E27FC236}">
                <a16:creationId xmlns:a16="http://schemas.microsoft.com/office/drawing/2014/main" id="{ABD300B4-F8D5-4F4F-A7E3-AF9FC53B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90800"/>
            <a:ext cx="21145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6" name="cat-accent-交易 / 持仓">
            <a:extLst xmlns:a="http://schemas.openxmlformats.org/drawingml/2006/main">
              <a:ext uri="{FF2B5EF4-FFF2-40B4-BE49-F238E27FC236}">
                <a16:creationId xmlns:a16="http://schemas.microsoft.com/office/drawing/2014/main" id="{73842594-6FFE-4504-9A0B-F6A975A9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908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17" name="cat-tag-交易 / 持仓">
            <a:extLst xmlns:a="http://schemas.openxmlformats.org/drawingml/2006/main">
              <a:ext uri="{FF2B5EF4-FFF2-40B4-BE49-F238E27FC236}">
                <a16:creationId xmlns:a16="http://schemas.microsoft.com/office/drawing/2014/main" id="{EF9BFD37-B721-4B33-BA4B-79B57B20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733675"/>
            <a:ext cx="876300" cy="228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00508F"/>
            </a:solidFill>
            <a:prstDash val="solid"/>
          </a:ln>
        </p:spPr>
      </p:sp>
      <p:sp>
        <p:nvSpPr>
          <p:cNvPr id="18" name="cat-tag-text-交易 / 持仓">
            <a:extLst xmlns:a="http://schemas.openxmlformats.org/drawingml/2006/main">
              <a:ext uri="{FF2B5EF4-FFF2-40B4-BE49-F238E27FC236}">
                <a16:creationId xmlns:a16="http://schemas.microsoft.com/office/drawing/2014/main" id="{2758239C-203A-4DEA-8520-DD59C6E2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781300"/>
            <a:ext cx="762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508F"/>
                </a:solidFill>
              </a:defRPr>
            </a:pPr>
            <a:r>
              <a:rPr sz="825" b="1">
                <a:solidFill>
                  <a:srgbClr val="00508F"/>
                </a:solidFill>
              </a:rPr>
              <a:t>交易 / 持仓</a:t>
            </a:r>
          </a:p>
        </p:txBody>
      </p:sp>
      <p:sp>
        <p:nvSpPr>
          <p:cNvPr id="19" name="cat-examples-交易 / 持仓">
            <a:extLst xmlns:a="http://schemas.openxmlformats.org/drawingml/2006/main">
              <a:ext uri="{FF2B5EF4-FFF2-40B4-BE49-F238E27FC236}">
                <a16:creationId xmlns:a16="http://schemas.microsoft.com/office/drawing/2014/main" id="{DB135160-1AF5-47AC-925E-E626D7786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038475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3456"/>
                </a:solidFill>
              </a:defRPr>
            </a:pPr>
            <a:r>
              <a:rPr sz="1050" b="1">
                <a:solidFill>
                  <a:srgbClr val="063456"/>
                </a:solidFill>
              </a:rPr>
              <a:t>买入、卖出、打新、配股</a:t>
            </a:r>
          </a:p>
        </p:txBody>
      </p:sp>
      <p:sp>
        <p:nvSpPr>
          <p:cNvPr id="20" name="cat-note-交易 / 持仓">
            <a:extLst xmlns:a="http://schemas.openxmlformats.org/drawingml/2006/main">
              <a:ext uri="{FF2B5EF4-FFF2-40B4-BE49-F238E27FC236}">
                <a16:creationId xmlns:a16="http://schemas.microsoft.com/office/drawing/2014/main" id="{E0EE7036-0066-4A01-A704-A5851BD5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248025"/>
            <a:ext cx="1771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987"/>
                </a:solidFill>
              </a:defRPr>
            </a:pPr>
            <a:r>
              <a:rPr sz="825" b="0">
                <a:solidFill>
                  <a:srgbClr val="657987"/>
                </a:solidFill>
              </a:rPr>
              <a:t>可能直接改变证券持仓</a:t>
            </a:r>
          </a:p>
        </p:txBody>
      </p:sp>
      <p:sp>
        <p:nvSpPr>
          <p:cNvPr id="21" name="cat-权益 / 收益">
            <a:extLst xmlns:a="http://schemas.openxmlformats.org/drawingml/2006/main">
              <a:ext uri="{FF2B5EF4-FFF2-40B4-BE49-F238E27FC236}">
                <a16:creationId xmlns:a16="http://schemas.microsoft.com/office/drawing/2014/main" id="{D5654B00-2071-4350-B6FC-C7F9FD6F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19475"/>
            <a:ext cx="21145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22" name="cat-accent-权益 / 收益">
            <a:extLst xmlns:a="http://schemas.openxmlformats.org/drawingml/2006/main">
              <a:ext uri="{FF2B5EF4-FFF2-40B4-BE49-F238E27FC236}">
                <a16:creationId xmlns:a16="http://schemas.microsoft.com/office/drawing/2014/main" id="{5532F470-9202-4E29-9C91-AC3DBAAE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19475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23" name="cat-tag-权益 / 收益">
            <a:extLst xmlns:a="http://schemas.openxmlformats.org/drawingml/2006/main">
              <a:ext uri="{FF2B5EF4-FFF2-40B4-BE49-F238E27FC236}">
                <a16:creationId xmlns:a16="http://schemas.microsoft.com/office/drawing/2014/main" id="{CB7BCA79-0AED-4367-A668-F607B475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62350"/>
            <a:ext cx="876300" cy="228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</p:sp>
      <p:sp>
        <p:nvSpPr>
          <p:cNvPr id="24" name="cat-tag-text-权益 / 收益">
            <a:extLst xmlns:a="http://schemas.openxmlformats.org/drawingml/2006/main">
              <a:ext uri="{FF2B5EF4-FFF2-40B4-BE49-F238E27FC236}">
                <a16:creationId xmlns:a16="http://schemas.microsoft.com/office/drawing/2014/main" id="{5EC28C87-E994-4A92-8DBD-0BE3A3C8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609975"/>
            <a:ext cx="762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8B57"/>
                </a:solidFill>
              </a:defRPr>
            </a:pPr>
            <a:r>
              <a:rPr sz="825" b="1">
                <a:solidFill>
                  <a:srgbClr val="2E8B57"/>
                </a:solidFill>
              </a:rPr>
              <a:t>权益 / 收益</a:t>
            </a:r>
          </a:p>
        </p:txBody>
      </p:sp>
      <p:sp>
        <p:nvSpPr>
          <p:cNvPr id="25" name="cat-examples-权益 / 收益">
            <a:extLst xmlns:a="http://schemas.openxmlformats.org/drawingml/2006/main">
              <a:ext uri="{FF2B5EF4-FFF2-40B4-BE49-F238E27FC236}">
                <a16:creationId xmlns:a16="http://schemas.microsoft.com/office/drawing/2014/main" id="{7454FC79-C607-4FB4-B9C3-5FFEDE9D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867150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3456"/>
                </a:solidFill>
              </a:defRPr>
            </a:pPr>
            <a:r>
              <a:rPr sz="1050" b="1">
                <a:solidFill>
                  <a:srgbClr val="063456"/>
                </a:solidFill>
              </a:rPr>
              <a:t>分红、派息、送股、转增</a:t>
            </a:r>
          </a:p>
        </p:txBody>
      </p:sp>
      <p:sp>
        <p:nvSpPr>
          <p:cNvPr id="26" name="cat-note-权益 / 收益">
            <a:extLst xmlns:a="http://schemas.openxmlformats.org/drawingml/2006/main">
              <a:ext uri="{FF2B5EF4-FFF2-40B4-BE49-F238E27FC236}">
                <a16:creationId xmlns:a16="http://schemas.microsoft.com/office/drawing/2014/main" id="{47DB9E28-FA66-4E30-8547-BF85E5D8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76700"/>
            <a:ext cx="1771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987"/>
                </a:solidFill>
              </a:defRPr>
            </a:pPr>
            <a:r>
              <a:rPr sz="825" b="0">
                <a:solidFill>
                  <a:srgbClr val="657987"/>
                </a:solidFill>
              </a:rPr>
              <a:t>与证券相关，但不一定是买卖</a:t>
            </a:r>
          </a:p>
        </p:txBody>
      </p:sp>
      <p:sp>
        <p:nvSpPr>
          <p:cNvPr id="27" name="cat-资金流水">
            <a:extLst xmlns:a="http://schemas.openxmlformats.org/drawingml/2006/main">
              <a:ext uri="{FF2B5EF4-FFF2-40B4-BE49-F238E27FC236}">
                <a16:creationId xmlns:a16="http://schemas.microsoft.com/office/drawing/2014/main" id="{5B80CA33-3317-429C-AF1D-5E073019F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48150"/>
            <a:ext cx="21145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28" name="cat-accent-资金流水">
            <a:extLst xmlns:a="http://schemas.openxmlformats.org/drawingml/2006/main">
              <a:ext uri="{FF2B5EF4-FFF2-40B4-BE49-F238E27FC236}">
                <a16:creationId xmlns:a16="http://schemas.microsoft.com/office/drawing/2014/main" id="{CBEBEAF6-EB60-4954-B63E-E5555B97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4815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29" name="cat-tag-资金流水">
            <a:extLst xmlns:a="http://schemas.openxmlformats.org/drawingml/2006/main">
              <a:ext uri="{FF2B5EF4-FFF2-40B4-BE49-F238E27FC236}">
                <a16:creationId xmlns:a16="http://schemas.microsoft.com/office/drawing/2014/main" id="{951BA491-E83C-4943-9419-4D94AB8F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391025"/>
            <a:ext cx="876300" cy="228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E17A22"/>
            </a:solidFill>
            <a:prstDash val="solid"/>
          </a:ln>
        </p:spPr>
      </p:sp>
      <p:sp>
        <p:nvSpPr>
          <p:cNvPr id="30" name="cat-tag-text-资金流水">
            <a:extLst xmlns:a="http://schemas.openxmlformats.org/drawingml/2006/main">
              <a:ext uri="{FF2B5EF4-FFF2-40B4-BE49-F238E27FC236}">
                <a16:creationId xmlns:a16="http://schemas.microsoft.com/office/drawing/2014/main" id="{7C6A4A75-100A-4CB9-A106-8A735E4B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438650"/>
            <a:ext cx="762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17A22"/>
                </a:solidFill>
              </a:defRPr>
            </a:pPr>
            <a:r>
              <a:rPr sz="825" b="1">
                <a:solidFill>
                  <a:srgbClr val="E17A22"/>
                </a:solidFill>
              </a:rPr>
              <a:t>资金流水</a:t>
            </a:r>
          </a:p>
        </p:txBody>
      </p:sp>
      <p:sp>
        <p:nvSpPr>
          <p:cNvPr id="31" name="cat-examples-资金流水">
            <a:extLst xmlns:a="http://schemas.openxmlformats.org/drawingml/2006/main">
              <a:ext uri="{FF2B5EF4-FFF2-40B4-BE49-F238E27FC236}">
                <a16:creationId xmlns:a16="http://schemas.microsoft.com/office/drawing/2014/main" id="{FF971D0B-B877-4366-BE08-DD923F6A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695825"/>
            <a:ext cx="1771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911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3456"/>
                </a:solidFill>
              </a:defRPr>
            </a:pPr>
            <a:r>
              <a:rPr sz="1050" b="1">
                <a:solidFill>
                  <a:srgbClr val="063456"/>
                </a:solidFill>
              </a:rPr>
              <a:t>银证转账、费用扣划、利息归本</a:t>
            </a:r>
          </a:p>
        </p:txBody>
      </p:sp>
      <p:sp>
        <p:nvSpPr>
          <p:cNvPr id="32" name="cat-note-资金流水">
            <a:extLst xmlns:a="http://schemas.openxmlformats.org/drawingml/2006/main">
              <a:ext uri="{FF2B5EF4-FFF2-40B4-BE49-F238E27FC236}">
                <a16:creationId xmlns:a16="http://schemas.microsoft.com/office/drawing/2014/main" id="{FBC3E768-D794-4F8D-BE1A-416E437E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905375"/>
            <a:ext cx="1771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987"/>
                </a:solidFill>
              </a:defRPr>
            </a:pPr>
            <a:r>
              <a:rPr sz="825" b="0">
                <a:solidFill>
                  <a:srgbClr val="657987"/>
                </a:solidFill>
              </a:rPr>
              <a:t>容易与交易流水混在同一表内</a:t>
            </a:r>
          </a:p>
        </p:txBody>
      </p:sp>
      <p:sp>
        <p:nvSpPr>
          <p:cNvPr id="33" name="section-材料展示：字段相似，但业务含义不同">
            <a:extLst xmlns:a="http://schemas.openxmlformats.org/drawingml/2006/main">
              <a:ext uri="{FF2B5EF4-FFF2-40B4-BE49-F238E27FC236}">
                <a16:creationId xmlns:a16="http://schemas.microsoft.com/office/drawing/2014/main" id="{7E326CBD-0CED-4537-9609-0E182A60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0250"/>
            <a:ext cx="483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材料展示：字段相似，但业务含义不同</a:t>
            </a:r>
          </a:p>
        </p:txBody>
      </p:sp>
      <p:sp>
        <p:nvSpPr>
          <p:cNvPr id="34" name="section-rule-材料展示：字段相似，但业务含义不同">
            <a:extLst xmlns:a="http://schemas.openxmlformats.org/drawingml/2006/main">
              <a:ext uri="{FF2B5EF4-FFF2-40B4-BE49-F238E27FC236}">
                <a16:creationId xmlns:a16="http://schemas.microsoft.com/office/drawing/2014/main" id="{146D6CB1-3E52-47B7-A8C1-56AE1A263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295525"/>
            <a:ext cx="4838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35" name="table-panel">
            <a:extLst xmlns:a="http://schemas.openxmlformats.org/drawingml/2006/main">
              <a:ext uri="{FF2B5EF4-FFF2-40B4-BE49-F238E27FC236}">
                <a16:creationId xmlns:a16="http://schemas.microsoft.com/office/drawing/2014/main" id="{AD641F46-6BD2-4E66-B448-2F097895F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62200"/>
            <a:ext cx="4838700" cy="2952750"/>
          </a:xfrm>
          <a:prstGeom xmlns:a="http://schemas.openxmlformats.org/drawingml/2006/main" prst="roundRect">
            <a:avLst>
              <a:gd name="adj" fmla="val 19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36" name="table-caption">
            <a:extLst xmlns:a="http://schemas.openxmlformats.org/drawingml/2006/main">
              <a:ext uri="{FF2B5EF4-FFF2-40B4-BE49-F238E27FC236}">
                <a16:creationId xmlns:a16="http://schemas.microsoft.com/office/drawing/2014/main" id="{09C668E7-3D07-43AC-B37C-A8D3A99F6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52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3456"/>
                </a:solidFill>
              </a:defRPr>
            </a:pPr>
            <a:r>
              <a:rPr sz="1050" b="1">
                <a:solidFill>
                  <a:srgbClr val="063456"/>
                </a:solidFill>
              </a:rPr>
              <a:t>材料页面示意：同一张流水表中混入多种业务</a:t>
            </a:r>
          </a:p>
        </p:txBody>
      </p:sp>
      <p:sp>
        <p:nvSpPr>
          <p:cNvPr id="37" name="demo-label">
            <a:extLst xmlns:a="http://schemas.openxmlformats.org/drawingml/2006/main">
              <a:ext uri="{FF2B5EF4-FFF2-40B4-BE49-F238E27FC236}">
                <a16:creationId xmlns:a16="http://schemas.microsoft.com/office/drawing/2014/main" id="{4A63AE4D-C65E-4F84-91C1-74F724D74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24125"/>
            <a:ext cx="819150" cy="228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E17A22"/>
            </a:solidFill>
            <a:prstDash val="solid"/>
          </a:ln>
        </p:spPr>
      </p:sp>
      <p:sp>
        <p:nvSpPr>
          <p:cNvPr id="38" name="demo-label-text">
            <a:extLst xmlns:a="http://schemas.openxmlformats.org/drawingml/2006/main">
              <a:ext uri="{FF2B5EF4-FFF2-40B4-BE49-F238E27FC236}">
                <a16:creationId xmlns:a16="http://schemas.microsoft.com/office/drawing/2014/main" id="{B6B1CB96-5ABB-4FDC-9C09-25EB6DCE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71750"/>
            <a:ext cx="8191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17A22"/>
                </a:solidFill>
              </a:defRPr>
            </a:pPr>
            <a:r>
              <a:rPr sz="825" b="1">
                <a:solidFill>
                  <a:srgbClr val="E17A22"/>
                </a:solidFill>
              </a:rPr>
              <a:t>示意</a:t>
            </a:r>
          </a:p>
        </p:txBody>
      </p:sp>
      <p:sp>
        <p:nvSpPr>
          <p:cNvPr id="39" name="table-row-304-0">
            <a:extLst xmlns:a="http://schemas.openxmlformats.org/drawingml/2006/main">
              <a:ext uri="{FF2B5EF4-FFF2-40B4-BE49-F238E27FC236}">
                <a16:creationId xmlns:a16="http://schemas.microsoft.com/office/drawing/2014/main" id="{906ABC7A-F474-4C35-A9B7-8551DCE5E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895600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40" name="table-text-304-0">
            <a:extLst xmlns:a="http://schemas.openxmlformats.org/drawingml/2006/main">
              <a:ext uri="{FF2B5EF4-FFF2-40B4-BE49-F238E27FC236}">
                <a16:creationId xmlns:a16="http://schemas.microsoft.com/office/drawing/2014/main" id="{5614A2A9-CFD4-4F42-A3CC-69A881956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971800"/>
            <a:ext cx="609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A3446"/>
                </a:solidFill>
              </a:defRPr>
            </a:pPr>
            <a:r>
              <a:rPr sz="675" b="1">
                <a:solidFill>
                  <a:srgbClr val="1A3446"/>
                </a:solidFill>
              </a:rPr>
              <a:t>日期</a:t>
            </a:r>
          </a:p>
        </p:txBody>
      </p:sp>
      <p:sp>
        <p:nvSpPr>
          <p:cNvPr id="41" name="table-row-304-1">
            <a:extLst xmlns:a="http://schemas.openxmlformats.org/drawingml/2006/main">
              <a:ext uri="{FF2B5EF4-FFF2-40B4-BE49-F238E27FC236}">
                <a16:creationId xmlns:a16="http://schemas.microsoft.com/office/drawing/2014/main" id="{0C4E9F09-46DB-4A44-9271-1674A87D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95600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42" name="table-text-304-1">
            <a:extLst xmlns:a="http://schemas.openxmlformats.org/drawingml/2006/main">
              <a:ext uri="{FF2B5EF4-FFF2-40B4-BE49-F238E27FC236}">
                <a16:creationId xmlns:a16="http://schemas.microsoft.com/office/drawing/2014/main" id="{57572563-E1B5-46E8-A456-EA7EC9F18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71800"/>
            <a:ext cx="704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63456"/>
                </a:solidFill>
              </a:defRPr>
            </a:pPr>
            <a:r>
              <a:rPr sz="675" b="1">
                <a:solidFill>
                  <a:srgbClr val="063456"/>
                </a:solidFill>
              </a:rPr>
              <a:t>业务名称</a:t>
            </a:r>
          </a:p>
        </p:txBody>
      </p:sp>
      <p:sp>
        <p:nvSpPr>
          <p:cNvPr id="43" name="table-row-304-2">
            <a:extLst xmlns:a="http://schemas.openxmlformats.org/drawingml/2006/main">
              <a:ext uri="{FF2B5EF4-FFF2-40B4-BE49-F238E27FC236}">
                <a16:creationId xmlns:a16="http://schemas.microsoft.com/office/drawing/2014/main" id="{5AED81D3-2BEB-4AFF-9FFB-7C9993B0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9560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44" name="table-text-304-2">
            <a:extLst xmlns:a="http://schemas.openxmlformats.org/drawingml/2006/main">
              <a:ext uri="{FF2B5EF4-FFF2-40B4-BE49-F238E27FC236}">
                <a16:creationId xmlns:a16="http://schemas.microsoft.com/office/drawing/2014/main" id="{66D73BE3-F775-4EC6-8673-5CCEBEAE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71800"/>
            <a:ext cx="781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A3446"/>
                </a:solidFill>
              </a:defRPr>
            </a:pPr>
            <a:r>
              <a:rPr sz="675" b="1">
                <a:solidFill>
                  <a:srgbClr val="1A3446"/>
                </a:solidFill>
              </a:rPr>
              <a:t>证券代码</a:t>
            </a:r>
          </a:p>
        </p:txBody>
      </p:sp>
      <p:sp>
        <p:nvSpPr>
          <p:cNvPr id="45" name="table-row-304-3">
            <a:extLst xmlns:a="http://schemas.openxmlformats.org/drawingml/2006/main">
              <a:ext uri="{FF2B5EF4-FFF2-40B4-BE49-F238E27FC236}">
                <a16:creationId xmlns:a16="http://schemas.microsoft.com/office/drawing/2014/main" id="{2F152D89-BF24-437E-99B4-96810D47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9560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46" name="table-text-304-3">
            <a:extLst xmlns:a="http://schemas.openxmlformats.org/drawingml/2006/main">
              <a:ext uri="{FF2B5EF4-FFF2-40B4-BE49-F238E27FC236}">
                <a16:creationId xmlns:a16="http://schemas.microsoft.com/office/drawing/2014/main" id="{4ED0C0E6-6CE6-4108-95AC-791631B5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71800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A3446"/>
                </a:solidFill>
              </a:defRPr>
            </a:pPr>
            <a:r>
              <a:rPr sz="675" b="1">
                <a:solidFill>
                  <a:srgbClr val="1A3446"/>
                </a:solidFill>
              </a:rPr>
              <a:t>数量</a:t>
            </a:r>
          </a:p>
        </p:txBody>
      </p:sp>
      <p:sp>
        <p:nvSpPr>
          <p:cNvPr id="47" name="table-row-304-4">
            <a:extLst xmlns:a="http://schemas.openxmlformats.org/drawingml/2006/main">
              <a:ext uri="{FF2B5EF4-FFF2-40B4-BE49-F238E27FC236}">
                <a16:creationId xmlns:a16="http://schemas.microsoft.com/office/drawing/2014/main" id="{EC51318E-2F8A-4769-87DF-6E9D81A9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9560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48" name="table-text-304-4">
            <a:extLst xmlns:a="http://schemas.openxmlformats.org/drawingml/2006/main">
              <a:ext uri="{FF2B5EF4-FFF2-40B4-BE49-F238E27FC236}">
                <a16:creationId xmlns:a16="http://schemas.microsoft.com/office/drawing/2014/main" id="{57D8381B-8963-4716-AFDE-2922A901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71800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A3446"/>
                </a:solidFill>
              </a:defRPr>
            </a:pPr>
            <a:r>
              <a:rPr sz="675" b="1">
                <a:solidFill>
                  <a:srgbClr val="1A3446"/>
                </a:solidFill>
              </a:rPr>
              <a:t>金额</a:t>
            </a:r>
          </a:p>
        </p:txBody>
      </p:sp>
      <p:sp>
        <p:nvSpPr>
          <p:cNvPr id="49" name="table-row-304-5">
            <a:extLst xmlns:a="http://schemas.openxmlformats.org/drawingml/2006/main">
              <a:ext uri="{FF2B5EF4-FFF2-40B4-BE49-F238E27FC236}">
                <a16:creationId xmlns:a16="http://schemas.microsoft.com/office/drawing/2014/main" id="{15DAA129-ABAC-4434-8BE0-D3D72FE0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956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5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50" name="table-text-304-5">
            <a:extLst xmlns:a="http://schemas.openxmlformats.org/drawingml/2006/main">
              <a:ext uri="{FF2B5EF4-FFF2-40B4-BE49-F238E27FC236}">
                <a16:creationId xmlns:a16="http://schemas.microsoft.com/office/drawing/2014/main" id="{040BA37C-036B-4310-91AE-5FB7814CE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971800"/>
            <a:ext cx="8001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A3446"/>
                </a:solidFill>
              </a:defRPr>
            </a:pPr>
            <a:r>
              <a:rPr sz="675" b="1">
                <a:solidFill>
                  <a:srgbClr val="1A3446"/>
                </a:solidFill>
              </a:rPr>
              <a:t>备注</a:t>
            </a:r>
          </a:p>
        </p:txBody>
      </p:sp>
      <p:sp>
        <p:nvSpPr>
          <p:cNvPr id="51" name="table-row-334-0">
            <a:extLst xmlns:a="http://schemas.openxmlformats.org/drawingml/2006/main">
              <a:ext uri="{FF2B5EF4-FFF2-40B4-BE49-F238E27FC236}">
                <a16:creationId xmlns:a16="http://schemas.microsoft.com/office/drawing/2014/main" id="{8E7F4509-90E7-431C-8304-DF0B22372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181350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52" name="table-text-334-0">
            <a:extLst xmlns:a="http://schemas.openxmlformats.org/drawingml/2006/main">
              <a:ext uri="{FF2B5EF4-FFF2-40B4-BE49-F238E27FC236}">
                <a16:creationId xmlns:a16="http://schemas.microsoft.com/office/drawing/2014/main" id="{6F40C12E-A37C-4B57-83A0-B3597C81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57550"/>
            <a:ext cx="609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A3446"/>
                </a:solidFill>
              </a:defRPr>
            </a:pPr>
            <a:r>
              <a:rPr sz="675" b="0">
                <a:solidFill>
                  <a:srgbClr val="1A3446"/>
                </a:solidFill>
              </a:rPr>
              <a:t>2025-01</a:t>
            </a:r>
          </a:p>
        </p:txBody>
      </p:sp>
      <p:sp>
        <p:nvSpPr>
          <p:cNvPr id="53" name="table-row-334-1">
            <a:extLst xmlns:a="http://schemas.openxmlformats.org/drawingml/2006/main">
              <a:ext uri="{FF2B5EF4-FFF2-40B4-BE49-F238E27FC236}">
                <a16:creationId xmlns:a16="http://schemas.microsoft.com/office/drawing/2014/main" id="{835A7176-1C20-4150-BDE4-AF62DB75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181350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54" name="table-text-334-1">
            <a:extLst xmlns:a="http://schemas.openxmlformats.org/drawingml/2006/main">
              <a:ext uri="{FF2B5EF4-FFF2-40B4-BE49-F238E27FC236}">
                <a16:creationId xmlns:a16="http://schemas.microsoft.com/office/drawing/2014/main" id="{9D9B56B2-5765-4F40-84ED-14FFA3D1E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57550"/>
            <a:ext cx="704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63456"/>
                </a:solidFill>
              </a:defRPr>
            </a:pPr>
            <a:r>
              <a:rPr sz="675" b="1">
                <a:solidFill>
                  <a:srgbClr val="063456"/>
                </a:solidFill>
              </a:rPr>
              <a:t>证券买入</a:t>
            </a:r>
          </a:p>
        </p:txBody>
      </p:sp>
      <p:sp>
        <p:nvSpPr>
          <p:cNvPr id="55" name="table-row-334-2">
            <a:extLst xmlns:a="http://schemas.openxmlformats.org/drawingml/2006/main">
              <a:ext uri="{FF2B5EF4-FFF2-40B4-BE49-F238E27FC236}">
                <a16:creationId xmlns:a16="http://schemas.microsoft.com/office/drawing/2014/main" id="{214A4DA3-2F66-44B1-BB98-9A9DF6FC0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1813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56" name="table-text-334-2">
            <a:extLst xmlns:a="http://schemas.openxmlformats.org/drawingml/2006/main">
              <a:ext uri="{FF2B5EF4-FFF2-40B4-BE49-F238E27FC236}">
                <a16:creationId xmlns:a16="http://schemas.microsoft.com/office/drawing/2014/main" id="{0A14FB97-3997-47A3-A8B1-2FD1037B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57550"/>
            <a:ext cx="781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A3446"/>
                </a:solidFill>
              </a:defRPr>
            </a:pPr>
            <a:r>
              <a:rPr sz="675" b="0">
                <a:solidFill>
                  <a:srgbClr val="1A3446"/>
                </a:solidFill>
              </a:rPr>
              <a:t>000001</a:t>
            </a:r>
          </a:p>
        </p:txBody>
      </p:sp>
      <p:sp>
        <p:nvSpPr>
          <p:cNvPr id="57" name="table-row-334-3">
            <a:extLst xmlns:a="http://schemas.openxmlformats.org/drawingml/2006/main">
              <a:ext uri="{FF2B5EF4-FFF2-40B4-BE49-F238E27FC236}">
                <a16:creationId xmlns:a16="http://schemas.microsoft.com/office/drawing/2014/main" id="{E48ACA4A-05A8-4674-92ED-19FB7866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8135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58" name="table-text-334-3">
            <a:extLst xmlns:a="http://schemas.openxmlformats.org/drawingml/2006/main">
              <a:ext uri="{FF2B5EF4-FFF2-40B4-BE49-F238E27FC236}">
                <a16:creationId xmlns:a16="http://schemas.microsoft.com/office/drawing/2014/main" id="{70B06596-8422-4CA1-B6CE-C9D1DB03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57550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A3446"/>
                </a:solidFill>
              </a:defRPr>
            </a:pPr>
            <a:r>
              <a:rPr sz="675" b="1">
                <a:solidFill>
                  <a:srgbClr val="1A3446"/>
                </a:solidFill>
              </a:rPr>
              <a:t>+1,000</a:t>
            </a:r>
          </a:p>
        </p:txBody>
      </p:sp>
      <p:sp>
        <p:nvSpPr>
          <p:cNvPr id="59" name="table-row-334-4">
            <a:extLst xmlns:a="http://schemas.openxmlformats.org/drawingml/2006/main">
              <a:ext uri="{FF2B5EF4-FFF2-40B4-BE49-F238E27FC236}">
                <a16:creationId xmlns:a16="http://schemas.microsoft.com/office/drawing/2014/main" id="{C7875F34-8EC6-4127-9E06-C8A9D1588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8135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60" name="table-text-334-4">
            <a:extLst xmlns:a="http://schemas.openxmlformats.org/drawingml/2006/main">
              <a:ext uri="{FF2B5EF4-FFF2-40B4-BE49-F238E27FC236}">
                <a16:creationId xmlns:a16="http://schemas.microsoft.com/office/drawing/2014/main" id="{9A5BE1A7-D193-4566-8AC3-456117DE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257550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A3446"/>
                </a:solidFill>
              </a:defRPr>
            </a:pPr>
            <a:r>
              <a:rPr sz="675" b="0">
                <a:solidFill>
                  <a:srgbClr val="1A3446"/>
                </a:solidFill>
              </a:rPr>
              <a:t>-12,300</a:t>
            </a:r>
          </a:p>
        </p:txBody>
      </p:sp>
      <p:sp>
        <p:nvSpPr>
          <p:cNvPr id="61" name="table-row-334-5">
            <a:extLst xmlns:a="http://schemas.openxmlformats.org/drawingml/2006/main">
              <a:ext uri="{FF2B5EF4-FFF2-40B4-BE49-F238E27FC236}">
                <a16:creationId xmlns:a16="http://schemas.microsoft.com/office/drawing/2014/main" id="{C0854469-181C-4953-BB6B-638F8E02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8135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62" name="table-text-334-5">
            <a:extLst xmlns:a="http://schemas.openxmlformats.org/drawingml/2006/main">
              <a:ext uri="{FF2B5EF4-FFF2-40B4-BE49-F238E27FC236}">
                <a16:creationId xmlns:a16="http://schemas.microsoft.com/office/drawing/2014/main" id="{EEE28872-4F95-424B-BB32-2F32E6C5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57550"/>
            <a:ext cx="8001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A3446"/>
                </a:solidFill>
              </a:defRPr>
            </a:pPr>
            <a:r>
              <a:rPr sz="675" b="0">
                <a:solidFill>
                  <a:srgbClr val="1A3446"/>
                </a:solidFill>
              </a:rPr>
              <a:t>成交</a:t>
            </a:r>
          </a:p>
        </p:txBody>
      </p:sp>
      <p:sp>
        <p:nvSpPr>
          <p:cNvPr id="63" name="table-row-364-0">
            <a:extLst xmlns:a="http://schemas.openxmlformats.org/drawingml/2006/main">
              <a:ext uri="{FF2B5EF4-FFF2-40B4-BE49-F238E27FC236}">
                <a16:creationId xmlns:a16="http://schemas.microsoft.com/office/drawing/2014/main" id="{4A816131-968F-4392-94DD-1759E72F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467100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64" name="table-text-364-0">
            <a:extLst xmlns:a="http://schemas.openxmlformats.org/drawingml/2006/main">
              <a:ext uri="{FF2B5EF4-FFF2-40B4-BE49-F238E27FC236}">
                <a16:creationId xmlns:a16="http://schemas.microsoft.com/office/drawing/2014/main" id="{C80C70AF-0FBF-46A5-9F23-6A7812E49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43300"/>
            <a:ext cx="609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A3446"/>
                </a:solidFill>
              </a:defRPr>
            </a:pPr>
            <a:r>
              <a:rPr sz="675" b="0">
                <a:solidFill>
                  <a:srgbClr val="1A3446"/>
                </a:solidFill>
              </a:rPr>
              <a:t>2025-02</a:t>
            </a:r>
          </a:p>
        </p:txBody>
      </p:sp>
      <p:sp>
        <p:nvSpPr>
          <p:cNvPr id="65" name="table-row-364-1">
            <a:extLst xmlns:a="http://schemas.openxmlformats.org/drawingml/2006/main">
              <a:ext uri="{FF2B5EF4-FFF2-40B4-BE49-F238E27FC236}">
                <a16:creationId xmlns:a16="http://schemas.microsoft.com/office/drawing/2014/main" id="{A7E20D2A-1CB6-472C-BE27-4E827D278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467100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66" name="table-text-364-1">
            <a:extLst xmlns:a="http://schemas.openxmlformats.org/drawingml/2006/main">
              <a:ext uri="{FF2B5EF4-FFF2-40B4-BE49-F238E27FC236}">
                <a16:creationId xmlns:a16="http://schemas.microsoft.com/office/drawing/2014/main" id="{A7EFE81C-4742-437B-9871-D72128C1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543300"/>
            <a:ext cx="704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63456"/>
                </a:solidFill>
              </a:defRPr>
            </a:pPr>
            <a:r>
              <a:rPr sz="675" b="1">
                <a:solidFill>
                  <a:srgbClr val="063456"/>
                </a:solidFill>
              </a:rPr>
              <a:t>红利入账</a:t>
            </a:r>
          </a:p>
        </p:txBody>
      </p:sp>
      <p:sp>
        <p:nvSpPr>
          <p:cNvPr id="67" name="table-row-364-2">
            <a:extLst xmlns:a="http://schemas.openxmlformats.org/drawingml/2006/main">
              <a:ext uri="{FF2B5EF4-FFF2-40B4-BE49-F238E27FC236}">
                <a16:creationId xmlns:a16="http://schemas.microsoft.com/office/drawing/2014/main" id="{64253517-341C-4D24-A926-7588C886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6710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68" name="table-text-364-2">
            <a:extLst xmlns:a="http://schemas.openxmlformats.org/drawingml/2006/main">
              <a:ext uri="{FF2B5EF4-FFF2-40B4-BE49-F238E27FC236}">
                <a16:creationId xmlns:a16="http://schemas.microsoft.com/office/drawing/2014/main" id="{33612B01-D084-4E9A-998C-F0614CCF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43300"/>
            <a:ext cx="781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A3446"/>
                </a:solidFill>
              </a:defRPr>
            </a:pPr>
            <a:r>
              <a:rPr sz="675" b="0">
                <a:solidFill>
                  <a:srgbClr val="1A3446"/>
                </a:solidFill>
              </a:rPr>
              <a:t>000001</a:t>
            </a:r>
          </a:p>
        </p:txBody>
      </p:sp>
      <p:sp>
        <p:nvSpPr>
          <p:cNvPr id="69" name="table-row-364-3">
            <a:extLst xmlns:a="http://schemas.openxmlformats.org/drawingml/2006/main">
              <a:ext uri="{FF2B5EF4-FFF2-40B4-BE49-F238E27FC236}">
                <a16:creationId xmlns:a16="http://schemas.microsoft.com/office/drawing/2014/main" id="{52A28F8F-170D-4F4D-A5AB-26013BA6A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46710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70" name="table-text-364-3">
            <a:extLst xmlns:a="http://schemas.openxmlformats.org/drawingml/2006/main">
              <a:ext uri="{FF2B5EF4-FFF2-40B4-BE49-F238E27FC236}">
                <a16:creationId xmlns:a16="http://schemas.microsoft.com/office/drawing/2014/main" id="{5E3A1424-D240-4FDA-A8E1-8F7B4181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43300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A3446"/>
                </a:solidFill>
              </a:defRPr>
            </a:pPr>
            <a:r>
              <a:rPr sz="675" b="0">
                <a:solidFill>
                  <a:srgbClr val="1A3446"/>
                </a:solidFill>
              </a:rPr>
              <a:t>-</a:t>
            </a:r>
          </a:p>
        </p:txBody>
      </p:sp>
      <p:sp>
        <p:nvSpPr>
          <p:cNvPr id="71" name="table-row-364-4">
            <a:extLst xmlns:a="http://schemas.openxmlformats.org/drawingml/2006/main">
              <a:ext uri="{FF2B5EF4-FFF2-40B4-BE49-F238E27FC236}">
                <a16:creationId xmlns:a16="http://schemas.microsoft.com/office/drawing/2014/main" id="{58C79841-DEE0-468F-9C14-650D580A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6710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72" name="table-text-364-4">
            <a:extLst xmlns:a="http://schemas.openxmlformats.org/drawingml/2006/main">
              <a:ext uri="{FF2B5EF4-FFF2-40B4-BE49-F238E27FC236}">
                <a16:creationId xmlns:a16="http://schemas.microsoft.com/office/drawing/2014/main" id="{B3335392-E52F-4867-97BD-5AA011B7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543300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A3446"/>
                </a:solidFill>
              </a:defRPr>
            </a:pPr>
            <a:r>
              <a:rPr sz="675" b="1">
                <a:solidFill>
                  <a:srgbClr val="1A3446"/>
                </a:solidFill>
              </a:rPr>
              <a:t>+320</a:t>
            </a:r>
          </a:p>
        </p:txBody>
      </p:sp>
      <p:sp>
        <p:nvSpPr>
          <p:cNvPr id="73" name="table-row-364-5">
            <a:extLst xmlns:a="http://schemas.openxmlformats.org/drawingml/2006/main">
              <a:ext uri="{FF2B5EF4-FFF2-40B4-BE49-F238E27FC236}">
                <a16:creationId xmlns:a16="http://schemas.microsoft.com/office/drawing/2014/main" id="{E97F66EC-B1A0-423A-A079-245A7499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671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74" name="table-text-364-5">
            <a:extLst xmlns:a="http://schemas.openxmlformats.org/drawingml/2006/main">
              <a:ext uri="{FF2B5EF4-FFF2-40B4-BE49-F238E27FC236}">
                <a16:creationId xmlns:a16="http://schemas.microsoft.com/office/drawing/2014/main" id="{6A0AFACC-CE24-41F5-97AA-28AA400A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543300"/>
            <a:ext cx="8001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A3446"/>
                </a:solidFill>
              </a:defRPr>
            </a:pPr>
            <a:r>
              <a:rPr sz="675" b="0">
                <a:solidFill>
                  <a:srgbClr val="1A3446"/>
                </a:solidFill>
              </a:rPr>
              <a:t>权益</a:t>
            </a:r>
          </a:p>
        </p:txBody>
      </p:sp>
      <p:sp>
        <p:nvSpPr>
          <p:cNvPr id="75" name="table-row-394-0">
            <a:extLst xmlns:a="http://schemas.openxmlformats.org/drawingml/2006/main">
              <a:ext uri="{FF2B5EF4-FFF2-40B4-BE49-F238E27FC236}">
                <a16:creationId xmlns:a16="http://schemas.microsoft.com/office/drawing/2014/main" id="{51A793C7-E340-41BC-B5C4-95BEEEAB5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52850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76" name="table-text-394-0">
            <a:extLst xmlns:a="http://schemas.openxmlformats.org/drawingml/2006/main">
              <a:ext uri="{FF2B5EF4-FFF2-40B4-BE49-F238E27FC236}">
                <a16:creationId xmlns:a16="http://schemas.microsoft.com/office/drawing/2014/main" id="{C03DA4D7-10ED-4C30-80F4-114459A3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29050"/>
            <a:ext cx="609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A3446"/>
                </a:solidFill>
              </a:defRPr>
            </a:pPr>
            <a:r>
              <a:rPr sz="675" b="0">
                <a:solidFill>
                  <a:srgbClr val="1A3446"/>
                </a:solidFill>
              </a:rPr>
              <a:t>2025-03</a:t>
            </a:r>
          </a:p>
        </p:txBody>
      </p:sp>
      <p:sp>
        <p:nvSpPr>
          <p:cNvPr id="77" name="table-row-394-1">
            <a:extLst xmlns:a="http://schemas.openxmlformats.org/drawingml/2006/main">
              <a:ext uri="{FF2B5EF4-FFF2-40B4-BE49-F238E27FC236}">
                <a16:creationId xmlns:a16="http://schemas.microsoft.com/office/drawing/2014/main" id="{742591CF-8623-45F7-AF1F-794E6C4E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752850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78" name="table-text-394-1">
            <a:extLst xmlns:a="http://schemas.openxmlformats.org/drawingml/2006/main">
              <a:ext uri="{FF2B5EF4-FFF2-40B4-BE49-F238E27FC236}">
                <a16:creationId xmlns:a16="http://schemas.microsoft.com/office/drawing/2014/main" id="{AF0CABB9-C0CE-494F-AA01-C08567C3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829050"/>
            <a:ext cx="704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63456"/>
                </a:solidFill>
              </a:defRPr>
            </a:pPr>
            <a:r>
              <a:rPr sz="675" b="1">
                <a:solidFill>
                  <a:srgbClr val="063456"/>
                </a:solidFill>
              </a:rPr>
              <a:t>银行转入</a:t>
            </a:r>
          </a:p>
        </p:txBody>
      </p:sp>
      <p:sp>
        <p:nvSpPr>
          <p:cNvPr id="79" name="table-row-394-2">
            <a:extLst xmlns:a="http://schemas.openxmlformats.org/drawingml/2006/main">
              <a:ext uri="{FF2B5EF4-FFF2-40B4-BE49-F238E27FC236}">
                <a16:creationId xmlns:a16="http://schemas.microsoft.com/office/drawing/2014/main" id="{CF747242-8776-4F59-96BC-F0598928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528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80" name="table-text-394-2">
            <a:extLst xmlns:a="http://schemas.openxmlformats.org/drawingml/2006/main">
              <a:ext uri="{FF2B5EF4-FFF2-40B4-BE49-F238E27FC236}">
                <a16:creationId xmlns:a16="http://schemas.microsoft.com/office/drawing/2014/main" id="{4956A2C7-949F-4A12-A251-1FF09587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29050"/>
            <a:ext cx="781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A3446"/>
                </a:solidFill>
              </a:defRPr>
            </a:pPr>
            <a:r>
              <a:rPr sz="675" b="0">
                <a:solidFill>
                  <a:srgbClr val="1A3446"/>
                </a:solidFill>
              </a:rPr>
              <a:t>-</a:t>
            </a:r>
          </a:p>
        </p:txBody>
      </p:sp>
      <p:sp>
        <p:nvSpPr>
          <p:cNvPr id="81" name="table-row-394-3">
            <a:extLst xmlns:a="http://schemas.openxmlformats.org/drawingml/2006/main">
              <a:ext uri="{FF2B5EF4-FFF2-40B4-BE49-F238E27FC236}">
                <a16:creationId xmlns:a16="http://schemas.microsoft.com/office/drawing/2014/main" id="{97A1DE5A-ECD3-4689-AA3E-6E51CEAE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5285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82" name="table-text-394-3">
            <a:extLst xmlns:a="http://schemas.openxmlformats.org/drawingml/2006/main">
              <a:ext uri="{FF2B5EF4-FFF2-40B4-BE49-F238E27FC236}">
                <a16:creationId xmlns:a16="http://schemas.microsoft.com/office/drawing/2014/main" id="{B82F9BBA-C57C-4DE6-9C71-1E0CCAF4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829050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A3446"/>
                </a:solidFill>
              </a:defRPr>
            </a:pPr>
            <a:r>
              <a:rPr sz="675" b="0">
                <a:solidFill>
                  <a:srgbClr val="1A3446"/>
                </a:solidFill>
              </a:rPr>
              <a:t>-</a:t>
            </a:r>
          </a:p>
        </p:txBody>
      </p:sp>
      <p:sp>
        <p:nvSpPr>
          <p:cNvPr id="83" name="table-row-394-4">
            <a:extLst xmlns:a="http://schemas.openxmlformats.org/drawingml/2006/main">
              <a:ext uri="{FF2B5EF4-FFF2-40B4-BE49-F238E27FC236}">
                <a16:creationId xmlns:a16="http://schemas.microsoft.com/office/drawing/2014/main" id="{4C791E38-07B4-4A80-AE3B-E48A75F1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5285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84" name="table-text-394-4">
            <a:extLst xmlns:a="http://schemas.openxmlformats.org/drawingml/2006/main">
              <a:ext uri="{FF2B5EF4-FFF2-40B4-BE49-F238E27FC236}">
                <a16:creationId xmlns:a16="http://schemas.microsoft.com/office/drawing/2014/main" id="{CEC1A3FC-5345-4DF2-8CED-07BABADF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829050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A3446"/>
                </a:solidFill>
              </a:defRPr>
            </a:pPr>
            <a:r>
              <a:rPr sz="675" b="1">
                <a:solidFill>
                  <a:srgbClr val="1A3446"/>
                </a:solidFill>
              </a:rPr>
              <a:t>+50,000</a:t>
            </a:r>
          </a:p>
        </p:txBody>
      </p:sp>
      <p:sp>
        <p:nvSpPr>
          <p:cNvPr id="85" name="table-row-394-5">
            <a:extLst xmlns:a="http://schemas.openxmlformats.org/drawingml/2006/main">
              <a:ext uri="{FF2B5EF4-FFF2-40B4-BE49-F238E27FC236}">
                <a16:creationId xmlns:a16="http://schemas.microsoft.com/office/drawing/2014/main" id="{C88E8A8E-32B4-4DCB-8BBD-2847FEB8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75285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86" name="table-text-394-5">
            <a:extLst xmlns:a="http://schemas.openxmlformats.org/drawingml/2006/main">
              <a:ext uri="{FF2B5EF4-FFF2-40B4-BE49-F238E27FC236}">
                <a16:creationId xmlns:a16="http://schemas.microsoft.com/office/drawing/2014/main" id="{9FA0FB1E-093F-4228-96D7-88897DE2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29050"/>
            <a:ext cx="8001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A3446"/>
                </a:solidFill>
              </a:defRPr>
            </a:pPr>
            <a:r>
              <a:rPr sz="675" b="0">
                <a:solidFill>
                  <a:srgbClr val="1A3446"/>
                </a:solidFill>
              </a:rPr>
              <a:t>资金</a:t>
            </a:r>
          </a:p>
        </p:txBody>
      </p:sp>
      <p:sp>
        <p:nvSpPr>
          <p:cNvPr id="87" name="table-row-424-0">
            <a:extLst xmlns:a="http://schemas.openxmlformats.org/drawingml/2006/main">
              <a:ext uri="{FF2B5EF4-FFF2-40B4-BE49-F238E27FC236}">
                <a16:creationId xmlns:a16="http://schemas.microsoft.com/office/drawing/2014/main" id="{755FF032-44F3-48AF-BC34-C75D9876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38600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88" name="table-text-424-0">
            <a:extLst xmlns:a="http://schemas.openxmlformats.org/drawingml/2006/main">
              <a:ext uri="{FF2B5EF4-FFF2-40B4-BE49-F238E27FC236}">
                <a16:creationId xmlns:a16="http://schemas.microsoft.com/office/drawing/2014/main" id="{D7BB1BE7-1D30-4D81-9BB7-699E7442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114800"/>
            <a:ext cx="609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A3446"/>
                </a:solidFill>
              </a:defRPr>
            </a:pPr>
            <a:r>
              <a:rPr sz="675" b="0">
                <a:solidFill>
                  <a:srgbClr val="1A3446"/>
                </a:solidFill>
              </a:rPr>
              <a:t>2025-04</a:t>
            </a:r>
          </a:p>
        </p:txBody>
      </p:sp>
      <p:sp>
        <p:nvSpPr>
          <p:cNvPr id="89" name="table-row-424-1">
            <a:extLst xmlns:a="http://schemas.openxmlformats.org/drawingml/2006/main">
              <a:ext uri="{FF2B5EF4-FFF2-40B4-BE49-F238E27FC236}">
                <a16:creationId xmlns:a16="http://schemas.microsoft.com/office/drawing/2014/main" id="{011D9DB3-746D-4B3C-83CE-12C16093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038600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90" name="table-text-424-1">
            <a:extLst xmlns:a="http://schemas.openxmlformats.org/drawingml/2006/main">
              <a:ext uri="{FF2B5EF4-FFF2-40B4-BE49-F238E27FC236}">
                <a16:creationId xmlns:a16="http://schemas.microsoft.com/office/drawing/2014/main" id="{5879EB15-A73F-49E1-A4C3-49E72E99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14800"/>
            <a:ext cx="704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63456"/>
                </a:solidFill>
              </a:defRPr>
            </a:pPr>
            <a:r>
              <a:rPr sz="675" b="1">
                <a:solidFill>
                  <a:srgbClr val="063456"/>
                </a:solidFill>
              </a:rPr>
              <a:t>配股入账</a:t>
            </a:r>
          </a:p>
        </p:txBody>
      </p:sp>
      <p:sp>
        <p:nvSpPr>
          <p:cNvPr id="91" name="table-row-424-2">
            <a:extLst xmlns:a="http://schemas.openxmlformats.org/drawingml/2006/main">
              <a:ext uri="{FF2B5EF4-FFF2-40B4-BE49-F238E27FC236}">
                <a16:creationId xmlns:a16="http://schemas.microsoft.com/office/drawing/2014/main" id="{396F0A6E-90B7-4A10-BE00-546AC499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03860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92" name="table-text-424-2">
            <a:extLst xmlns:a="http://schemas.openxmlformats.org/drawingml/2006/main">
              <a:ext uri="{FF2B5EF4-FFF2-40B4-BE49-F238E27FC236}">
                <a16:creationId xmlns:a16="http://schemas.microsoft.com/office/drawing/2014/main" id="{EA2BCCDA-22E4-417E-9E40-08FE1E702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114800"/>
            <a:ext cx="781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A3446"/>
                </a:solidFill>
              </a:defRPr>
            </a:pPr>
            <a:r>
              <a:rPr sz="675" b="0">
                <a:solidFill>
                  <a:srgbClr val="1A3446"/>
                </a:solidFill>
              </a:rPr>
              <a:t>000002</a:t>
            </a:r>
          </a:p>
        </p:txBody>
      </p:sp>
      <p:sp>
        <p:nvSpPr>
          <p:cNvPr id="93" name="table-row-424-3">
            <a:extLst xmlns:a="http://schemas.openxmlformats.org/drawingml/2006/main">
              <a:ext uri="{FF2B5EF4-FFF2-40B4-BE49-F238E27FC236}">
                <a16:creationId xmlns:a16="http://schemas.microsoft.com/office/drawing/2014/main" id="{B12F8A49-7411-4593-B305-BA9B559D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3860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94" name="table-text-424-3">
            <a:extLst xmlns:a="http://schemas.openxmlformats.org/drawingml/2006/main">
              <a:ext uri="{FF2B5EF4-FFF2-40B4-BE49-F238E27FC236}">
                <a16:creationId xmlns:a16="http://schemas.microsoft.com/office/drawing/2014/main" id="{0D3D885A-2869-48E8-B5D5-75A83B68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14800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A3446"/>
                </a:solidFill>
              </a:defRPr>
            </a:pPr>
            <a:r>
              <a:rPr sz="675" b="1">
                <a:solidFill>
                  <a:srgbClr val="1A3446"/>
                </a:solidFill>
              </a:rPr>
              <a:t>+200</a:t>
            </a:r>
          </a:p>
        </p:txBody>
      </p:sp>
      <p:sp>
        <p:nvSpPr>
          <p:cNvPr id="95" name="table-row-424-4">
            <a:extLst xmlns:a="http://schemas.openxmlformats.org/drawingml/2006/main">
              <a:ext uri="{FF2B5EF4-FFF2-40B4-BE49-F238E27FC236}">
                <a16:creationId xmlns:a16="http://schemas.microsoft.com/office/drawing/2014/main" id="{219C181B-CD86-41F3-97BF-B7C10CF1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3860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96" name="table-text-424-4">
            <a:extLst xmlns:a="http://schemas.openxmlformats.org/drawingml/2006/main">
              <a:ext uri="{FF2B5EF4-FFF2-40B4-BE49-F238E27FC236}">
                <a16:creationId xmlns:a16="http://schemas.microsoft.com/office/drawing/2014/main" id="{24D20850-44A0-4858-8194-3DDA2D80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14800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A3446"/>
                </a:solidFill>
              </a:defRPr>
            </a:pPr>
            <a:r>
              <a:rPr sz="675" b="0">
                <a:solidFill>
                  <a:srgbClr val="1A3446"/>
                </a:solidFill>
              </a:rPr>
              <a:t>-</a:t>
            </a:r>
          </a:p>
        </p:txBody>
      </p:sp>
      <p:sp>
        <p:nvSpPr>
          <p:cNvPr id="97" name="table-row-424-5">
            <a:extLst xmlns:a="http://schemas.openxmlformats.org/drawingml/2006/main">
              <a:ext uri="{FF2B5EF4-FFF2-40B4-BE49-F238E27FC236}">
                <a16:creationId xmlns:a16="http://schemas.microsoft.com/office/drawing/2014/main" id="{770E9219-5428-4742-A9A1-F6818F594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386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98" name="table-text-424-5">
            <a:extLst xmlns:a="http://schemas.openxmlformats.org/drawingml/2006/main">
              <a:ext uri="{FF2B5EF4-FFF2-40B4-BE49-F238E27FC236}">
                <a16:creationId xmlns:a16="http://schemas.microsoft.com/office/drawing/2014/main" id="{51D2FA74-7015-4CE5-8D20-E00823B2C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14800"/>
            <a:ext cx="8001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A3446"/>
                </a:solidFill>
              </a:defRPr>
            </a:pPr>
            <a:r>
              <a:rPr sz="675" b="0">
                <a:solidFill>
                  <a:srgbClr val="1A3446"/>
                </a:solidFill>
              </a:rPr>
              <a:t>权益</a:t>
            </a:r>
          </a:p>
        </p:txBody>
      </p:sp>
      <p:sp>
        <p:nvSpPr>
          <p:cNvPr id="99" name="table-row-454-0">
            <a:extLst xmlns:a="http://schemas.openxmlformats.org/drawingml/2006/main">
              <a:ext uri="{FF2B5EF4-FFF2-40B4-BE49-F238E27FC236}">
                <a16:creationId xmlns:a16="http://schemas.microsoft.com/office/drawing/2014/main" id="{409C78B2-E82A-450A-AB24-F326C9E4C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324350"/>
            <a:ext cx="685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100" name="table-text-454-0">
            <a:extLst xmlns:a="http://schemas.openxmlformats.org/drawingml/2006/main">
              <a:ext uri="{FF2B5EF4-FFF2-40B4-BE49-F238E27FC236}">
                <a16:creationId xmlns:a16="http://schemas.microsoft.com/office/drawing/2014/main" id="{D62A2C56-2DB4-4AEA-8038-36912DEB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00550"/>
            <a:ext cx="609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A3446"/>
                </a:solidFill>
              </a:defRPr>
            </a:pPr>
            <a:r>
              <a:rPr sz="675" b="0">
                <a:solidFill>
                  <a:srgbClr val="1A3446"/>
                </a:solidFill>
              </a:rPr>
              <a:t>2025-05</a:t>
            </a:r>
          </a:p>
        </p:txBody>
      </p:sp>
      <p:sp>
        <p:nvSpPr>
          <p:cNvPr id="101" name="table-row-454-1">
            <a:extLst xmlns:a="http://schemas.openxmlformats.org/drawingml/2006/main">
              <a:ext uri="{FF2B5EF4-FFF2-40B4-BE49-F238E27FC236}">
                <a16:creationId xmlns:a16="http://schemas.microsoft.com/office/drawing/2014/main" id="{CAC3A076-F1D8-4969-9194-0D9DB94F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324350"/>
            <a:ext cx="781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102" name="table-text-454-1">
            <a:extLst xmlns:a="http://schemas.openxmlformats.org/drawingml/2006/main">
              <a:ext uri="{FF2B5EF4-FFF2-40B4-BE49-F238E27FC236}">
                <a16:creationId xmlns:a16="http://schemas.microsoft.com/office/drawing/2014/main" id="{25D38CA4-B523-4AF3-AB45-1EDD4D15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400550"/>
            <a:ext cx="704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063456"/>
                </a:solidFill>
              </a:defRPr>
            </a:pPr>
            <a:r>
              <a:rPr sz="675" b="1">
                <a:solidFill>
                  <a:srgbClr val="063456"/>
                </a:solidFill>
              </a:rPr>
              <a:t>费用扣划</a:t>
            </a:r>
          </a:p>
        </p:txBody>
      </p:sp>
      <p:sp>
        <p:nvSpPr>
          <p:cNvPr id="103" name="table-row-454-2">
            <a:extLst xmlns:a="http://schemas.openxmlformats.org/drawingml/2006/main">
              <a:ext uri="{FF2B5EF4-FFF2-40B4-BE49-F238E27FC236}">
                <a16:creationId xmlns:a16="http://schemas.microsoft.com/office/drawing/2014/main" id="{B733898D-EFA8-4452-985F-07389FAE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324350"/>
            <a:ext cx="857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104" name="table-text-454-2">
            <a:extLst xmlns:a="http://schemas.openxmlformats.org/drawingml/2006/main">
              <a:ext uri="{FF2B5EF4-FFF2-40B4-BE49-F238E27FC236}">
                <a16:creationId xmlns:a16="http://schemas.microsoft.com/office/drawing/2014/main" id="{0580B1E5-6868-4B0D-9EEF-3F0934A3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00550"/>
            <a:ext cx="7810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A3446"/>
                </a:solidFill>
              </a:defRPr>
            </a:pPr>
            <a:r>
              <a:rPr sz="675" b="0">
                <a:solidFill>
                  <a:srgbClr val="1A3446"/>
                </a:solidFill>
              </a:rPr>
              <a:t>-</a:t>
            </a:r>
          </a:p>
        </p:txBody>
      </p:sp>
      <p:sp>
        <p:nvSpPr>
          <p:cNvPr id="105" name="table-row-454-3">
            <a:extLst xmlns:a="http://schemas.openxmlformats.org/drawingml/2006/main">
              <a:ext uri="{FF2B5EF4-FFF2-40B4-BE49-F238E27FC236}">
                <a16:creationId xmlns:a16="http://schemas.microsoft.com/office/drawing/2014/main" id="{D489E245-BC39-4260-8F8D-2D8FCB83D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2435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106" name="table-text-454-3">
            <a:extLst xmlns:a="http://schemas.openxmlformats.org/drawingml/2006/main">
              <a:ext uri="{FF2B5EF4-FFF2-40B4-BE49-F238E27FC236}">
                <a16:creationId xmlns:a16="http://schemas.microsoft.com/office/drawing/2014/main" id="{D255AF00-B022-41E8-9378-9ECDF292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00550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A3446"/>
                </a:solidFill>
              </a:defRPr>
            </a:pPr>
            <a:r>
              <a:rPr sz="675" b="0">
                <a:solidFill>
                  <a:srgbClr val="1A3446"/>
                </a:solidFill>
              </a:rPr>
              <a:t>-</a:t>
            </a:r>
          </a:p>
        </p:txBody>
      </p:sp>
      <p:sp>
        <p:nvSpPr>
          <p:cNvPr id="107" name="table-row-454-4">
            <a:extLst xmlns:a="http://schemas.openxmlformats.org/drawingml/2006/main">
              <a:ext uri="{FF2B5EF4-FFF2-40B4-BE49-F238E27FC236}">
                <a16:creationId xmlns:a16="http://schemas.microsoft.com/office/drawing/2014/main" id="{307B2464-B43C-49A8-8DDB-E5EC6E542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324350"/>
            <a:ext cx="819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108" name="table-text-454-4">
            <a:extLst xmlns:a="http://schemas.openxmlformats.org/drawingml/2006/main">
              <a:ext uri="{FF2B5EF4-FFF2-40B4-BE49-F238E27FC236}">
                <a16:creationId xmlns:a16="http://schemas.microsoft.com/office/drawing/2014/main" id="{07FCAF42-76A9-4B6B-83BA-79C75B8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00550"/>
            <a:ext cx="7429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1A3446"/>
                </a:solidFill>
              </a:defRPr>
            </a:pPr>
            <a:r>
              <a:rPr sz="675" b="1">
                <a:solidFill>
                  <a:srgbClr val="1A3446"/>
                </a:solidFill>
              </a:rPr>
              <a:t>-18</a:t>
            </a:r>
          </a:p>
        </p:txBody>
      </p:sp>
      <p:sp>
        <p:nvSpPr>
          <p:cNvPr id="109" name="table-row-454-5">
            <a:extLst xmlns:a="http://schemas.openxmlformats.org/drawingml/2006/main">
              <a:ext uri="{FF2B5EF4-FFF2-40B4-BE49-F238E27FC236}">
                <a16:creationId xmlns:a16="http://schemas.microsoft.com/office/drawing/2014/main" id="{AA78010F-1342-4DA7-BA97-32A65C84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2435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7EC"/>
            </a:solidFill>
            <a:prstDash val="solid"/>
          </a:ln>
        </p:spPr>
      </p:sp>
      <p:sp>
        <p:nvSpPr>
          <p:cNvPr id="110" name="table-text-454-5">
            <a:extLst xmlns:a="http://schemas.openxmlformats.org/drawingml/2006/main">
              <a:ext uri="{FF2B5EF4-FFF2-40B4-BE49-F238E27FC236}">
                <a16:creationId xmlns:a16="http://schemas.microsoft.com/office/drawing/2014/main" id="{5BE74641-A7BA-4213-8EDA-AE07BDC8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400550"/>
            <a:ext cx="8001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1A3446"/>
                </a:solidFill>
              </a:defRPr>
            </a:pPr>
            <a:r>
              <a:rPr sz="675" b="0">
                <a:solidFill>
                  <a:srgbClr val="1A3446"/>
                </a:solidFill>
              </a:rPr>
              <a:t>费用</a:t>
            </a:r>
          </a:p>
        </p:txBody>
      </p:sp>
      <p:sp>
        <p:nvSpPr>
          <p:cNvPr id="111" name="callout-1">
            <a:extLst xmlns:a="http://schemas.openxmlformats.org/drawingml/2006/main">
              <a:ext uri="{FF2B5EF4-FFF2-40B4-BE49-F238E27FC236}">
                <a16:creationId xmlns:a16="http://schemas.microsoft.com/office/drawing/2014/main" id="{75381EF7-9A59-4BB8-9DAB-CE3428D7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62500"/>
            <a:ext cx="12382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00508F"/>
            </a:solidFill>
            <a:prstDash val="solid"/>
          </a:ln>
        </p:spPr>
      </p:sp>
      <p:sp>
        <p:nvSpPr>
          <p:cNvPr id="112" name="callout-1-text">
            <a:extLst xmlns:a="http://schemas.openxmlformats.org/drawingml/2006/main">
              <a:ext uri="{FF2B5EF4-FFF2-40B4-BE49-F238E27FC236}">
                <a16:creationId xmlns:a16="http://schemas.microsoft.com/office/drawing/2014/main" id="{F9728E96-43A6-47C1-A113-62CC3D2D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857750"/>
            <a:ext cx="1085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508F"/>
                </a:solidFill>
              </a:defRPr>
            </a:pPr>
            <a:r>
              <a:rPr sz="900" b="1">
                <a:solidFill>
                  <a:srgbClr val="00508F"/>
                </a:solidFill>
              </a:rPr>
              <a:t>会影响持仓</a:t>
            </a:r>
          </a:p>
        </p:txBody>
      </p:sp>
      <p:sp>
        <p:nvSpPr>
          <p:cNvPr id="113" name="callout-2">
            <a:extLst xmlns:a="http://schemas.openxmlformats.org/drawingml/2006/main">
              <a:ext uri="{FF2B5EF4-FFF2-40B4-BE49-F238E27FC236}">
                <a16:creationId xmlns:a16="http://schemas.microsoft.com/office/drawing/2014/main" id="{B95E52DA-26B2-4980-B291-3DCC9CB4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762500"/>
            <a:ext cx="12382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</p:sp>
      <p:sp>
        <p:nvSpPr>
          <p:cNvPr id="114" name="callout-2-text">
            <a:extLst xmlns:a="http://schemas.openxmlformats.org/drawingml/2006/main">
              <a:ext uri="{FF2B5EF4-FFF2-40B4-BE49-F238E27FC236}">
                <a16:creationId xmlns:a16="http://schemas.microsoft.com/office/drawing/2014/main" id="{27456FFF-4927-4D9E-979E-7047D2DD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57750"/>
            <a:ext cx="1085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E8B57"/>
                </a:solidFill>
              </a:defRPr>
            </a:pPr>
            <a:r>
              <a:rPr sz="900" b="1">
                <a:solidFill>
                  <a:srgbClr val="2E8B57"/>
                </a:solidFill>
              </a:rPr>
              <a:t>证券相关但非买卖</a:t>
            </a:r>
          </a:p>
        </p:txBody>
      </p:sp>
      <p:sp>
        <p:nvSpPr>
          <p:cNvPr id="115" name="callout-3">
            <a:extLst xmlns:a="http://schemas.openxmlformats.org/drawingml/2006/main">
              <a:ext uri="{FF2B5EF4-FFF2-40B4-BE49-F238E27FC236}">
                <a16:creationId xmlns:a16="http://schemas.microsoft.com/office/drawing/2014/main" id="{1F1636FA-6F91-4428-8858-B6B49439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762500"/>
            <a:ext cx="1238250" cy="323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E17A22"/>
            </a:solidFill>
            <a:prstDash val="solid"/>
          </a:ln>
        </p:spPr>
      </p:sp>
      <p:sp>
        <p:nvSpPr>
          <p:cNvPr id="116" name="callout-3-text">
            <a:extLst xmlns:a="http://schemas.openxmlformats.org/drawingml/2006/main">
              <a:ext uri="{FF2B5EF4-FFF2-40B4-BE49-F238E27FC236}">
                <a16:creationId xmlns:a16="http://schemas.microsoft.com/office/drawing/2014/main" id="{6E493985-8E84-4839-A0EE-8A8AC913A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857750"/>
            <a:ext cx="108585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E17A22"/>
                </a:solidFill>
              </a:defRPr>
            </a:pPr>
            <a:r>
              <a:rPr sz="900" b="1">
                <a:solidFill>
                  <a:srgbClr val="E17A22"/>
                </a:solidFill>
              </a:rPr>
              <a:t>非证券交易流水</a:t>
            </a:r>
          </a:p>
        </p:txBody>
      </p:sp>
      <p:sp>
        <p:nvSpPr>
          <p:cNvPr id="117" name="section-复核难点">
            <a:extLst xmlns:a="http://schemas.openxmlformats.org/drawingml/2006/main">
              <a:ext uri="{FF2B5EF4-FFF2-40B4-BE49-F238E27FC236}">
                <a16:creationId xmlns:a16="http://schemas.microsoft.com/office/drawing/2014/main" id="{C6AF3521-BBEB-4B31-B8E3-C91A0905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002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复核难点</a:t>
            </a:r>
          </a:p>
        </p:txBody>
      </p:sp>
      <p:sp>
        <p:nvSpPr>
          <p:cNvPr id="118" name="section-rule-复核难点">
            <a:extLst xmlns:a="http://schemas.openxmlformats.org/drawingml/2006/main">
              <a:ext uri="{FF2B5EF4-FFF2-40B4-BE49-F238E27FC236}">
                <a16:creationId xmlns:a16="http://schemas.microsoft.com/office/drawing/2014/main" id="{D3DD8B1F-503A-45EA-BE49-32E4078C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95525"/>
            <a:ext cx="1809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119" name="right-panel">
            <a:extLst xmlns:a="http://schemas.openxmlformats.org/drawingml/2006/main">
              <a:ext uri="{FF2B5EF4-FFF2-40B4-BE49-F238E27FC236}">
                <a16:creationId xmlns:a16="http://schemas.microsoft.com/office/drawing/2014/main" id="{CC34D3E6-37A1-4F1A-93F1-BD66B56B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62200"/>
            <a:ext cx="1809750" cy="2952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20" name="diff-no-1">
            <a:extLst xmlns:a="http://schemas.openxmlformats.org/drawingml/2006/main">
              <a:ext uri="{FF2B5EF4-FFF2-40B4-BE49-F238E27FC236}">
                <a16:creationId xmlns:a16="http://schemas.microsoft.com/office/drawing/2014/main" id="{274EF865-3AC8-447D-81F3-1888807D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121" name="diff-no-text-1">
            <a:extLst xmlns:a="http://schemas.openxmlformats.org/drawingml/2006/main">
              <a:ext uri="{FF2B5EF4-FFF2-40B4-BE49-F238E27FC236}">
                <a16:creationId xmlns:a16="http://schemas.microsoft.com/office/drawing/2014/main" id="{E0227BF3-08EC-476D-B68F-6FCC277D2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14625"/>
            <a:ext cx="2476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2" name="diff-text-1">
            <a:extLst xmlns:a="http://schemas.openxmlformats.org/drawingml/2006/main">
              <a:ext uri="{FF2B5EF4-FFF2-40B4-BE49-F238E27FC236}">
                <a16:creationId xmlns:a16="http://schemas.microsoft.com/office/drawing/2014/main" id="{75828B4B-53F7-4D68-8A01-AF9AE9A0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68605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446"/>
                </a:solidFill>
              </a:defRPr>
            </a:pPr>
            <a:r>
              <a:rPr sz="1050" b="1">
                <a:solidFill>
                  <a:srgbClr val="1A3446"/>
                </a:solidFill>
              </a:rPr>
              <a:t>同一字段下，业务含义可能不同</a:t>
            </a:r>
          </a:p>
        </p:txBody>
      </p:sp>
      <p:sp>
        <p:nvSpPr>
          <p:cNvPr id="123" name="diff-no-2">
            <a:extLst xmlns:a="http://schemas.openxmlformats.org/drawingml/2006/main">
              <a:ext uri="{FF2B5EF4-FFF2-40B4-BE49-F238E27FC236}">
                <a16:creationId xmlns:a16="http://schemas.microsoft.com/office/drawing/2014/main" id="{55E9BB2B-3E63-4D51-9DA1-B75B9A06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2422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124" name="diff-no-text-2">
            <a:extLst xmlns:a="http://schemas.openxmlformats.org/drawingml/2006/main">
              <a:ext uri="{FF2B5EF4-FFF2-40B4-BE49-F238E27FC236}">
                <a16:creationId xmlns:a16="http://schemas.microsoft.com/office/drawing/2014/main" id="{AE269FC5-E0E2-429E-879B-FC81C93D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371850"/>
            <a:ext cx="2476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5" name="diff-text-2">
            <a:extLst xmlns:a="http://schemas.openxmlformats.org/drawingml/2006/main">
              <a:ext uri="{FF2B5EF4-FFF2-40B4-BE49-F238E27FC236}">
                <a16:creationId xmlns:a16="http://schemas.microsoft.com/office/drawing/2014/main" id="{4B3E5B63-CE79-461A-B767-DF00BCD4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34327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446"/>
                </a:solidFill>
              </a:defRPr>
            </a:pPr>
            <a:r>
              <a:rPr sz="1050" b="1">
                <a:solidFill>
                  <a:srgbClr val="1A3446"/>
                </a:solidFill>
              </a:rPr>
              <a:t>同类业务在不同材料中叫法不同</a:t>
            </a:r>
          </a:p>
        </p:txBody>
      </p:sp>
      <p:sp>
        <p:nvSpPr>
          <p:cNvPr id="126" name="diff-no-3">
            <a:extLst xmlns:a="http://schemas.openxmlformats.org/drawingml/2006/main">
              <a:ext uri="{FF2B5EF4-FFF2-40B4-BE49-F238E27FC236}">
                <a16:creationId xmlns:a16="http://schemas.microsoft.com/office/drawing/2014/main" id="{47B4D902-92FE-46E0-895B-72A40E3B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9814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127" name="diff-no-text-3">
            <a:extLst xmlns:a="http://schemas.openxmlformats.org/drawingml/2006/main">
              <a:ext uri="{FF2B5EF4-FFF2-40B4-BE49-F238E27FC236}">
                <a16:creationId xmlns:a16="http://schemas.microsoft.com/office/drawing/2014/main" id="{42FBA5CC-0C21-4B45-BED5-0BF31845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029075"/>
            <a:ext cx="2476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8" name="diff-text-3">
            <a:extLst xmlns:a="http://schemas.openxmlformats.org/drawingml/2006/main">
              <a:ext uri="{FF2B5EF4-FFF2-40B4-BE49-F238E27FC236}">
                <a16:creationId xmlns:a16="http://schemas.microsoft.com/office/drawing/2014/main" id="{DD384345-AF27-476E-B88F-8965E3199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000500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446"/>
                </a:solidFill>
              </a:defRPr>
            </a:pPr>
            <a:r>
              <a:rPr sz="1050" b="1">
                <a:solidFill>
                  <a:srgbClr val="1A3446"/>
                </a:solidFill>
              </a:rPr>
              <a:t>资金流水容易被误认为证券交易</a:t>
            </a:r>
          </a:p>
        </p:txBody>
      </p:sp>
      <p:sp>
        <p:nvSpPr>
          <p:cNvPr id="129" name="diff-no-4">
            <a:extLst xmlns:a="http://schemas.openxmlformats.org/drawingml/2006/main">
              <a:ext uri="{FF2B5EF4-FFF2-40B4-BE49-F238E27FC236}">
                <a16:creationId xmlns:a16="http://schemas.microsoft.com/office/drawing/2014/main" id="{21BA702E-C463-49C5-9621-AB0AA74B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638675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130" name="diff-no-text-4">
            <a:extLst xmlns:a="http://schemas.openxmlformats.org/drawingml/2006/main">
              <a:ext uri="{FF2B5EF4-FFF2-40B4-BE49-F238E27FC236}">
                <a16:creationId xmlns:a16="http://schemas.microsoft.com/office/drawing/2014/main" id="{E8875C44-1433-4E33-A30F-D72D2CC8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686300"/>
            <a:ext cx="2476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31" name="diff-text-4">
            <a:extLst xmlns:a="http://schemas.openxmlformats.org/drawingml/2006/main">
              <a:ext uri="{FF2B5EF4-FFF2-40B4-BE49-F238E27FC236}">
                <a16:creationId xmlns:a16="http://schemas.microsoft.com/office/drawing/2014/main" id="{A48D0AD8-890B-4598-A7B0-0F34C537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65772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12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446"/>
                </a:solidFill>
              </a:defRPr>
            </a:pPr>
            <a:r>
              <a:rPr sz="1050" b="1">
                <a:solidFill>
                  <a:srgbClr val="1A3446"/>
                </a:solidFill>
              </a:rPr>
              <a:t>跨页、跨表记录需要人工反复核对</a:t>
            </a:r>
          </a:p>
        </p:txBody>
      </p:sp>
      <p:sp>
        <p:nvSpPr>
          <p:cNvPr id="132" name="bottom-callout">
            <a:extLst xmlns:a="http://schemas.openxmlformats.org/drawingml/2006/main">
              <a:ext uri="{FF2B5EF4-FFF2-40B4-BE49-F238E27FC236}">
                <a16:creationId xmlns:a16="http://schemas.microsoft.com/office/drawing/2014/main" id="{ED42BCF6-406E-4438-8673-7FB69008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43575"/>
            <a:ext cx="10020300" cy="5143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F0C187"/>
            </a:solidFill>
            <a:prstDash val="solid"/>
          </a:ln>
        </p:spPr>
      </p:sp>
      <p:sp>
        <p:nvSpPr>
          <p:cNvPr id="133" name="bottom-accent">
            <a:extLst xmlns:a="http://schemas.openxmlformats.org/drawingml/2006/main">
              <a:ext uri="{FF2B5EF4-FFF2-40B4-BE49-F238E27FC236}">
                <a16:creationId xmlns:a16="http://schemas.microsoft.com/office/drawing/2014/main" id="{E3A7FBB7-AB35-40DA-AC3B-A535493B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43575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134" name="bottom-text">
            <a:extLst xmlns:a="http://schemas.openxmlformats.org/drawingml/2006/main">
              <a:ext uri="{FF2B5EF4-FFF2-40B4-BE49-F238E27FC236}">
                <a16:creationId xmlns:a16="http://schemas.microsoft.com/office/drawing/2014/main" id="{2BD7AEE3-4B82-401C-A2D4-C65E3EF78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876925"/>
            <a:ext cx="919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63456"/>
                </a:solidFill>
              </a:defRPr>
            </a:pPr>
            <a:r>
              <a:rPr sz="1275" b="1">
                <a:solidFill>
                  <a:srgbClr val="063456"/>
                </a:solidFill>
              </a:rPr>
              <a:t>风险点：如果只按关键词或字段抽取，容易把红利、利息、银证转账误判为买卖交易，也可能漏掉真正影响持仓的业务。</a:t>
            </a:r>
          </a:p>
        </p:txBody>
      </p:sp>
      <p:sp>
        <p:nvSpPr>
          <p:cNvPr id="135" name="footer-line">
            <a:extLst xmlns:a="http://schemas.openxmlformats.org/drawingml/2006/main">
              <a:ext uri="{FF2B5EF4-FFF2-40B4-BE49-F238E27FC236}">
                <a16:creationId xmlns:a16="http://schemas.microsoft.com/office/drawing/2014/main" id="{F034BE75-3890-4664-8CCE-D3A5AA6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136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38865EF-F501-41BB-AAB6-B8430E6F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865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987"/>
                </a:solidFill>
              </a:defRPr>
            </a:pPr>
            <a:r>
              <a:rPr sz="750" b="0">
                <a:solidFill>
                  <a:srgbClr val="657987"/>
                </a:solidFill>
              </a:rPr>
              <a:t>易方达基金 · 内部交流，请勿外传</a:t>
            </a:r>
          </a:p>
        </p:txBody>
      </p:sp>
      <p:sp>
        <p:nvSpPr>
          <p:cNvPr id="137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5DEEC524-499F-44F6-83AD-05A99F7D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486525"/>
            <a:ext cx="1447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57987"/>
                </a:solidFill>
              </a:defRPr>
            </a:pPr>
            <a:r>
              <a:rPr sz="750" b="0">
                <a:solidFill>
                  <a:srgbClr val="657987"/>
                </a:solidFill>
              </a:rPr>
              <a:t>业务类型复杂 / 问题页</a:t>
            </a:r>
          </a:p>
        </p:txBody>
      </p:sp>
    </p:spTree>
    <p:extLst>
      <p:ext uri="{BB962C8B-B14F-4D97-AF65-F5344CB8AC3E}">
        <p14:creationId xmlns:p14="http://schemas.microsoft.com/office/powerpoint/2010/main" val="19040126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2026-06-24T08:35:52.1890000Z</dcterms:created>
  <dcterms:modified xsi:type="dcterms:W3CDTF">2026-06-24T08:35:52.1890000Z</dcterms:modified>
</coreProperties>
</file>