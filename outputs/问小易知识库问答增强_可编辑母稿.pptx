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64aa85e406487f" /><Relationship Type="http://schemas.openxmlformats.org/officeDocument/2006/relationships/extended-properties" Target="/docProps/app.xml" Id="R8151c94ae83a4b4e" /><Relationship Type="http://schemas.openxmlformats.org/officeDocument/2006/relationships/officeDocument" Target="/ppt/presentation.xml" Id="R65493a67b07740a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24763ec7b034f09"/>
  </p:sldMasterIdLst>
  <p:notesMasterIdLst>
    <p:notesMasterId xmlns:r="http://schemas.openxmlformats.org/officeDocument/2006/relationships" r:id="R3269c659048746bd"/>
  </p:notesMasterIdLst>
  <p:sldIdLst>
    <p:sldId xmlns:r="http://schemas.openxmlformats.org/officeDocument/2006/relationships" id="256" r:id="R99f352e2c03d49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54e988ff89c4fe0" /><Relationship Type="http://schemas.openxmlformats.org/officeDocument/2006/relationships/slideMaster" Target="/ppt/slideMasters/slideMaster1.xml" Id="R824763ec7b034f09" /><Relationship Type="http://schemas.openxmlformats.org/officeDocument/2006/relationships/notesMaster" Target="/ppt/notesMasters/notesMaster1.xml" Id="R3269c659048746bd" /><Relationship Type="http://schemas.openxmlformats.org/officeDocument/2006/relationships/presProps" Target="/ppt/presProps.xml" Id="R77f41453747a4b14" /><Relationship Type="http://schemas.openxmlformats.org/officeDocument/2006/relationships/tableStyles" Target="/ppt/tableStyles.xml" Id="R13d865bb93be4ec0" /><Relationship Type="http://schemas.openxmlformats.org/officeDocument/2006/relationships/slide" Target="/ppt/slides/slide1.xml" Id="R99f352e2c03d49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b0827e9b4ff4c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eb7dff19454a69" /><Relationship Type="http://schemas.openxmlformats.org/officeDocument/2006/relationships/notesMaster" Target="/ppt/notesMasters/notesMaster1.xml" Id="Ra66b7457d03c43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caa2c883a49f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15c974b3c84808" /><Relationship Type="http://schemas.openxmlformats.org/officeDocument/2006/relationships/slideLayout" Target="/ppt/slideLayouts/slideLayout1.xml" Id="Rf091d6992c4d4a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91d6992c4d4a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853d8bb2b54f38" /><Relationship Type="http://schemas.openxmlformats.org/officeDocument/2006/relationships/notesSlide" Target="/ppt/notesSlides/notesSlide1.xml" Id="Ra60dc635af7a4fd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6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opbar">
            <a:extLst xmlns:a="http://schemas.openxmlformats.org/drawingml/2006/main">
              <a:ext uri="{FF2B5EF4-FFF2-40B4-BE49-F238E27FC236}">
                <a16:creationId xmlns:a16="http://schemas.microsoft.com/office/drawing/2014/main" id="{BCC474D3-4E90-41A2-AE82-6D489F17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2" name="left-pale">
            <a:extLst xmlns:a="http://schemas.openxmlformats.org/drawingml/2006/main">
              <a:ext uri="{FF2B5EF4-FFF2-40B4-BE49-F238E27FC236}">
                <a16:creationId xmlns:a16="http://schemas.microsoft.com/office/drawing/2014/main" id="{E0A63F94-128B-44B3-9D22-BE7BC057E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525"/>
            <a:ext cx="9525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6F9"/>
          </a:solidFill>
          <a:ln xmlns:a="http://schemas.openxmlformats.org/drawingml/2006/main" w="0">
            <a:solidFill>
              <a:srgbClr val="F0F6F9"/>
            </a:solidFill>
            <a:prstDash val="solid"/>
          </a:ln>
        </p:spPr>
      </p:sp>
      <p:sp>
        <p:nvSpPr>
          <p:cNvPr id="3" name="cyan-strip">
            <a:extLst xmlns:a="http://schemas.openxmlformats.org/drawingml/2006/main">
              <a:ext uri="{FF2B5EF4-FFF2-40B4-BE49-F238E27FC236}">
                <a16:creationId xmlns:a16="http://schemas.microsoft.com/office/drawing/2014/main" id="{DD707E91-EE6A-4BD7-AA87-3DC61FB1C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0525"/>
            <a:ext cx="114300" cy="6467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4" name="brand-dot">
            <a:extLst xmlns:a="http://schemas.openxmlformats.org/drawingml/2006/main">
              <a:ext uri="{FF2B5EF4-FFF2-40B4-BE49-F238E27FC236}">
                <a16:creationId xmlns:a16="http://schemas.microsoft.com/office/drawing/2014/main" id="{55335670-54E6-476D-A64C-E0FD225F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14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eyebrow">
            <a:extLst xmlns:a="http://schemas.openxmlformats.org/drawingml/2006/main">
              <a:ext uri="{FF2B5EF4-FFF2-40B4-BE49-F238E27FC236}">
                <a16:creationId xmlns:a16="http://schemas.microsoft.com/office/drawing/2014/main" id="{3D9244FB-554D-4410-BB71-1CC9BB1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7239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57987"/>
                </a:solidFill>
              </a:defRPr>
            </a:pPr>
            <a:r>
              <a:rPr sz="1125" b="1">
                <a:solidFill>
                  <a:srgbClr val="657987"/>
                </a:solidFill>
              </a:rPr>
              <a:t>项目可拓展性</a:t>
            </a:r>
          </a:p>
        </p:txBody>
      </p:sp>
      <p:sp>
        <p:nvSpPr>
          <p:cNvPr id="6" name="title">
            <a:extLst xmlns:a="http://schemas.openxmlformats.org/drawingml/2006/main">
              <a:ext uri="{FF2B5EF4-FFF2-40B4-BE49-F238E27FC236}">
                <a16:creationId xmlns:a16="http://schemas.microsoft.com/office/drawing/2014/main" id="{32F42A40-2CBD-4B7E-942F-707F4BE6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000125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63456"/>
                </a:solidFill>
              </a:defRPr>
            </a:pPr>
            <a:r>
              <a:rPr sz="2250" b="1">
                <a:solidFill>
                  <a:srgbClr val="063456"/>
                </a:solidFill>
              </a:rPr>
              <a:t>问小易增强：基于知识库的合规问答助手</a:t>
            </a:r>
          </a:p>
        </p:txBody>
      </p:sp>
      <p:sp>
        <p:nvSpPr>
          <p:cNvPr id="7" name="title-rule">
            <a:extLst xmlns:a="http://schemas.openxmlformats.org/drawingml/2006/main">
              <a:ext uri="{FF2B5EF4-FFF2-40B4-BE49-F238E27FC236}">
                <a16:creationId xmlns:a16="http://schemas.microsoft.com/office/drawing/2014/main" id="{5DE58656-F042-44AE-8602-9EB8E3B1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38275"/>
            <a:ext cx="10020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" name="badge">
            <a:extLst xmlns:a="http://schemas.openxmlformats.org/drawingml/2006/main">
              <a:ext uri="{FF2B5EF4-FFF2-40B4-BE49-F238E27FC236}">
                <a16:creationId xmlns:a16="http://schemas.microsoft.com/office/drawing/2014/main" id="{6F5CBDB7-48D7-4DDF-B2E9-42D26EE0A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1600200" cy="3619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9" name="badge-accent">
            <a:extLst xmlns:a="http://schemas.openxmlformats.org/drawingml/2006/main">
              <a:ext uri="{FF2B5EF4-FFF2-40B4-BE49-F238E27FC236}">
                <a16:creationId xmlns:a16="http://schemas.microsoft.com/office/drawing/2014/main" id="{CD77E9AB-6B59-44C7-A6C0-60FBCFE10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952500"/>
            <a:ext cx="476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0" name="badge-text">
            <a:extLst xmlns:a="http://schemas.openxmlformats.org/drawingml/2006/main">
              <a:ext uri="{FF2B5EF4-FFF2-40B4-BE49-F238E27FC236}">
                <a16:creationId xmlns:a16="http://schemas.microsoft.com/office/drawing/2014/main" id="{6A8BACA2-1ABC-40C4-9B1C-168182A77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047750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0508F"/>
                </a:solidFill>
              </a:defRPr>
            </a:pPr>
            <a:r>
              <a:rPr sz="975" b="1">
                <a:solidFill>
                  <a:srgbClr val="00508F"/>
                </a:solidFill>
              </a:rPr>
              <a:t>知识库问答</a:t>
            </a:r>
          </a:p>
        </p:txBody>
      </p:sp>
      <p:sp>
        <p:nvSpPr>
          <p:cNvPr id="11" name="lead">
            <a:extLst xmlns:a="http://schemas.openxmlformats.org/drawingml/2006/main">
              <a:ext uri="{FF2B5EF4-FFF2-40B4-BE49-F238E27FC236}">
                <a16:creationId xmlns:a16="http://schemas.microsoft.com/office/drawing/2014/main" id="{861E8396-631F-4BC6-AA3D-3E58A6D5D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628775"/>
            <a:ext cx="10020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A3446"/>
                </a:solidFill>
              </a:defRPr>
            </a:pPr>
            <a:r>
              <a:rPr sz="1350" b="0">
                <a:solidFill>
                  <a:srgbClr val="1A3446"/>
                </a:solidFill>
              </a:rPr>
              <a:t>将法规制度、项目规则、材料口径和操作手册沉淀为知识库，问小易不只回答“是什么”，还要说明依据、来源和下一步复核动作。</a:t>
            </a:r>
          </a:p>
        </p:txBody>
      </p:sp>
      <p:sp>
        <p:nvSpPr>
          <p:cNvPr id="12" name="section-知识来源">
            <a:extLst xmlns:a="http://schemas.openxmlformats.org/drawingml/2006/main">
              <a:ext uri="{FF2B5EF4-FFF2-40B4-BE49-F238E27FC236}">
                <a16:creationId xmlns:a16="http://schemas.microsoft.com/office/drawing/2014/main" id="{85D58F16-1A3B-4368-805B-57B04B60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09550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知识来源</a:t>
            </a:r>
          </a:p>
        </p:txBody>
      </p:sp>
      <p:sp>
        <p:nvSpPr>
          <p:cNvPr id="13" name="section-rule-知识来源">
            <a:extLst xmlns:a="http://schemas.openxmlformats.org/drawingml/2006/main">
              <a:ext uri="{FF2B5EF4-FFF2-40B4-BE49-F238E27FC236}">
                <a16:creationId xmlns:a16="http://schemas.microsoft.com/office/drawing/2014/main" id="{B591CDB5-84DA-4B75-9F09-96319A788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2571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14" name="left-panel">
            <a:extLst xmlns:a="http://schemas.openxmlformats.org/drawingml/2006/main">
              <a:ext uri="{FF2B5EF4-FFF2-40B4-BE49-F238E27FC236}">
                <a16:creationId xmlns:a16="http://schemas.microsoft.com/office/drawing/2014/main" id="{BAE70D1C-712D-4A28-B2E2-96CA4F006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457450"/>
            <a:ext cx="2571750" cy="295275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5" name="source-法规制度">
            <a:extLst xmlns:a="http://schemas.openxmlformats.org/drawingml/2006/main">
              <a:ext uri="{FF2B5EF4-FFF2-40B4-BE49-F238E27FC236}">
                <a16:creationId xmlns:a16="http://schemas.microsoft.com/office/drawing/2014/main" id="{A84D99A1-EAAB-4C3D-A393-42129AA03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2324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16" name="source-accent-法规制度">
            <a:extLst xmlns:a="http://schemas.openxmlformats.org/drawingml/2006/main">
              <a:ext uri="{FF2B5EF4-FFF2-40B4-BE49-F238E27FC236}">
                <a16:creationId xmlns:a16="http://schemas.microsoft.com/office/drawing/2014/main" id="{386D8D61-BAE7-4FEB-8502-7AFC3631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8605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17" name="source-tag-法规制度">
            <a:extLst xmlns:a="http://schemas.openxmlformats.org/drawingml/2006/main">
              <a:ext uri="{FF2B5EF4-FFF2-40B4-BE49-F238E27FC236}">
                <a16:creationId xmlns:a16="http://schemas.microsoft.com/office/drawing/2014/main" id="{5C2125F0-F7E0-4C76-940E-D01465BF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800350"/>
            <a:ext cx="838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18" name="source-title-法规制度">
            <a:extLst xmlns:a="http://schemas.openxmlformats.org/drawingml/2006/main">
              <a:ext uri="{FF2B5EF4-FFF2-40B4-BE49-F238E27FC236}">
                <a16:creationId xmlns:a16="http://schemas.microsoft.com/office/drawing/2014/main" id="{8908CD08-7624-48EF-B0A4-8435C336F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847975"/>
            <a:ext cx="704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8F"/>
                </a:solidFill>
              </a:defRPr>
            </a:pPr>
            <a:r>
              <a:rPr sz="750" b="1">
                <a:solidFill>
                  <a:srgbClr val="00508F"/>
                </a:solidFill>
              </a:rPr>
              <a:t>法规制度</a:t>
            </a:r>
          </a:p>
        </p:txBody>
      </p:sp>
      <p:sp>
        <p:nvSpPr>
          <p:cNvPr id="19" name="source-desc-法规制度">
            <a:extLst xmlns:a="http://schemas.openxmlformats.org/drawingml/2006/main">
              <a:ext uri="{FF2B5EF4-FFF2-40B4-BE49-F238E27FC236}">
                <a16:creationId xmlns:a16="http://schemas.microsoft.com/office/drawing/2014/main" id="{F9B4BB22-7983-496E-9AA4-17D66A19B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8289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477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从业人员规则、证券投资指引、公司内控制度</a:t>
            </a:r>
          </a:p>
        </p:txBody>
      </p:sp>
      <p:sp>
        <p:nvSpPr>
          <p:cNvPr id="20" name="source-项目规则">
            <a:extLst xmlns:a="http://schemas.openxmlformats.org/drawingml/2006/main">
              <a:ext uri="{FF2B5EF4-FFF2-40B4-BE49-F238E27FC236}">
                <a16:creationId xmlns:a16="http://schemas.microsoft.com/office/drawing/2014/main" id="{D1DB37B2-2572-4F7F-9FC0-65911C938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62325"/>
            <a:ext cx="2324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1" name="source-accent-项目规则">
            <a:extLst xmlns:a="http://schemas.openxmlformats.org/drawingml/2006/main">
              <a:ext uri="{FF2B5EF4-FFF2-40B4-BE49-F238E27FC236}">
                <a16:creationId xmlns:a16="http://schemas.microsoft.com/office/drawing/2014/main" id="{F5287C9E-C91A-4821-AD53-2334FF7AF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336232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B5CF"/>
          </a:solidFill>
          <a:ln xmlns:a="http://schemas.openxmlformats.org/drawingml/2006/main" w="0">
            <a:solidFill>
              <a:srgbClr val="00B5CF"/>
            </a:solidFill>
            <a:prstDash val="solid"/>
          </a:ln>
        </p:spPr>
      </p:sp>
      <p:sp>
        <p:nvSpPr>
          <p:cNvPr id="22" name="source-tag-项目规则">
            <a:extLst xmlns:a="http://schemas.openxmlformats.org/drawingml/2006/main">
              <a:ext uri="{FF2B5EF4-FFF2-40B4-BE49-F238E27FC236}">
                <a16:creationId xmlns:a16="http://schemas.microsoft.com/office/drawing/2014/main" id="{095052A1-F3CE-41D0-BC92-060826AC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3476625"/>
            <a:ext cx="838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9525">
            <a:solidFill>
              <a:srgbClr val="00B5CF"/>
            </a:solidFill>
            <a:prstDash val="solid"/>
          </a:ln>
        </p:spPr>
      </p:sp>
      <p:sp>
        <p:nvSpPr>
          <p:cNvPr id="23" name="source-title-项目规则">
            <a:extLst xmlns:a="http://schemas.openxmlformats.org/drawingml/2006/main">
              <a:ext uri="{FF2B5EF4-FFF2-40B4-BE49-F238E27FC236}">
                <a16:creationId xmlns:a16="http://schemas.microsoft.com/office/drawing/2014/main" id="{56F9C413-668D-4C31-BF33-4731E8C1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524250"/>
            <a:ext cx="704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B5CF"/>
                </a:solidFill>
              </a:defRPr>
            </a:pPr>
            <a:r>
              <a:rPr sz="750" b="1">
                <a:solidFill>
                  <a:srgbClr val="00B5CF"/>
                </a:solidFill>
              </a:rPr>
              <a:t>项目规则</a:t>
            </a:r>
          </a:p>
        </p:txBody>
      </p:sp>
      <p:sp>
        <p:nvSpPr>
          <p:cNvPr id="24" name="source-desc-项目规则">
            <a:extLst xmlns:a="http://schemas.openxmlformats.org/drawingml/2006/main">
              <a:ext uri="{FF2B5EF4-FFF2-40B4-BE49-F238E27FC236}">
                <a16:creationId xmlns:a16="http://schemas.microsoft.com/office/drawing/2014/main" id="{CC2DB4E0-81C2-4C40-85E8-A63ED54A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50520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申报字段、事件分类、异常判定口径</a:t>
            </a:r>
          </a:p>
        </p:txBody>
      </p:sp>
      <p:sp>
        <p:nvSpPr>
          <p:cNvPr id="25" name="source-材料样例">
            <a:extLst xmlns:a="http://schemas.openxmlformats.org/drawingml/2006/main">
              <a:ext uri="{FF2B5EF4-FFF2-40B4-BE49-F238E27FC236}">
                <a16:creationId xmlns:a16="http://schemas.microsoft.com/office/drawing/2014/main" id="{ACED90E9-6901-4AB5-9785-22451140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38600"/>
            <a:ext cx="2324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26" name="source-accent-材料样例">
            <a:extLst xmlns:a="http://schemas.openxmlformats.org/drawingml/2006/main">
              <a:ext uri="{FF2B5EF4-FFF2-40B4-BE49-F238E27FC236}">
                <a16:creationId xmlns:a16="http://schemas.microsoft.com/office/drawing/2014/main" id="{5768397A-F0E9-49D5-B274-72793F968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38600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27" name="source-tag-材料样例">
            <a:extLst xmlns:a="http://schemas.openxmlformats.org/drawingml/2006/main">
              <a:ext uri="{FF2B5EF4-FFF2-40B4-BE49-F238E27FC236}">
                <a16:creationId xmlns:a16="http://schemas.microsoft.com/office/drawing/2014/main" id="{D5D5099F-0A58-4DEC-9DD8-7288C19C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152900"/>
            <a:ext cx="838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28" name="source-title-材料样例">
            <a:extLst xmlns:a="http://schemas.openxmlformats.org/drawingml/2006/main">
              <a:ext uri="{FF2B5EF4-FFF2-40B4-BE49-F238E27FC236}">
                <a16:creationId xmlns:a16="http://schemas.microsoft.com/office/drawing/2014/main" id="{EF3D10F0-67E0-43E1-B25C-F939246F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200525"/>
            <a:ext cx="704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8B57"/>
                </a:solidFill>
              </a:defRPr>
            </a:pPr>
            <a:r>
              <a:rPr sz="750" b="1">
                <a:solidFill>
                  <a:srgbClr val="2E8B57"/>
                </a:solidFill>
              </a:rPr>
              <a:t>材料样例</a:t>
            </a:r>
          </a:p>
        </p:txBody>
      </p:sp>
      <p:sp>
        <p:nvSpPr>
          <p:cNvPr id="29" name="source-desc-材料样例">
            <a:extLst xmlns:a="http://schemas.openxmlformats.org/drawingml/2006/main">
              <a:ext uri="{FF2B5EF4-FFF2-40B4-BE49-F238E27FC236}">
                <a16:creationId xmlns:a16="http://schemas.microsoft.com/office/drawing/2014/main" id="{A6AA9930-26F2-4F12-9BB8-E8A11FD28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18147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广发对账单、中证登材料、截图样例</a:t>
            </a:r>
          </a:p>
        </p:txBody>
      </p:sp>
      <p:sp>
        <p:nvSpPr>
          <p:cNvPr id="30" name="source-操作经验">
            <a:extLst xmlns:a="http://schemas.openxmlformats.org/drawingml/2006/main">
              <a:ext uri="{FF2B5EF4-FFF2-40B4-BE49-F238E27FC236}">
                <a16:creationId xmlns:a16="http://schemas.microsoft.com/office/drawing/2014/main" id="{F359FD10-806E-43B2-BE2C-CB23D6C4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14875"/>
            <a:ext cx="2324100" cy="5715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1" name="source-accent-操作经验">
            <a:extLst xmlns:a="http://schemas.openxmlformats.org/drawingml/2006/main">
              <a:ext uri="{FF2B5EF4-FFF2-40B4-BE49-F238E27FC236}">
                <a16:creationId xmlns:a16="http://schemas.microsoft.com/office/drawing/2014/main" id="{9894AA7F-50E3-449E-A59B-6F69942A1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714875"/>
            <a:ext cx="476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32" name="source-tag-操作经验">
            <a:extLst xmlns:a="http://schemas.openxmlformats.org/drawingml/2006/main">
              <a:ext uri="{FF2B5EF4-FFF2-40B4-BE49-F238E27FC236}">
                <a16:creationId xmlns:a16="http://schemas.microsoft.com/office/drawing/2014/main" id="{9FA04F23-526D-4371-A00C-926EA33B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4829175"/>
            <a:ext cx="838200" cy="2095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33" name="source-title-操作经验">
            <a:extLst xmlns:a="http://schemas.openxmlformats.org/drawingml/2006/main">
              <a:ext uri="{FF2B5EF4-FFF2-40B4-BE49-F238E27FC236}">
                <a16:creationId xmlns:a16="http://schemas.microsoft.com/office/drawing/2014/main" id="{D9DD75F2-1E47-479B-81A5-2ED6F3875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876800"/>
            <a:ext cx="704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E17A22"/>
                </a:solidFill>
              </a:defRPr>
            </a:pPr>
            <a:r>
              <a:rPr sz="750" b="1">
                <a:solidFill>
                  <a:srgbClr val="E17A22"/>
                </a:solidFill>
              </a:rPr>
              <a:t>操作经验</a:t>
            </a:r>
          </a:p>
        </p:txBody>
      </p:sp>
      <p:sp>
        <p:nvSpPr>
          <p:cNvPr id="34" name="source-desc-操作经验">
            <a:extLst xmlns:a="http://schemas.openxmlformats.org/drawingml/2006/main">
              <a:ext uri="{FF2B5EF4-FFF2-40B4-BE49-F238E27FC236}">
                <a16:creationId xmlns:a16="http://schemas.microsoft.com/office/drawing/2014/main" id="{71FAF667-EC47-4597-935D-CE99FEE63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57750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复核问题、处理建议、常见问答沉淀</a:t>
            </a:r>
          </a:p>
        </p:txBody>
      </p:sp>
      <p:sp>
        <p:nvSpPr>
          <p:cNvPr id="35" name="section-问答链路">
            <a:extLst xmlns:a="http://schemas.openxmlformats.org/drawingml/2006/main">
              <a:ext uri="{FF2B5EF4-FFF2-40B4-BE49-F238E27FC236}">
                <a16:creationId xmlns:a16="http://schemas.microsoft.com/office/drawing/2014/main" id="{3D87001B-BCCE-469D-AA25-380E5DA9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95500"/>
            <a:ext cx="3905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问答链路</a:t>
            </a:r>
          </a:p>
        </p:txBody>
      </p:sp>
      <p:sp>
        <p:nvSpPr>
          <p:cNvPr id="36" name="section-rule-问答链路">
            <a:extLst xmlns:a="http://schemas.openxmlformats.org/drawingml/2006/main">
              <a:ext uri="{FF2B5EF4-FFF2-40B4-BE49-F238E27FC236}">
                <a16:creationId xmlns:a16="http://schemas.microsoft.com/office/drawing/2014/main" id="{90B853F3-5134-4783-BFE8-7A060777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390775"/>
            <a:ext cx="3905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37" name="flow-panel">
            <a:extLst xmlns:a="http://schemas.openxmlformats.org/drawingml/2006/main">
              <a:ext uri="{FF2B5EF4-FFF2-40B4-BE49-F238E27FC236}">
                <a16:creationId xmlns:a16="http://schemas.microsoft.com/office/drawing/2014/main" id="{216BCE18-D143-4EC2-9347-C1B58291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457450"/>
            <a:ext cx="3905250" cy="2952750"/>
          </a:xfrm>
          <a:prstGeom xmlns:a="http://schemas.openxmlformats.org/drawingml/2006/main" prst="roundRect">
            <a:avLst>
              <a:gd name="adj" fmla="val 19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8" name="step-1">
            <a:extLst xmlns:a="http://schemas.openxmlformats.org/drawingml/2006/main">
              <a:ext uri="{FF2B5EF4-FFF2-40B4-BE49-F238E27FC236}">
                <a16:creationId xmlns:a16="http://schemas.microsoft.com/office/drawing/2014/main" id="{B51B95DF-70E1-4859-91B3-D98BF13E1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90850"/>
            <a:ext cx="13811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39" name="step-top-1">
            <a:extLst xmlns:a="http://schemas.openxmlformats.org/drawingml/2006/main">
              <a:ext uri="{FF2B5EF4-FFF2-40B4-BE49-F238E27FC236}">
                <a16:creationId xmlns:a16="http://schemas.microsoft.com/office/drawing/2014/main" id="{B1F4B4C1-1D57-4325-BF74-DBF1B00A9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908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40" name="step-no-1">
            <a:extLst xmlns:a="http://schemas.openxmlformats.org/drawingml/2006/main">
              <a:ext uri="{FF2B5EF4-FFF2-40B4-BE49-F238E27FC236}">
                <a16:creationId xmlns:a16="http://schemas.microsoft.com/office/drawing/2014/main" id="{8C4F4EEC-8434-48C2-B1BA-85AEA296B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30765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01</a:t>
            </a:r>
          </a:p>
        </p:txBody>
      </p:sp>
      <p:sp>
        <p:nvSpPr>
          <p:cNvPr id="4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9944EB7C-6328-4EB1-B62F-C71FB769E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067050"/>
            <a:ext cx="838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用户提问</a:t>
            </a:r>
          </a:p>
        </p:txBody>
      </p:sp>
      <p:sp>
        <p:nvSpPr>
          <p:cNvPr id="42" name="step-desc-1">
            <a:extLst xmlns:a="http://schemas.openxmlformats.org/drawingml/2006/main">
              <a:ext uri="{FF2B5EF4-FFF2-40B4-BE49-F238E27FC236}">
                <a16:creationId xmlns:a16="http://schemas.microsoft.com/office/drawing/2014/main" id="{BF4EE49E-1458-42EA-9D9F-801E40702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3448050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复核人员用自然语言提出业务问题</a:t>
            </a:r>
          </a:p>
        </p:txBody>
      </p:sp>
      <p:sp>
        <p:nvSpPr>
          <p:cNvPr id="43" name="step-2">
            <a:extLst xmlns:a="http://schemas.openxmlformats.org/drawingml/2006/main">
              <a:ext uri="{FF2B5EF4-FFF2-40B4-BE49-F238E27FC236}">
                <a16:creationId xmlns:a16="http://schemas.microsoft.com/office/drawing/2014/main" id="{2A0D8104-6876-4164-B253-245355D3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13811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44" name="step-top-2">
            <a:extLst xmlns:a="http://schemas.openxmlformats.org/drawingml/2006/main">
              <a:ext uri="{FF2B5EF4-FFF2-40B4-BE49-F238E27FC236}">
                <a16:creationId xmlns:a16="http://schemas.microsoft.com/office/drawing/2014/main" id="{5B00C790-7FC9-4BB3-A9BB-3CF431423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908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45" name="step-no-2">
            <a:extLst xmlns:a="http://schemas.openxmlformats.org/drawingml/2006/main">
              <a:ext uri="{FF2B5EF4-FFF2-40B4-BE49-F238E27FC236}">
                <a16:creationId xmlns:a16="http://schemas.microsoft.com/office/drawing/2014/main" id="{714DC80C-C878-4392-A648-61F2B2456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30765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02</a:t>
            </a:r>
          </a:p>
        </p:txBody>
      </p:sp>
      <p:sp>
        <p:nvSpPr>
          <p:cNvPr id="4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B9F8123F-5068-45E6-B14D-903CA2D7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67050"/>
            <a:ext cx="838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知识检索</a:t>
            </a:r>
          </a:p>
        </p:txBody>
      </p:sp>
      <p:sp>
        <p:nvSpPr>
          <p:cNvPr id="47" name="step-desc-2">
            <a:extLst xmlns:a="http://schemas.openxmlformats.org/drawingml/2006/main">
              <a:ext uri="{FF2B5EF4-FFF2-40B4-BE49-F238E27FC236}">
                <a16:creationId xmlns:a16="http://schemas.microsoft.com/office/drawing/2014/main" id="{5583B5C3-350B-457E-A1FE-D4EE1CC2C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448050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从法规、规则、材料口径中召回依据</a:t>
            </a:r>
          </a:p>
        </p:txBody>
      </p:sp>
      <p:sp>
        <p:nvSpPr>
          <p:cNvPr id="48" name="arrow-1">
            <a:extLst xmlns:a="http://schemas.openxmlformats.org/drawingml/2006/main">
              <a:ext uri="{FF2B5EF4-FFF2-40B4-BE49-F238E27FC236}">
                <a16:creationId xmlns:a16="http://schemas.microsoft.com/office/drawing/2014/main" id="{2E780525-FD7F-4354-8AFC-3E9549B8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3528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08F"/>
                </a:solidFill>
              </a:defRPr>
            </a:pPr>
            <a:r>
              <a:rPr sz="1350" b="1">
                <a:solidFill>
                  <a:srgbClr val="00508F"/>
                </a:solidFill>
              </a:rPr>
              <a:t>→</a:t>
            </a:r>
          </a:p>
        </p:txBody>
      </p:sp>
      <p:sp>
        <p:nvSpPr>
          <p:cNvPr id="49" name="step-3">
            <a:extLst xmlns:a="http://schemas.openxmlformats.org/drawingml/2006/main">
              <a:ext uri="{FF2B5EF4-FFF2-40B4-BE49-F238E27FC236}">
                <a16:creationId xmlns:a16="http://schemas.microsoft.com/office/drawing/2014/main" id="{43BCB2CF-86AC-4CF2-9C82-5DEAE396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13811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0" name="step-top-3">
            <a:extLst xmlns:a="http://schemas.openxmlformats.org/drawingml/2006/main">
              <a:ext uri="{FF2B5EF4-FFF2-40B4-BE49-F238E27FC236}">
                <a16:creationId xmlns:a16="http://schemas.microsoft.com/office/drawing/2014/main" id="{1AD9413D-CDA3-4CCF-9321-E17DFFFC0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481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E8F8FB"/>
          </a:solidFill>
          <a:ln xmlns:a="http://schemas.openxmlformats.org/drawingml/2006/main" w="9525">
            <a:solidFill>
              <a:srgbClr val="00B5CF"/>
            </a:solidFill>
            <a:prstDash val="solid"/>
          </a:ln>
        </p:spPr>
      </p:sp>
      <p:sp>
        <p:nvSpPr>
          <p:cNvPr id="51" name="step-no-3">
            <a:extLst xmlns:a="http://schemas.openxmlformats.org/drawingml/2006/main">
              <a:ext uri="{FF2B5EF4-FFF2-40B4-BE49-F238E27FC236}">
                <a16:creationId xmlns:a16="http://schemas.microsoft.com/office/drawing/2014/main" id="{B0C6C6DE-A47B-4786-B3A9-32ABDEBE9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43338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B5CF"/>
                </a:solidFill>
              </a:defRPr>
            </a:pPr>
            <a:r>
              <a:rPr sz="825" b="1">
                <a:solidFill>
                  <a:srgbClr val="00B5CF"/>
                </a:solidFill>
              </a:rPr>
              <a:t>03</a:t>
            </a:r>
          </a:p>
        </p:txBody>
      </p:sp>
      <p:sp>
        <p:nvSpPr>
          <p:cNvPr id="52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9B9C36CF-0A23-4241-8BC7-0ADE8EA9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324350"/>
            <a:ext cx="838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组织回答</a:t>
            </a:r>
          </a:p>
        </p:txBody>
      </p:sp>
      <p:sp>
        <p:nvSpPr>
          <p:cNvPr id="53" name="step-desc-3">
            <a:extLst xmlns:a="http://schemas.openxmlformats.org/drawingml/2006/main">
              <a:ext uri="{FF2B5EF4-FFF2-40B4-BE49-F238E27FC236}">
                <a16:creationId xmlns:a16="http://schemas.microsoft.com/office/drawing/2014/main" id="{9CFFD360-7241-4B07-8DFA-4143573F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705350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结合项目语境生成可执行解释</a:t>
            </a:r>
          </a:p>
        </p:txBody>
      </p:sp>
      <p:sp>
        <p:nvSpPr>
          <p:cNvPr id="54" name="step-4">
            <a:extLst xmlns:a="http://schemas.openxmlformats.org/drawingml/2006/main">
              <a:ext uri="{FF2B5EF4-FFF2-40B4-BE49-F238E27FC236}">
                <a16:creationId xmlns:a16="http://schemas.microsoft.com/office/drawing/2014/main" id="{EB1AEA3F-2219-4283-A347-24E8E12EA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1381125" cy="1123950"/>
          </a:xfrm>
          <a:prstGeom xmlns:a="http://schemas.openxmlformats.org/drawingml/2006/main" prst="roundRect">
            <a:avLst>
              <a:gd name="adj" fmla="val 50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55" name="step-top-4">
            <a:extLst xmlns:a="http://schemas.openxmlformats.org/drawingml/2006/main">
              <a:ext uri="{FF2B5EF4-FFF2-40B4-BE49-F238E27FC236}">
                <a16:creationId xmlns:a16="http://schemas.microsoft.com/office/drawing/2014/main" id="{E2BBD189-B6EE-418B-834F-61ED91E7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248150"/>
            <a:ext cx="1381125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4E6"/>
          </a:solidFill>
          <a:ln xmlns:a="http://schemas.openxmlformats.org/drawingml/2006/main" w="9525">
            <a:solidFill>
              <a:srgbClr val="E17A22"/>
            </a:solidFill>
            <a:prstDash val="solid"/>
          </a:ln>
        </p:spPr>
      </p:sp>
      <p:sp>
        <p:nvSpPr>
          <p:cNvPr id="56" name="step-no-4">
            <a:extLst xmlns:a="http://schemas.openxmlformats.org/drawingml/2006/main">
              <a:ext uri="{FF2B5EF4-FFF2-40B4-BE49-F238E27FC236}">
                <a16:creationId xmlns:a16="http://schemas.microsoft.com/office/drawing/2014/main" id="{9F428702-630A-4D5F-A152-8A2B68F66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8425" y="4333875"/>
            <a:ext cx="266700" cy="11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90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E17A22"/>
                </a:solidFill>
              </a:defRPr>
            </a:pPr>
            <a:r>
              <a:rPr sz="825" b="1">
                <a:solidFill>
                  <a:srgbClr val="E17A22"/>
                </a:solidFill>
              </a:rPr>
              <a:t>04</a:t>
            </a:r>
          </a:p>
        </p:txBody>
      </p:sp>
      <p:sp>
        <p:nvSpPr>
          <p:cNvPr id="57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A570E0C5-C214-4982-9B73-F797A20A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24350"/>
            <a:ext cx="8382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63456"/>
                </a:solidFill>
              </a:defRPr>
            </a:pPr>
            <a:r>
              <a:rPr sz="900" b="1">
                <a:solidFill>
                  <a:srgbClr val="063456"/>
                </a:solidFill>
              </a:rPr>
              <a:t>引用留痕</a:t>
            </a:r>
          </a:p>
        </p:txBody>
      </p:sp>
      <p:sp>
        <p:nvSpPr>
          <p:cNvPr id="58" name="step-desc-4">
            <a:extLst xmlns:a="http://schemas.openxmlformats.org/drawingml/2006/main">
              <a:ext uri="{FF2B5EF4-FFF2-40B4-BE49-F238E27FC236}">
                <a16:creationId xmlns:a16="http://schemas.microsoft.com/office/drawing/2014/main" id="{D242EF19-F000-40B6-B443-FBBB40A6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705350"/>
            <a:ext cx="10763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1A3446"/>
                </a:solidFill>
              </a:defRPr>
            </a:pPr>
            <a:r>
              <a:rPr sz="825" b="0">
                <a:solidFill>
                  <a:srgbClr val="1A3446"/>
                </a:solidFill>
              </a:rPr>
              <a:t>展示来源段落、版本和更新时间</a:t>
            </a:r>
          </a:p>
        </p:txBody>
      </p:sp>
      <p:sp>
        <p:nvSpPr>
          <p:cNvPr id="59" name="arrow-2">
            <a:extLst xmlns:a="http://schemas.openxmlformats.org/drawingml/2006/main">
              <a:ext uri="{FF2B5EF4-FFF2-40B4-BE49-F238E27FC236}">
                <a16:creationId xmlns:a16="http://schemas.microsoft.com/office/drawing/2014/main" id="{E8EDEEC6-15B7-4226-9D4D-5295AF33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4124325"/>
            <a:ext cx="171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08F"/>
                </a:solidFill>
              </a:defRPr>
            </a:pPr>
            <a:r>
              <a:rPr sz="1350" b="1">
                <a:solidFill>
                  <a:srgbClr val="00508F"/>
                </a:solidFill>
              </a:rPr>
              <a:t>↓</a:t>
            </a:r>
          </a:p>
        </p:txBody>
      </p:sp>
      <p:sp>
        <p:nvSpPr>
          <p:cNvPr id="60" name="arrow-3">
            <a:extLst xmlns:a="http://schemas.openxmlformats.org/drawingml/2006/main">
              <a:ext uri="{FF2B5EF4-FFF2-40B4-BE49-F238E27FC236}">
                <a16:creationId xmlns:a16="http://schemas.microsoft.com/office/drawing/2014/main" id="{CA8A7F9F-B3E0-467B-84A2-59E3D9902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19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07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0508F"/>
                </a:solidFill>
              </a:defRPr>
            </a:pPr>
            <a:r>
              <a:rPr sz="1350" b="1">
                <a:solidFill>
                  <a:srgbClr val="00508F"/>
                </a:solidFill>
              </a:rPr>
              <a:t>→</a:t>
            </a:r>
          </a:p>
        </p:txBody>
      </p:sp>
      <p:sp>
        <p:nvSpPr>
          <p:cNvPr id="61" name="center-note">
            <a:extLst xmlns:a="http://schemas.openxmlformats.org/drawingml/2006/main">
              <a:ext uri="{FF2B5EF4-FFF2-40B4-BE49-F238E27FC236}">
                <a16:creationId xmlns:a16="http://schemas.microsoft.com/office/drawing/2014/main" id="{E0E88CEF-C70C-43C1-A7C3-E6F1FA093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3181350" cy="2476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62" name="center-note-text">
            <a:extLst xmlns:a="http://schemas.openxmlformats.org/drawingml/2006/main">
              <a:ext uri="{FF2B5EF4-FFF2-40B4-BE49-F238E27FC236}">
                <a16:creationId xmlns:a16="http://schemas.microsoft.com/office/drawing/2014/main" id="{BD266A38-6215-410B-B007-9BADE60F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724150"/>
            <a:ext cx="2990850" cy="104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00508F"/>
                </a:solidFill>
              </a:defRPr>
            </a:pPr>
            <a:r>
              <a:rPr sz="750" b="1">
                <a:solidFill>
                  <a:srgbClr val="00508F"/>
                </a:solidFill>
              </a:rPr>
              <a:t>核心：回答必须来自可维护知识库，而不是模型自由发挥</a:t>
            </a:r>
          </a:p>
        </p:txBody>
      </p:sp>
      <p:sp>
        <p:nvSpPr>
          <p:cNvPr id="63" name="section-可支持的问题">
            <a:extLst xmlns:a="http://schemas.openxmlformats.org/drawingml/2006/main">
              <a:ext uri="{FF2B5EF4-FFF2-40B4-BE49-F238E27FC236}">
                <a16:creationId xmlns:a16="http://schemas.microsoft.com/office/drawing/2014/main" id="{AA11D7CB-8CF3-45D1-B26C-574B6BAC3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095500"/>
            <a:ext cx="2743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63456"/>
                </a:solidFill>
              </a:defRPr>
            </a:pPr>
            <a:r>
              <a:rPr sz="1350" b="1">
                <a:solidFill>
                  <a:srgbClr val="063456"/>
                </a:solidFill>
              </a:rPr>
              <a:t>可支持的问题</a:t>
            </a:r>
          </a:p>
        </p:txBody>
      </p:sp>
      <p:sp>
        <p:nvSpPr>
          <p:cNvPr id="64" name="section-rule-可支持的问题">
            <a:extLst xmlns:a="http://schemas.openxmlformats.org/drawingml/2006/main">
              <a:ext uri="{FF2B5EF4-FFF2-40B4-BE49-F238E27FC236}">
                <a16:creationId xmlns:a16="http://schemas.microsoft.com/office/drawing/2014/main" id="{4F82789C-CA5A-433C-9E73-158B1293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90775"/>
            <a:ext cx="274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65" name="right-panel">
            <a:extLst xmlns:a="http://schemas.openxmlformats.org/drawingml/2006/main">
              <a:ext uri="{FF2B5EF4-FFF2-40B4-BE49-F238E27FC236}">
                <a16:creationId xmlns:a16="http://schemas.microsoft.com/office/drawing/2014/main" id="{4366CB17-9405-4C81-A80C-E85C9A61E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2743200" cy="2952750"/>
          </a:xfrm>
          <a:prstGeom xmlns:a="http://schemas.openxmlformats.org/drawingml/2006/main" prst="roundRect">
            <a:avLst>
              <a:gd name="adj" fmla="val 2083"/>
            </a:avLst>
          </a:prstGeom>
          <a:solidFill xmlns:a="http://schemas.openxmlformats.org/drawingml/2006/main">
            <a:srgbClr val="F9FBFC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6" name="qa-规则解释">
            <a:extLst xmlns:a="http://schemas.openxmlformats.org/drawingml/2006/main">
              <a:ext uri="{FF2B5EF4-FFF2-40B4-BE49-F238E27FC236}">
                <a16:creationId xmlns:a16="http://schemas.microsoft.com/office/drawing/2014/main" id="{1F84F019-FAC5-4EAA-A81D-F0F76AFE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67" name="qa-accent-规则解释">
            <a:extLst xmlns:a="http://schemas.openxmlformats.org/drawingml/2006/main">
              <a:ext uri="{FF2B5EF4-FFF2-40B4-BE49-F238E27FC236}">
                <a16:creationId xmlns:a16="http://schemas.microsoft.com/office/drawing/2014/main" id="{DB1A730B-8603-4756-ADC1-BDA9E54F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6860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68" name="qa-title-规则解释">
            <a:extLst xmlns:a="http://schemas.openxmlformats.org/drawingml/2006/main">
              <a:ext uri="{FF2B5EF4-FFF2-40B4-BE49-F238E27FC236}">
                <a16:creationId xmlns:a16="http://schemas.microsoft.com/office/drawing/2014/main" id="{14FEE633-51C9-4375-B22B-5B00807D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8003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规则解释</a:t>
            </a:r>
          </a:p>
        </p:txBody>
      </p:sp>
      <p:sp>
        <p:nvSpPr>
          <p:cNvPr id="69" name="qa-lines-规则解释">
            <a:extLst xmlns:a="http://schemas.openxmlformats.org/drawingml/2006/main">
              <a:ext uri="{FF2B5EF4-FFF2-40B4-BE49-F238E27FC236}">
                <a16:creationId xmlns:a16="http://schemas.microsoft.com/office/drawing/2014/main" id="{1F5FBA98-313D-43A9-BA0E-96508237E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0289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三个月持有期如何计算？</a:t>
            </a:r>
          </a:p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哪些关系人需要纳入申报？</a:t>
            </a:r>
          </a:p>
        </p:txBody>
      </p:sp>
      <p:sp>
        <p:nvSpPr>
          <p:cNvPr id="70" name="qa-材料口径">
            <a:extLst xmlns:a="http://schemas.openxmlformats.org/drawingml/2006/main">
              <a:ext uri="{FF2B5EF4-FFF2-40B4-BE49-F238E27FC236}">
                <a16:creationId xmlns:a16="http://schemas.microsoft.com/office/drawing/2014/main" id="{FBFC62B2-DC1F-4BAE-BA7C-639BD1EE0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4330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1" name="qa-accent-材料口径">
            <a:extLst xmlns:a="http://schemas.openxmlformats.org/drawingml/2006/main">
              <a:ext uri="{FF2B5EF4-FFF2-40B4-BE49-F238E27FC236}">
                <a16:creationId xmlns:a16="http://schemas.microsoft.com/office/drawing/2014/main" id="{2F4BED00-EEBC-4EA7-AD99-445C1D06A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54330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8B57"/>
          </a:solidFill>
          <a:ln xmlns:a="http://schemas.openxmlformats.org/drawingml/2006/main" w="0">
            <a:solidFill>
              <a:srgbClr val="2E8B57"/>
            </a:solidFill>
            <a:prstDash val="solid"/>
          </a:ln>
        </p:spPr>
      </p:sp>
      <p:sp>
        <p:nvSpPr>
          <p:cNvPr id="72" name="qa-title-材料口径">
            <a:extLst xmlns:a="http://schemas.openxmlformats.org/drawingml/2006/main">
              <a:ext uri="{FF2B5EF4-FFF2-40B4-BE49-F238E27FC236}">
                <a16:creationId xmlns:a16="http://schemas.microsoft.com/office/drawing/2014/main" id="{15567FC2-9F14-4DEF-BB9D-A0C9AFAC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65760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材料口径</a:t>
            </a:r>
          </a:p>
        </p:txBody>
      </p:sp>
      <p:sp>
        <p:nvSpPr>
          <p:cNvPr id="73" name="qa-lines-材料口径">
            <a:extLst xmlns:a="http://schemas.openxmlformats.org/drawingml/2006/main">
              <a:ext uri="{FF2B5EF4-FFF2-40B4-BE49-F238E27FC236}">
                <a16:creationId xmlns:a16="http://schemas.microsoft.com/office/drawing/2014/main" id="{ACAB82A3-0EFB-474C-8539-B685193E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88620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红利入账是否进入最终申报？</a:t>
            </a:r>
          </a:p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无交易证明应如何记录？</a:t>
            </a:r>
          </a:p>
        </p:txBody>
      </p:sp>
      <p:sp>
        <p:nvSpPr>
          <p:cNvPr id="74" name="qa-复核动作">
            <a:extLst xmlns:a="http://schemas.openxmlformats.org/drawingml/2006/main">
              <a:ext uri="{FF2B5EF4-FFF2-40B4-BE49-F238E27FC236}">
                <a16:creationId xmlns:a16="http://schemas.microsoft.com/office/drawing/2014/main" id="{5870781A-76CF-4C80-98EC-2FE7ABF6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00550"/>
            <a:ext cx="2381250" cy="7810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5" name="qa-accent-复核动作">
            <a:extLst xmlns:a="http://schemas.openxmlformats.org/drawingml/2006/main">
              <a:ext uri="{FF2B5EF4-FFF2-40B4-BE49-F238E27FC236}">
                <a16:creationId xmlns:a16="http://schemas.microsoft.com/office/drawing/2014/main" id="{249EA410-5889-407B-ADE8-B529D4FBE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400550"/>
            <a:ext cx="47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7A22"/>
          </a:solidFill>
          <a:ln xmlns:a="http://schemas.openxmlformats.org/drawingml/2006/main" w="0">
            <a:solidFill>
              <a:srgbClr val="E17A22"/>
            </a:solidFill>
            <a:prstDash val="solid"/>
          </a:ln>
        </p:spPr>
      </p:sp>
      <p:sp>
        <p:nvSpPr>
          <p:cNvPr id="76" name="qa-title-复核动作">
            <a:extLst xmlns:a="http://schemas.openxmlformats.org/drawingml/2006/main">
              <a:ext uri="{FF2B5EF4-FFF2-40B4-BE49-F238E27FC236}">
                <a16:creationId xmlns:a16="http://schemas.microsoft.com/office/drawing/2014/main" id="{62506174-409E-4FB6-8D8B-0E9DFB4D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514850"/>
            <a:ext cx="2038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63456"/>
                </a:solidFill>
              </a:defRPr>
            </a:pPr>
            <a:r>
              <a:rPr sz="1050" b="1">
                <a:solidFill>
                  <a:srgbClr val="063456"/>
                </a:solidFill>
              </a:rPr>
              <a:t>复核动作</a:t>
            </a:r>
          </a:p>
        </p:txBody>
      </p:sp>
      <p:sp>
        <p:nvSpPr>
          <p:cNvPr id="77" name="qa-lines-复核动作">
            <a:extLst xmlns:a="http://schemas.openxmlformats.org/drawingml/2006/main">
              <a:ext uri="{FF2B5EF4-FFF2-40B4-BE49-F238E27FC236}">
                <a16:creationId xmlns:a16="http://schemas.microsoft.com/office/drawing/2014/main" id="{EC8E480C-7442-42A9-BF3B-A6248A62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743450"/>
            <a:ext cx="2038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材料与申报不一致时看哪里？</a:t>
            </a:r>
          </a:p>
          <a:p xmlns:a="http://schemas.openxmlformats.org/drawingml/2006/main">
            <a:pPr algn="l">
              <a:defRPr sz="825" b="0">
                <a:solidFill>
                  <a:srgbClr val="657987"/>
                </a:solidFill>
              </a:defRPr>
            </a:pPr>
            <a:r>
              <a:rPr sz="825" b="0">
                <a:solidFill>
                  <a:srgbClr val="657987"/>
                </a:solidFill>
              </a:rPr>
              <a:t>哪些异常需要人工确认？</a:t>
            </a:r>
          </a:p>
        </p:txBody>
      </p:sp>
      <p:sp>
        <p:nvSpPr>
          <p:cNvPr id="78" name="guard-panel">
            <a:extLst xmlns:a="http://schemas.openxmlformats.org/drawingml/2006/main">
              <a:ext uri="{FF2B5EF4-FFF2-40B4-BE49-F238E27FC236}">
                <a16:creationId xmlns:a16="http://schemas.microsoft.com/office/drawing/2014/main" id="{9C4B3D56-5F0F-4C40-AAE8-358E471B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10020300" cy="514350"/>
          </a:xfrm>
          <a:prstGeom xmlns:a="http://schemas.openxmlformats.org/drawingml/2006/main" prst="roundRect">
            <a:avLst>
              <a:gd name="adj" fmla="val 92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4EA"/>
            </a:solidFill>
            <a:prstDash val="solid"/>
          </a:ln>
        </p:spPr>
      </p:sp>
      <p:sp>
        <p:nvSpPr>
          <p:cNvPr id="79" name="guard-accent">
            <a:extLst xmlns:a="http://schemas.openxmlformats.org/drawingml/2006/main">
              <a:ext uri="{FF2B5EF4-FFF2-40B4-BE49-F238E27FC236}">
                <a16:creationId xmlns:a16="http://schemas.microsoft.com/office/drawing/2014/main" id="{F7635CF2-1C9F-4813-9EFA-32F0E2B8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43575"/>
            <a:ext cx="47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08F"/>
          </a:solidFill>
          <a:ln xmlns:a="http://schemas.openxmlformats.org/drawingml/2006/main" w="0">
            <a:solidFill>
              <a:srgbClr val="00508F"/>
            </a:solidFill>
            <a:prstDash val="solid"/>
          </a:ln>
        </p:spPr>
      </p:sp>
      <p:sp>
        <p:nvSpPr>
          <p:cNvPr id="80" name="guard-title">
            <a:extLst xmlns:a="http://schemas.openxmlformats.org/drawingml/2006/main">
              <a:ext uri="{FF2B5EF4-FFF2-40B4-BE49-F238E27FC236}">
                <a16:creationId xmlns:a16="http://schemas.microsoft.com/office/drawing/2014/main" id="{911EAF13-048F-486E-AA84-D47A3923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895975"/>
            <a:ext cx="781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3456"/>
                </a:solidFill>
              </a:defRPr>
            </a:pPr>
            <a:r>
              <a:rPr sz="1200" b="1">
                <a:solidFill>
                  <a:srgbClr val="063456"/>
                </a:solidFill>
              </a:rPr>
              <a:t>建设要点</a:t>
            </a:r>
          </a:p>
        </p:txBody>
      </p:sp>
      <p:sp>
        <p:nvSpPr>
          <p:cNvPr id="81" name="guard-答案带引用">
            <a:extLst xmlns:a="http://schemas.openxmlformats.org/drawingml/2006/main">
              <a:ext uri="{FF2B5EF4-FFF2-40B4-BE49-F238E27FC236}">
                <a16:creationId xmlns:a16="http://schemas.microsoft.com/office/drawing/2014/main" id="{D8792294-08A9-41D7-8252-2EC899151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867400"/>
            <a:ext cx="10668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82" name="guard-text-答案带引用">
            <a:extLst xmlns:a="http://schemas.openxmlformats.org/drawingml/2006/main">
              <a:ext uri="{FF2B5EF4-FFF2-40B4-BE49-F238E27FC236}">
                <a16:creationId xmlns:a16="http://schemas.microsoft.com/office/drawing/2014/main" id="{1AF3A0BD-E409-4C80-A6C2-8AF4ECA92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953125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答案带引用</a:t>
            </a:r>
          </a:p>
        </p:txBody>
      </p:sp>
      <p:sp>
        <p:nvSpPr>
          <p:cNvPr id="83" name="guard-规则可更新">
            <a:extLst xmlns:a="http://schemas.openxmlformats.org/drawingml/2006/main">
              <a:ext uri="{FF2B5EF4-FFF2-40B4-BE49-F238E27FC236}">
                <a16:creationId xmlns:a16="http://schemas.microsoft.com/office/drawing/2014/main" id="{B3C1A679-0AEB-400C-9326-AFE76558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867400"/>
            <a:ext cx="10668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84" name="guard-text-规则可更新">
            <a:extLst xmlns:a="http://schemas.openxmlformats.org/drawingml/2006/main">
              <a:ext uri="{FF2B5EF4-FFF2-40B4-BE49-F238E27FC236}">
                <a16:creationId xmlns:a16="http://schemas.microsoft.com/office/drawing/2014/main" id="{2BAB6C72-3B21-4972-AC3D-C20076025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3825" y="5953125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规则可更新</a:t>
            </a:r>
          </a:p>
        </p:txBody>
      </p:sp>
      <p:sp>
        <p:nvSpPr>
          <p:cNvPr id="85" name="guard-口径可追溯">
            <a:extLst xmlns:a="http://schemas.openxmlformats.org/drawingml/2006/main">
              <a:ext uri="{FF2B5EF4-FFF2-40B4-BE49-F238E27FC236}">
                <a16:creationId xmlns:a16="http://schemas.microsoft.com/office/drawing/2014/main" id="{2CDDD255-FE10-4569-8C92-84FE8738B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867400"/>
            <a:ext cx="10668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00508F"/>
            </a:solidFill>
            <a:prstDash val="solid"/>
          </a:ln>
        </p:spPr>
      </p:sp>
      <p:sp>
        <p:nvSpPr>
          <p:cNvPr id="86" name="guard-text-口径可追溯">
            <a:extLst xmlns:a="http://schemas.openxmlformats.org/drawingml/2006/main">
              <a:ext uri="{FF2B5EF4-FFF2-40B4-BE49-F238E27FC236}">
                <a16:creationId xmlns:a16="http://schemas.microsoft.com/office/drawing/2014/main" id="{D1D46A62-6C4F-4502-AB6B-5C546C68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953125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508F"/>
                </a:solidFill>
              </a:defRPr>
            </a:pPr>
            <a:r>
              <a:rPr sz="825" b="1">
                <a:solidFill>
                  <a:srgbClr val="00508F"/>
                </a:solidFill>
              </a:rPr>
              <a:t>口径可追溯</a:t>
            </a:r>
          </a:p>
        </p:txBody>
      </p:sp>
      <p:sp>
        <p:nvSpPr>
          <p:cNvPr id="87" name="guard-权限可控制">
            <a:extLst xmlns:a="http://schemas.openxmlformats.org/drawingml/2006/main">
              <a:ext uri="{FF2B5EF4-FFF2-40B4-BE49-F238E27FC236}">
                <a16:creationId xmlns:a16="http://schemas.microsoft.com/office/drawing/2014/main" id="{DA73733C-A330-471F-81B9-80F3812C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67400"/>
            <a:ext cx="1066800" cy="295275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7F0"/>
          </a:solidFill>
          <a:ln xmlns:a="http://schemas.openxmlformats.org/drawingml/2006/main" w="9525">
            <a:solidFill>
              <a:srgbClr val="2E8B57"/>
            </a:solidFill>
            <a:prstDash val="solid"/>
          </a:ln>
        </p:spPr>
      </p:sp>
      <p:sp>
        <p:nvSpPr>
          <p:cNvPr id="88" name="guard-text-权限可控制">
            <a:extLst xmlns:a="http://schemas.openxmlformats.org/drawingml/2006/main">
              <a:ext uri="{FF2B5EF4-FFF2-40B4-BE49-F238E27FC236}">
                <a16:creationId xmlns:a16="http://schemas.microsoft.com/office/drawing/2014/main" id="{817F58EC-8084-46C0-BF80-DC6CA7975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953125"/>
            <a:ext cx="914400" cy="123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E8B57"/>
                </a:solidFill>
              </a:defRPr>
            </a:pPr>
            <a:r>
              <a:rPr sz="825" b="1">
                <a:solidFill>
                  <a:srgbClr val="2E8B57"/>
                </a:solidFill>
              </a:rPr>
              <a:t>权限可控制</a:t>
            </a:r>
          </a:p>
        </p:txBody>
      </p:sp>
      <p:sp>
        <p:nvSpPr>
          <p:cNvPr id="89" name="bottom-text">
            <a:extLst xmlns:a="http://schemas.openxmlformats.org/drawingml/2006/main">
              <a:ext uri="{FF2B5EF4-FFF2-40B4-BE49-F238E27FC236}">
                <a16:creationId xmlns:a16="http://schemas.microsoft.com/office/drawing/2014/main" id="{66218484-A8CF-482A-BA8B-8A3DEAF93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76925"/>
            <a:ext cx="333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9444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63456"/>
                </a:solidFill>
              </a:defRPr>
            </a:pPr>
            <a:r>
              <a:rPr sz="1125" b="1">
                <a:solidFill>
                  <a:srgbClr val="063456"/>
                </a:solidFill>
              </a:rPr>
              <a:t>目标：把问小易从通用问答入口，升级为面向投资申报复核场景的内部合规知识助手。</a:t>
            </a:r>
          </a:p>
        </p:txBody>
      </p:sp>
      <p:sp>
        <p:nvSpPr>
          <p:cNvPr id="90" name="footer-line">
            <a:extLst xmlns:a="http://schemas.openxmlformats.org/drawingml/2006/main">
              <a:ext uri="{FF2B5EF4-FFF2-40B4-BE49-F238E27FC236}">
                <a16:creationId xmlns:a16="http://schemas.microsoft.com/office/drawing/2014/main" id="{AD400FA3-7928-46F1-B25F-03CE8D9A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381750"/>
            <a:ext cx="100203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4EA"/>
          </a:solidFill>
          <a:ln xmlns:a="http://schemas.openxmlformats.org/drawingml/2006/main" w="0">
            <a:solidFill>
              <a:srgbClr val="D7E4EA"/>
            </a:solidFill>
            <a:prstDash val="solid"/>
          </a:ln>
        </p:spPr>
      </p:sp>
      <p:sp>
        <p:nvSpPr>
          <p:cNvPr id="91" name="footer-left">
            <a:extLst xmlns:a="http://schemas.openxmlformats.org/drawingml/2006/main">
              <a:ext uri="{FF2B5EF4-FFF2-40B4-BE49-F238E27FC236}">
                <a16:creationId xmlns:a16="http://schemas.microsoft.com/office/drawing/2014/main" id="{665CB414-27A2-4F5C-AA04-D775D33FE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486525"/>
            <a:ext cx="3238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易方达基金 · 内部交流，请勿外传</a:t>
            </a:r>
          </a:p>
        </p:txBody>
      </p:sp>
      <p:sp>
        <p:nvSpPr>
          <p:cNvPr id="92" name="footer-right">
            <a:extLst xmlns:a="http://schemas.openxmlformats.org/drawingml/2006/main">
              <a:ext uri="{FF2B5EF4-FFF2-40B4-BE49-F238E27FC236}">
                <a16:creationId xmlns:a16="http://schemas.microsoft.com/office/drawing/2014/main" id="{023A2986-5A88-468F-A5D8-D6ADE53B1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486525"/>
            <a:ext cx="1638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57987"/>
                </a:solidFill>
              </a:defRPr>
            </a:pPr>
            <a:r>
              <a:rPr sz="750" b="0">
                <a:solidFill>
                  <a:srgbClr val="657987"/>
                </a:solidFill>
              </a:rPr>
              <a:t>问小易增强 / 知识库问答</a:t>
            </a:r>
          </a:p>
        </p:txBody>
      </p:sp>
    </p:spTree>
    <p:extLst>
      <p:ext uri="{BB962C8B-B14F-4D97-AF65-F5344CB8AC3E}">
        <p14:creationId xmlns:p14="http://schemas.microsoft.com/office/powerpoint/2010/main" val="14024776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2026-06-24T12:52:57.8880000Z</dcterms:created>
  <dcterms:modified xsi:type="dcterms:W3CDTF">2026-06-24T12:52:57.8880000Z</dcterms:modified>
</coreProperties>
</file>