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42c0ac874f4a69" /><Relationship Type="http://schemas.openxmlformats.org/officeDocument/2006/relationships/extended-properties" Target="/docProps/app.xml" Id="R99092003646a4556" /><Relationship Type="http://schemas.openxmlformats.org/officeDocument/2006/relationships/officeDocument" Target="/ppt/presentation.xml" Id="Rd0d634d30d5e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acd033da2f491b"/>
  </p:sldMasterIdLst>
  <p:notesMasterIdLst>
    <p:notesMasterId xmlns:r="http://schemas.openxmlformats.org/officeDocument/2006/relationships" r:id="R0128629192e64df1"/>
  </p:notesMasterIdLst>
  <p:sldIdLst>
    <p:sldId xmlns:r="http://schemas.openxmlformats.org/officeDocument/2006/relationships" id="256" r:id="R3881264d79404a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a5ebf46e2341d7" /><Relationship Type="http://schemas.openxmlformats.org/officeDocument/2006/relationships/slideMaster" Target="/ppt/slideMasters/slideMaster1.xml" Id="R13acd033da2f491b" /><Relationship Type="http://schemas.openxmlformats.org/officeDocument/2006/relationships/notesMaster" Target="/ppt/notesMasters/notesMaster1.xml" Id="R0128629192e64df1" /><Relationship Type="http://schemas.openxmlformats.org/officeDocument/2006/relationships/presProps" Target="/ppt/presProps.xml" Id="R64802628621f4c2b" /><Relationship Type="http://schemas.openxmlformats.org/officeDocument/2006/relationships/tableStyles" Target="/ppt/tableStyles.xml" Id="R98eff5a6fbbb4077" /><Relationship Type="http://schemas.openxmlformats.org/officeDocument/2006/relationships/slide" Target="/ppt/slides/slide1.xml" Id="R3881264d7940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ee56e66f0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140b7e40e407a" /><Relationship Type="http://schemas.openxmlformats.org/officeDocument/2006/relationships/notesMaster" Target="/ppt/notesMasters/notesMaster1.xml" Id="Rbcf7fd3a173946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b7be4ead647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79749107d42a4" /><Relationship Type="http://schemas.openxmlformats.org/officeDocument/2006/relationships/slideLayout" Target="/ppt/slideLayouts/slideLayout1.xml" Id="R1f95bfb6940a43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95bfb6940a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0c9fde706488d" /><Relationship Type="http://schemas.openxmlformats.org/officeDocument/2006/relationships/notesSlide" Target="/ppt/notesSlides/notesSlide1.xml" Id="R4e0cbab8119442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1C01CED8-1D1E-4BAB-AE52-ED4C165F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96C9115E-1657-4601-9600-79458D52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ACB370BC-1702-46FA-A8BE-03AEF47C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5E6E800F-A31A-482D-8C86-9996D61E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991009C-294C-401A-AC2F-EEF3AD0D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投资申报项目技术说明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6CE9A42-1716-4352-86BE-28016DB0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问题二：业务事件混杂，申报主线需要被识别出来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C6CD74-567E-457F-B426-B1FA1D9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1A412FAC-3150-43BF-9534-514078E7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0C187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DD78CEF0-5922-4978-B1AA-F579AC4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4E8A6ABF-591D-4BF7-AC38-8295981D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业务分流 / 复核口径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99A56559-75F6-42EC-9E85-3892ED1B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1002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3446"/>
                </a:solidFill>
              </a:defRPr>
            </a:pPr>
            <a:r>
              <a:rPr sz="1350" b="0">
                <a:solidFill>
                  <a:srgbClr val="1A3446"/>
                </a:solidFill>
              </a:rPr>
              <a:t>材料中并非所有流水都应进入最终申报。系统需要先完整抽取，再按“是否影响持仓、是否证券相关、是否需要留痕”进行分流。</a:t>
            </a:r>
          </a:p>
        </p:txBody>
      </p:sp>
      <p:sp>
        <p:nvSpPr>
          <p:cNvPr id="12" name="section-混杂事件输入">
            <a:extLst xmlns:a="http://schemas.openxmlformats.org/drawingml/2006/main">
              <a:ext uri="{FF2B5EF4-FFF2-40B4-BE49-F238E27FC236}">
                <a16:creationId xmlns:a16="http://schemas.microsoft.com/office/drawing/2014/main" id="{FCE1835C-E5E0-4625-A379-26E7AE14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907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混杂事件输入</a:t>
            </a:r>
          </a:p>
        </p:txBody>
      </p:sp>
      <p:sp>
        <p:nvSpPr>
          <p:cNvPr id="13" name="section-rule-混杂事件输入">
            <a:extLst xmlns:a="http://schemas.openxmlformats.org/drawingml/2006/main">
              <a:ext uri="{FF2B5EF4-FFF2-40B4-BE49-F238E27FC236}">
                <a16:creationId xmlns:a16="http://schemas.microsoft.com/office/drawing/2014/main" id="{EC3A82A7-5239-48B3-B725-B32F87F3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4" name="left-panel">
            <a:extLst xmlns:a="http://schemas.openxmlformats.org/drawingml/2006/main">
              <a:ext uri="{FF2B5EF4-FFF2-40B4-BE49-F238E27FC236}">
                <a16:creationId xmlns:a16="http://schemas.microsoft.com/office/drawing/2014/main" id="{EC32E33B-BB35-462E-9199-54814B7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400300" cy="29908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event-row-交易行为">
            <a:extLst xmlns:a="http://schemas.openxmlformats.org/drawingml/2006/main">
              <a:ext uri="{FF2B5EF4-FFF2-40B4-BE49-F238E27FC236}">
                <a16:creationId xmlns:a16="http://schemas.microsoft.com/office/drawing/2014/main" id="{136D41D9-45CE-4F22-AAFB-3F0AA359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20193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event-accent-交易行为">
            <a:extLst xmlns:a="http://schemas.openxmlformats.org/drawingml/2006/main">
              <a:ext uri="{FF2B5EF4-FFF2-40B4-BE49-F238E27FC236}">
                <a16:creationId xmlns:a16="http://schemas.microsoft.com/office/drawing/2014/main" id="{F9B9E43B-4599-4663-AEF9-653CFDD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17" name="event-label-交易行为">
            <a:extLst xmlns:a="http://schemas.openxmlformats.org/drawingml/2006/main">
              <a:ext uri="{FF2B5EF4-FFF2-40B4-BE49-F238E27FC236}">
                <a16:creationId xmlns:a16="http://schemas.microsoft.com/office/drawing/2014/main" id="{3D197475-3921-486F-A5EE-B09BF0D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051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交易行为</a:t>
            </a:r>
          </a:p>
        </p:txBody>
      </p:sp>
      <p:sp>
        <p:nvSpPr>
          <p:cNvPr id="18" name="event-items-交易行为">
            <a:extLst xmlns:a="http://schemas.openxmlformats.org/drawingml/2006/main">
              <a:ext uri="{FF2B5EF4-FFF2-40B4-BE49-F238E27FC236}">
                <a16:creationId xmlns:a16="http://schemas.microsoft.com/office/drawing/2014/main" id="{38FA9C98-7C0E-4F05-AB42-03A83A07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43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买入 / 卖出 / 打新 / 配股</a:t>
            </a:r>
          </a:p>
        </p:txBody>
      </p:sp>
      <p:sp>
        <p:nvSpPr>
          <p:cNvPr id="19" name="event-row-权益事件">
            <a:extLst xmlns:a="http://schemas.openxmlformats.org/drawingml/2006/main">
              <a:ext uri="{FF2B5EF4-FFF2-40B4-BE49-F238E27FC236}">
                <a16:creationId xmlns:a16="http://schemas.microsoft.com/office/drawing/2014/main" id="{5F613670-0F67-4F18-93B6-899BCB6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193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event-accent-权益事件">
            <a:extLst xmlns:a="http://schemas.openxmlformats.org/drawingml/2006/main">
              <a:ext uri="{FF2B5EF4-FFF2-40B4-BE49-F238E27FC236}">
                <a16:creationId xmlns:a16="http://schemas.microsoft.com/office/drawing/2014/main" id="{6680B4A7-0BAF-4847-BC1A-F96DCEC0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1" name="event-label-权益事件">
            <a:extLst xmlns:a="http://schemas.openxmlformats.org/drawingml/2006/main">
              <a:ext uri="{FF2B5EF4-FFF2-40B4-BE49-F238E27FC236}">
                <a16:creationId xmlns:a16="http://schemas.microsoft.com/office/drawing/2014/main" id="{90A39689-AECB-4F35-B5C1-CA418DC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权益事件</a:t>
            </a:r>
          </a:p>
        </p:txBody>
      </p:sp>
      <p:sp>
        <p:nvSpPr>
          <p:cNvPr id="22" name="event-items-权益事件">
            <a:extLst xmlns:a="http://schemas.openxmlformats.org/drawingml/2006/main">
              <a:ext uri="{FF2B5EF4-FFF2-40B4-BE49-F238E27FC236}">
                <a16:creationId xmlns:a16="http://schemas.microsoft.com/office/drawing/2014/main" id="{A01852B7-EA62-4451-A362-CF4E0B8B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43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分红 / 派息 / 送股 / 转增</a:t>
            </a:r>
          </a:p>
        </p:txBody>
      </p:sp>
      <p:sp>
        <p:nvSpPr>
          <p:cNvPr id="23" name="event-row-资金流水">
            <a:extLst xmlns:a="http://schemas.openxmlformats.org/drawingml/2006/main">
              <a:ext uri="{FF2B5EF4-FFF2-40B4-BE49-F238E27FC236}">
                <a16:creationId xmlns:a16="http://schemas.microsoft.com/office/drawing/2014/main" id="{15319125-5A31-4CBF-BEEF-A1DF6C4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20193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4" name="event-accent-资金流水">
            <a:extLst xmlns:a="http://schemas.openxmlformats.org/drawingml/2006/main">
              <a:ext uri="{FF2B5EF4-FFF2-40B4-BE49-F238E27FC236}">
                <a16:creationId xmlns:a16="http://schemas.microsoft.com/office/drawing/2014/main" id="{1FEDCA85-0303-4C6A-8A08-CE985C9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5" name="event-label-资金流水">
            <a:extLst xmlns:a="http://schemas.openxmlformats.org/drawingml/2006/main">
              <a:ext uri="{FF2B5EF4-FFF2-40B4-BE49-F238E27FC236}">
                <a16:creationId xmlns:a16="http://schemas.microsoft.com/office/drawing/2014/main" id="{1232B23C-076D-4996-8DE5-334C0E1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资金流水</a:t>
            </a:r>
          </a:p>
        </p:txBody>
      </p:sp>
      <p:sp>
        <p:nvSpPr>
          <p:cNvPr id="26" name="event-items-资金流水">
            <a:extLst xmlns:a="http://schemas.openxmlformats.org/drawingml/2006/main">
              <a:ext uri="{FF2B5EF4-FFF2-40B4-BE49-F238E27FC236}">
                <a16:creationId xmlns:a16="http://schemas.microsoft.com/office/drawing/2014/main" id="{699CB12A-66EF-4623-8053-5DB8AD9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银证转账 / 费用扣划 / 利息归本</a:t>
            </a:r>
          </a:p>
        </p:txBody>
      </p:sp>
      <p:sp>
        <p:nvSpPr>
          <p:cNvPr id="27" name="left-note">
            <a:extLst xmlns:a="http://schemas.openxmlformats.org/drawingml/2006/main">
              <a:ext uri="{FF2B5EF4-FFF2-40B4-BE49-F238E27FC236}">
                <a16:creationId xmlns:a16="http://schemas.microsoft.com/office/drawing/2014/main" id="{71A54AB5-1D5B-4F8B-ABB5-843A3D9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46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同一材料中可能同时出现证券交易、权益变动和资金流水，展示口径也不一致。</a:t>
            </a:r>
          </a:p>
        </p:txBody>
      </p:sp>
      <p:sp>
        <p:nvSpPr>
          <p:cNvPr id="28" name="arrow-1">
            <a:extLst xmlns:a="http://schemas.openxmlformats.org/drawingml/2006/main">
              <a:ext uri="{FF2B5EF4-FFF2-40B4-BE49-F238E27FC236}">
                <a16:creationId xmlns:a16="http://schemas.microsoft.com/office/drawing/2014/main" id="{6C3D685D-B948-40BD-B2D6-D58ED58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08F"/>
                </a:solidFill>
              </a:defRPr>
            </a:pPr>
            <a:r>
              <a:rPr sz="1950" b="1">
                <a:solidFill>
                  <a:srgbClr val="00508F"/>
                </a:solidFill>
              </a:rPr>
              <a:t>→</a:t>
            </a:r>
          </a:p>
        </p:txBody>
      </p:sp>
      <p:sp>
        <p:nvSpPr>
          <p:cNvPr id="29" name="section-事件分流规则">
            <a:extLst xmlns:a="http://schemas.openxmlformats.org/drawingml/2006/main">
              <a:ext uri="{FF2B5EF4-FFF2-40B4-BE49-F238E27FC236}">
                <a16:creationId xmlns:a16="http://schemas.microsoft.com/office/drawing/2014/main" id="{3DF38DF9-3C74-4FCC-B872-9EF3D2FC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90725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事件分流规则</a:t>
            </a:r>
          </a:p>
        </p:txBody>
      </p:sp>
      <p:sp>
        <p:nvSpPr>
          <p:cNvPr id="30" name="section-rule-事件分流规则">
            <a:extLst xmlns:a="http://schemas.openxmlformats.org/drawingml/2006/main">
              <a:ext uri="{FF2B5EF4-FFF2-40B4-BE49-F238E27FC236}">
                <a16:creationId xmlns:a16="http://schemas.microsoft.com/office/drawing/2014/main" id="{C3296944-84D2-4616-9309-536A0EF6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1" name="center-panel">
            <a:extLst xmlns:a="http://schemas.openxmlformats.org/drawingml/2006/main">
              <a:ext uri="{FF2B5EF4-FFF2-40B4-BE49-F238E27FC236}">
                <a16:creationId xmlns:a16="http://schemas.microsoft.com/office/drawing/2014/main" id="{9FFE9E52-366C-4F98-8C17-4E64AF29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4333875" cy="2990850"/>
          </a:xfrm>
          <a:prstGeom xmlns:a="http://schemas.openxmlformats.org/drawingml/2006/main" prst="roundRect">
            <a:avLst>
              <a:gd name="adj" fmla="val 19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2" name="band-bg-1">
            <a:extLst xmlns:a="http://schemas.openxmlformats.org/drawingml/2006/main">
              <a:ext uri="{FF2B5EF4-FFF2-40B4-BE49-F238E27FC236}">
                <a16:creationId xmlns:a16="http://schemas.microsoft.com/office/drawing/2014/main" id="{35B02F6E-4630-4B2A-BBD7-587B287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99097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band-no-1">
            <a:extLst xmlns:a="http://schemas.openxmlformats.org/drawingml/2006/main">
              <a:ext uri="{FF2B5EF4-FFF2-40B4-BE49-F238E27FC236}">
                <a16:creationId xmlns:a16="http://schemas.microsoft.com/office/drawing/2014/main" id="{D65C6A4A-7C98-4321-91C8-C09B5B49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457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34" name="band-no-text-1">
            <a:extLst xmlns:a="http://schemas.openxmlformats.org/drawingml/2006/main">
              <a:ext uri="{FF2B5EF4-FFF2-40B4-BE49-F238E27FC236}">
                <a16:creationId xmlns:a16="http://schemas.microsoft.com/office/drawing/2014/main" id="{F3818CCF-F956-4C05-97F2-62961154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band-title-1">
            <a:extLst xmlns:a="http://schemas.openxmlformats.org/drawingml/2006/main">
              <a:ext uri="{FF2B5EF4-FFF2-40B4-BE49-F238E27FC236}">
                <a16:creationId xmlns:a16="http://schemas.microsoft.com/office/drawing/2014/main" id="{68881514-8902-4C32-8ED8-B05EF63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业务关注点｜进入最终申报表</a:t>
            </a:r>
          </a:p>
        </p:txBody>
      </p:sp>
      <p:sp>
        <p:nvSpPr>
          <p:cNvPr id="36" name="band-subtitle-1">
            <a:extLst xmlns:a="http://schemas.openxmlformats.org/drawingml/2006/main">
              <a:ext uri="{FF2B5EF4-FFF2-40B4-BE49-F238E27FC236}">
                <a16:creationId xmlns:a16="http://schemas.microsoft.com/office/drawing/2014/main" id="{B351340A-814F-4053-B2BB-BE2A8583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05125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直接影响持仓或构成证券交易行为，是正式申报主线</a:t>
            </a:r>
          </a:p>
        </p:txBody>
      </p:sp>
      <p:sp>
        <p:nvSpPr>
          <p:cNvPr id="37" name="band-examples-1">
            <a:extLst xmlns:a="http://schemas.openxmlformats.org/drawingml/2006/main">
              <a:ext uri="{FF2B5EF4-FFF2-40B4-BE49-F238E27FC236}">
                <a16:creationId xmlns:a16="http://schemas.microsoft.com/office/drawing/2014/main" id="{5765ED58-0B87-48B9-841F-D9E17B86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14675"/>
            <a:ext cx="3190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买入 / 卖出 / 配股 / 转增 / 送股</a:t>
            </a:r>
          </a:p>
        </p:txBody>
      </p:sp>
      <p:sp>
        <p:nvSpPr>
          <p:cNvPr id="38" name="band-bg-2">
            <a:extLst xmlns:a="http://schemas.openxmlformats.org/drawingml/2006/main">
              <a:ext uri="{FF2B5EF4-FFF2-40B4-BE49-F238E27FC236}">
                <a16:creationId xmlns:a16="http://schemas.microsoft.com/office/drawing/2014/main" id="{F7957FD4-739D-4AC6-90ED-4650E2BF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399097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9" name="band-no-2">
            <a:extLst xmlns:a="http://schemas.openxmlformats.org/drawingml/2006/main">
              <a:ext uri="{FF2B5EF4-FFF2-40B4-BE49-F238E27FC236}">
                <a16:creationId xmlns:a16="http://schemas.microsoft.com/office/drawing/2014/main" id="{69A92A3B-EBAB-4B96-A372-CA8D3E0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457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40" name="band-no-text-2">
            <a:extLst xmlns:a="http://schemas.openxmlformats.org/drawingml/2006/main">
              <a:ext uri="{FF2B5EF4-FFF2-40B4-BE49-F238E27FC236}">
                <a16:creationId xmlns:a16="http://schemas.microsoft.com/office/drawing/2014/main" id="{FA5A56CF-93B4-4E7C-8E23-E00FB8A6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band-title-2">
            <a:extLst xmlns:a="http://schemas.openxmlformats.org/drawingml/2006/main">
              <a:ext uri="{FF2B5EF4-FFF2-40B4-BE49-F238E27FC236}">
                <a16:creationId xmlns:a16="http://schemas.microsoft.com/office/drawing/2014/main" id="{456B4E1F-34D3-428F-9107-E56137B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证券相关｜进入完整事件表</a:t>
            </a:r>
          </a:p>
        </p:txBody>
      </p:sp>
      <p:sp>
        <p:nvSpPr>
          <p:cNvPr id="42" name="band-subtitle-2">
            <a:extLst xmlns:a="http://schemas.openxmlformats.org/drawingml/2006/main">
              <a:ext uri="{FF2B5EF4-FFF2-40B4-BE49-F238E27FC236}">
                <a16:creationId xmlns:a16="http://schemas.microsoft.com/office/drawing/2014/main" id="{55E35F3D-DE90-4F3F-BD72-70003DEE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00475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与证券权益或账户变化相关，保留来源与证据链</a:t>
            </a:r>
          </a:p>
        </p:txBody>
      </p:sp>
      <p:sp>
        <p:nvSpPr>
          <p:cNvPr id="43" name="band-examples-2">
            <a:extLst xmlns:a="http://schemas.openxmlformats.org/drawingml/2006/main">
              <a:ext uri="{FF2B5EF4-FFF2-40B4-BE49-F238E27FC236}">
                <a16:creationId xmlns:a16="http://schemas.microsoft.com/office/drawing/2014/main" id="{DDC0470F-348C-4AA7-AFB0-271B30D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0025"/>
            <a:ext cx="3190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分红 / 派息 / 权益登记 / 利息</a:t>
            </a:r>
          </a:p>
        </p:txBody>
      </p:sp>
      <p:sp>
        <p:nvSpPr>
          <p:cNvPr id="44" name="band-bg-3">
            <a:extLst xmlns:a="http://schemas.openxmlformats.org/drawingml/2006/main">
              <a:ext uri="{FF2B5EF4-FFF2-40B4-BE49-F238E27FC236}">
                <a16:creationId xmlns:a16="http://schemas.microsoft.com/office/drawing/2014/main" id="{97E3A96D-7C9E-41E9-AA40-7AFB2728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399097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5" name="band-no-3">
            <a:extLst xmlns:a="http://schemas.openxmlformats.org/drawingml/2006/main">
              <a:ext uri="{FF2B5EF4-FFF2-40B4-BE49-F238E27FC236}">
                <a16:creationId xmlns:a16="http://schemas.microsoft.com/office/drawing/2014/main" id="{198FD4DD-1672-4BE0-95C5-C0541D3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457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6" name="band-no-text-3">
            <a:extLst xmlns:a="http://schemas.openxmlformats.org/drawingml/2006/main">
              <a:ext uri="{FF2B5EF4-FFF2-40B4-BE49-F238E27FC236}">
                <a16:creationId xmlns:a16="http://schemas.microsoft.com/office/drawing/2014/main" id="{CA0C77AC-8948-49A1-9E09-08F6D8AC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7" name="band-title-3">
            <a:extLst xmlns:a="http://schemas.openxmlformats.org/drawingml/2006/main">
              <a:ext uri="{FF2B5EF4-FFF2-40B4-BE49-F238E27FC236}">
                <a16:creationId xmlns:a16="http://schemas.microsoft.com/office/drawing/2014/main" id="{3D4C0A52-BE2D-4B30-AC70-518B6B43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5770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非申报噪声｜排除或仅留痕</a:t>
            </a:r>
          </a:p>
        </p:txBody>
      </p:sp>
      <p:sp>
        <p:nvSpPr>
          <p:cNvPr id="48" name="band-subtitle-3">
            <a:extLst xmlns:a="http://schemas.openxmlformats.org/drawingml/2006/main">
              <a:ext uri="{FF2B5EF4-FFF2-40B4-BE49-F238E27FC236}">
                <a16:creationId xmlns:a16="http://schemas.microsoft.com/office/drawing/2014/main" id="{84199E03-F182-4C43-A7C8-7A069A43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95825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不直接影响证券持仓，也不应误入最终申报口径</a:t>
            </a:r>
          </a:p>
        </p:txBody>
      </p:sp>
      <p:sp>
        <p:nvSpPr>
          <p:cNvPr id="49" name="band-examples-3">
            <a:extLst xmlns:a="http://schemas.openxmlformats.org/drawingml/2006/main">
              <a:ext uri="{FF2B5EF4-FFF2-40B4-BE49-F238E27FC236}">
                <a16:creationId xmlns:a16="http://schemas.microsoft.com/office/drawing/2014/main" id="{13146045-5FF7-4B03-9694-B2EC6BC0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05375"/>
            <a:ext cx="3190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银证转账 / 资金流水 / 费用扣划 / 利息归本</a:t>
            </a:r>
          </a:p>
        </p:txBody>
      </p:sp>
      <p:sp>
        <p:nvSpPr>
          <p:cNvPr id="50" name="arrow-2">
            <a:extLst xmlns:a="http://schemas.openxmlformats.org/drawingml/2006/main">
              <a:ext uri="{FF2B5EF4-FFF2-40B4-BE49-F238E27FC236}">
                <a16:creationId xmlns:a16="http://schemas.microsoft.com/office/drawing/2014/main" id="{13D90CD1-A6BE-4DBE-A2E2-FDA4E14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08F"/>
                </a:solidFill>
              </a:defRPr>
            </a:pPr>
            <a:r>
              <a:rPr sz="1950" b="1">
                <a:solidFill>
                  <a:srgbClr val="00508F"/>
                </a:solidFill>
              </a:rPr>
              <a:t>→</a:t>
            </a:r>
          </a:p>
        </p:txBody>
      </p:sp>
      <p:sp>
        <p:nvSpPr>
          <p:cNvPr id="51" name="section-输出结果">
            <a:extLst xmlns:a="http://schemas.openxmlformats.org/drawingml/2006/main">
              <a:ext uri="{FF2B5EF4-FFF2-40B4-BE49-F238E27FC236}">
                <a16:creationId xmlns:a16="http://schemas.microsoft.com/office/drawing/2014/main" id="{8706B46A-66F4-4ED2-9181-6D73759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90725"/>
            <a:ext cx="2276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输出结果</a:t>
            </a:r>
          </a:p>
        </p:txBody>
      </p:sp>
      <p:sp>
        <p:nvSpPr>
          <p:cNvPr id="52" name="section-rule-输出结果">
            <a:extLst xmlns:a="http://schemas.openxmlformats.org/drawingml/2006/main">
              <a:ext uri="{FF2B5EF4-FFF2-40B4-BE49-F238E27FC236}">
                <a16:creationId xmlns:a16="http://schemas.microsoft.com/office/drawing/2014/main" id="{A6F0A7EC-BC53-4B17-B767-6369D48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86000"/>
            <a:ext cx="227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5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BE23B2ED-D14F-4DE0-A9D4-749A1F11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43150"/>
            <a:ext cx="2276475" cy="29908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4" name="output-最终申报表">
            <a:extLst xmlns:a="http://schemas.openxmlformats.org/drawingml/2006/main">
              <a:ext uri="{FF2B5EF4-FFF2-40B4-BE49-F238E27FC236}">
                <a16:creationId xmlns:a16="http://schemas.microsoft.com/office/drawing/2014/main" id="{42391705-3B49-4EB5-919E-34AE189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28900"/>
            <a:ext cx="19335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5" name="output-accent-最终申报表">
            <a:extLst xmlns:a="http://schemas.openxmlformats.org/drawingml/2006/main">
              <a:ext uri="{FF2B5EF4-FFF2-40B4-BE49-F238E27FC236}">
                <a16:creationId xmlns:a16="http://schemas.microsoft.com/office/drawing/2014/main" id="{B9CAC4B4-EDA0-4543-9E4F-0EFD2056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289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56" name="output-title-最终申报表">
            <a:extLst xmlns:a="http://schemas.openxmlformats.org/drawingml/2006/main">
              <a:ext uri="{FF2B5EF4-FFF2-40B4-BE49-F238E27FC236}">
                <a16:creationId xmlns:a16="http://schemas.microsoft.com/office/drawing/2014/main" id="{1CC1BC7C-E70D-4D07-BFD3-C63B1F3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52725"/>
            <a:ext cx="1628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最终申报表</a:t>
            </a:r>
          </a:p>
        </p:txBody>
      </p:sp>
      <p:sp>
        <p:nvSpPr>
          <p:cNvPr id="57" name="output-subtitle-最终申报表">
            <a:extLst xmlns:a="http://schemas.openxmlformats.org/drawingml/2006/main">
              <a:ext uri="{FF2B5EF4-FFF2-40B4-BE49-F238E27FC236}">
                <a16:creationId xmlns:a16="http://schemas.microsoft.com/office/drawing/2014/main" id="{879287E7-FBC6-4C61-A745-B6B04A0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28950"/>
            <a:ext cx="1628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正式申报口径</a:t>
            </a:r>
          </a:p>
        </p:txBody>
      </p:sp>
      <p:sp>
        <p:nvSpPr>
          <p:cNvPr id="58" name="output-完整事件表">
            <a:extLst xmlns:a="http://schemas.openxmlformats.org/drawingml/2006/main">
              <a:ext uri="{FF2B5EF4-FFF2-40B4-BE49-F238E27FC236}">
                <a16:creationId xmlns:a16="http://schemas.microsoft.com/office/drawing/2014/main" id="{6E89ECD2-F4EB-4A62-997E-B02DB66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95675"/>
            <a:ext cx="19335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9" name="output-accent-完整事件表">
            <a:extLst xmlns:a="http://schemas.openxmlformats.org/drawingml/2006/main">
              <a:ext uri="{FF2B5EF4-FFF2-40B4-BE49-F238E27FC236}">
                <a16:creationId xmlns:a16="http://schemas.microsoft.com/office/drawing/2014/main" id="{163B7C6C-F6A8-4DF2-BE12-655DBCF8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95675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0" name="output-title-完整事件表">
            <a:extLst xmlns:a="http://schemas.openxmlformats.org/drawingml/2006/main">
              <a:ext uri="{FF2B5EF4-FFF2-40B4-BE49-F238E27FC236}">
                <a16:creationId xmlns:a16="http://schemas.microsoft.com/office/drawing/2014/main" id="{29447FF8-8803-41FD-880C-8A0CFE19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19500"/>
            <a:ext cx="1628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完整事件表</a:t>
            </a:r>
          </a:p>
        </p:txBody>
      </p:sp>
      <p:sp>
        <p:nvSpPr>
          <p:cNvPr id="61" name="output-subtitle-完整事件表">
            <a:extLst xmlns:a="http://schemas.openxmlformats.org/drawingml/2006/main">
              <a:ext uri="{FF2B5EF4-FFF2-40B4-BE49-F238E27FC236}">
                <a16:creationId xmlns:a16="http://schemas.microsoft.com/office/drawing/2014/main" id="{E43F70C8-7869-4D77-83C7-4CC2BB9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895725"/>
            <a:ext cx="1628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全量留痕与复核</a:t>
            </a:r>
          </a:p>
        </p:txBody>
      </p:sp>
      <p:sp>
        <p:nvSpPr>
          <p:cNvPr id="62" name="output-问题清单">
            <a:extLst xmlns:a="http://schemas.openxmlformats.org/drawingml/2006/main">
              <a:ext uri="{FF2B5EF4-FFF2-40B4-BE49-F238E27FC236}">
                <a16:creationId xmlns:a16="http://schemas.microsoft.com/office/drawing/2014/main" id="{0B066005-7CD0-4E89-A004-99CF5F6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62450"/>
            <a:ext cx="193357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3" name="output-accent-问题清单">
            <a:extLst xmlns:a="http://schemas.openxmlformats.org/drawingml/2006/main">
              <a:ext uri="{FF2B5EF4-FFF2-40B4-BE49-F238E27FC236}">
                <a16:creationId xmlns:a16="http://schemas.microsoft.com/office/drawing/2014/main" id="{1D6070C7-9F7D-44F2-8940-BA79051E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624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64" name="output-title-问题清单">
            <a:extLst xmlns:a="http://schemas.openxmlformats.org/drawingml/2006/main">
              <a:ext uri="{FF2B5EF4-FFF2-40B4-BE49-F238E27FC236}">
                <a16:creationId xmlns:a16="http://schemas.microsoft.com/office/drawing/2014/main" id="{F189AEE3-CCE1-4420-A826-53F5A56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486275"/>
            <a:ext cx="1628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问题清单</a:t>
            </a:r>
          </a:p>
        </p:txBody>
      </p:sp>
      <p:sp>
        <p:nvSpPr>
          <p:cNvPr id="65" name="output-subtitle-问题清单">
            <a:extLst xmlns:a="http://schemas.openxmlformats.org/drawingml/2006/main">
              <a:ext uri="{FF2B5EF4-FFF2-40B4-BE49-F238E27FC236}">
                <a16:creationId xmlns:a16="http://schemas.microsoft.com/office/drawing/2014/main" id="{BD9EE49F-5F3C-489D-9AF3-C41C6366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762500"/>
            <a:ext cx="1628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987"/>
                </a:solidFill>
              </a:defRPr>
            </a:pPr>
            <a:r>
              <a:rPr sz="900" b="0">
                <a:solidFill>
                  <a:srgbClr val="657987"/>
                </a:solidFill>
              </a:rPr>
              <a:t>冲突 / 不确定 / 缺证据</a:t>
            </a:r>
          </a:p>
        </p:txBody>
      </p:sp>
      <p:sp>
        <p:nvSpPr>
          <p:cNvPr id="66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41594533-9813-482D-8269-53D4A39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10020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7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C35BC617-76E0-4E62-9453-5F5408EA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68" name="bottom-text">
            <a:extLst xmlns:a="http://schemas.openxmlformats.org/drawingml/2006/main">
              <a:ext uri="{FF2B5EF4-FFF2-40B4-BE49-F238E27FC236}">
                <a16:creationId xmlns:a16="http://schemas.microsoft.com/office/drawing/2014/main" id="{522E03E7-E160-4817-9908-FE481070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864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核心不是识别更多字段，而是把混杂流水分流成：可申报、可留痕、可排除的结果。</a:t>
            </a:r>
          </a:p>
        </p:txBody>
      </p:sp>
      <p:sp>
        <p:nvSpPr>
          <p:cNvPr id="6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6CF8DBC-99D5-40AC-8227-5D7F7C64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7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D5B1CC-EA0E-4FB8-B66F-EDE7E371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7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947FB74-5381-45A9-A461-8DAC7BF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8652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业务类型复杂 / 分流逻辑</a:t>
            </a:r>
          </a:p>
        </p:txBody>
      </p:sp>
    </p:spTree>
    <p:extLst>
      <p:ext uri="{BB962C8B-B14F-4D97-AF65-F5344CB8AC3E}">
        <p14:creationId xmlns:p14="http://schemas.microsoft.com/office/powerpoint/2010/main" val="1162853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2026-06-24T08:27:45.6440000Z</dcterms:created>
  <dcterms:modified xsi:type="dcterms:W3CDTF">2026-06-24T08:27:45.6440000Z</dcterms:modified>
</coreProperties>
</file>