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ecb4c6124249ac" /><Relationship Type="http://schemas.openxmlformats.org/officeDocument/2006/relationships/extended-properties" Target="/docProps/app.xml" Id="R3675125dd72942b3" /><Relationship Type="http://schemas.openxmlformats.org/officeDocument/2006/relationships/officeDocument" Target="/ppt/presentation.xml" Id="Rfe4b2f4185c947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ae04289684c26"/>
  </p:sldMasterIdLst>
  <p:notesMasterIdLst>
    <p:notesMasterId xmlns:r="http://schemas.openxmlformats.org/officeDocument/2006/relationships" r:id="R68a9e2b6a190440a"/>
  </p:notesMasterIdLst>
  <p:sldIdLst>
    <p:sldId xmlns:r="http://schemas.openxmlformats.org/officeDocument/2006/relationships" id="256" r:id="Ra73690f5701943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e81fb863514e99" /><Relationship Type="http://schemas.openxmlformats.org/officeDocument/2006/relationships/slideMaster" Target="/ppt/slideMasters/slideMaster1.xml" Id="Rd9aae04289684c26" /><Relationship Type="http://schemas.openxmlformats.org/officeDocument/2006/relationships/notesMaster" Target="/ppt/notesMasters/notesMaster1.xml" Id="R68a9e2b6a190440a" /><Relationship Type="http://schemas.openxmlformats.org/officeDocument/2006/relationships/presProps" Target="/ppt/presProps.xml" Id="R5a84c6f7472b43b0" /><Relationship Type="http://schemas.openxmlformats.org/officeDocument/2006/relationships/tableStyles" Target="/ppt/tableStyles.xml" Id="R2210a297bc97466a" /><Relationship Type="http://schemas.openxmlformats.org/officeDocument/2006/relationships/slide" Target="/ppt/slides/slide1.xml" Id="Ra73690f57019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e7711a5fe84c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dc8b736b948c8" /><Relationship Type="http://schemas.openxmlformats.org/officeDocument/2006/relationships/notesMaster" Target="/ppt/notesMasters/notesMaster1.xml" Id="R4dbc46f4c99541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a77fb85ec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e3a3c630d4746" /><Relationship Type="http://schemas.openxmlformats.org/officeDocument/2006/relationships/slideLayout" Target="/ppt/slideLayouts/slideLayout1.xml" Id="R52c9f6a726ea41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9f6a726ea41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97530695f4757" /><Relationship Type="http://schemas.openxmlformats.org/officeDocument/2006/relationships/notesSlide" Target="/ppt/notesSlides/notesSlide1.xml" Id="R91f54812933444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1A40ADA1-D007-46B4-A77F-081286C3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5F07E6F6-2FA0-4861-A472-AD3DA4F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8B4AF122-CB79-4016-8C56-E93D9DF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34FDE977-3D47-481D-ABCF-8D833277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4281A6E-D4D9-41C7-BA80-24D1358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项目背景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E2433C-2D8C-4526-90CB-80576FB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3456"/>
                </a:solidFill>
              </a:defRPr>
            </a:pPr>
            <a:r>
              <a:rPr sz="2400" b="1">
                <a:solidFill>
                  <a:srgbClr val="063456"/>
                </a:solidFill>
              </a:rPr>
              <a:t>监管要求落到材料处理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1A2A6A-293C-451E-B94B-3AAB3429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84E781F5-FCE4-4D7A-B23D-F0573823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B689BB3A-086C-424F-942F-D90F7D5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31A1DCB6-9AFA-499D-8D7C-95B40A32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背景逻辑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64BC4464-A758-4EC6-815D-03CDE9FE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430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446"/>
                </a:solidFill>
              </a:defRPr>
            </a:pPr>
            <a:r>
              <a:rPr sz="1500" b="1">
                <a:solidFill>
                  <a:srgbClr val="1A3446"/>
                </a:solidFill>
              </a:rPr>
              <a:t>不是单纯识别文件，而是把分散材料变成能够支撑申报、复核和留痕的数据。</a:t>
            </a:r>
          </a:p>
        </p:txBody>
      </p:sp>
      <p:sp>
        <p:nvSpPr>
          <p:cNvPr id="12" name="top-node-法规要求">
            <a:extLst xmlns:a="http://schemas.openxmlformats.org/drawingml/2006/main">
              <a:ext uri="{FF2B5EF4-FFF2-40B4-BE49-F238E27FC236}">
                <a16:creationId xmlns:a16="http://schemas.microsoft.com/office/drawing/2014/main" id="{C0CABD00-5771-405F-9A5B-319EF95B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28875"/>
            <a:ext cx="40005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top-node-accent-法规要求">
            <a:extLst xmlns:a="http://schemas.openxmlformats.org/drawingml/2006/main">
              <a:ext uri="{FF2B5EF4-FFF2-40B4-BE49-F238E27FC236}">
                <a16:creationId xmlns:a16="http://schemas.microsoft.com/office/drawing/2014/main" id="{306E8656-67E3-45F6-8C8C-28B937EE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28875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4" name="top-node-label-法规要求">
            <a:extLst xmlns:a="http://schemas.openxmlformats.org/drawingml/2006/main">
              <a:ext uri="{FF2B5EF4-FFF2-40B4-BE49-F238E27FC236}">
                <a16:creationId xmlns:a16="http://schemas.microsoft.com/office/drawing/2014/main" id="{E10BCA5E-3FBF-4B53-A23A-1261113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00325"/>
            <a:ext cx="9144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5" name="top-label-text-法规要求">
            <a:extLst xmlns:a="http://schemas.openxmlformats.org/drawingml/2006/main">
              <a:ext uri="{FF2B5EF4-FFF2-40B4-BE49-F238E27FC236}">
                <a16:creationId xmlns:a16="http://schemas.microsoft.com/office/drawing/2014/main" id="{35236293-931A-4573-972E-6F8E57E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6700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法规要求</a:t>
            </a:r>
          </a:p>
        </p:txBody>
      </p:sp>
      <p:sp>
        <p:nvSpPr>
          <p:cNvPr id="16" name="top-main-法规要求">
            <a:extLst xmlns:a="http://schemas.openxmlformats.org/drawingml/2006/main">
              <a:ext uri="{FF2B5EF4-FFF2-40B4-BE49-F238E27FC236}">
                <a16:creationId xmlns:a16="http://schemas.microsoft.com/office/drawing/2014/main" id="{8F9CC900-D2D2-494C-9B26-EEDEA73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38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456"/>
                </a:solidFill>
              </a:defRPr>
            </a:pPr>
            <a:r>
              <a:rPr sz="1575" b="1">
                <a:solidFill>
                  <a:srgbClr val="063456"/>
                </a:solidFill>
              </a:rPr>
              <a:t>从业人员证券投资需要申报</a:t>
            </a:r>
          </a:p>
        </p:txBody>
      </p:sp>
      <p:sp>
        <p:nvSpPr>
          <p:cNvPr id="17" name="top-sub-法规要求">
            <a:extLst xmlns:a="http://schemas.openxmlformats.org/drawingml/2006/main">
              <a:ext uri="{FF2B5EF4-FFF2-40B4-BE49-F238E27FC236}">
                <a16:creationId xmlns:a16="http://schemas.microsoft.com/office/drawing/2014/main" id="{B6FEB39F-C18D-4D04-A3C2-4CDD7B6A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员工、配偶、利害关系人的账户、持仓、交易纳入管理</a:t>
            </a:r>
          </a:p>
        </p:txBody>
      </p:sp>
      <p:sp>
        <p:nvSpPr>
          <p:cNvPr id="18" name="top-node-公司责任">
            <a:extLst xmlns:a="http://schemas.openxmlformats.org/drawingml/2006/main">
              <a:ext uri="{FF2B5EF4-FFF2-40B4-BE49-F238E27FC236}">
                <a16:creationId xmlns:a16="http://schemas.microsoft.com/office/drawing/2014/main" id="{A10A706B-1291-41CB-A3BC-E1D5BFE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28875"/>
            <a:ext cx="40005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top-node-accent-公司责任">
            <a:extLst xmlns:a="http://schemas.openxmlformats.org/drawingml/2006/main">
              <a:ext uri="{FF2B5EF4-FFF2-40B4-BE49-F238E27FC236}">
                <a16:creationId xmlns:a16="http://schemas.microsoft.com/office/drawing/2014/main" id="{9C7C4B39-81EF-4A4D-A5FC-AEACCD08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28875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0" name="top-node-label-公司责任">
            <a:extLst xmlns:a="http://schemas.openxmlformats.org/drawingml/2006/main">
              <a:ext uri="{FF2B5EF4-FFF2-40B4-BE49-F238E27FC236}">
                <a16:creationId xmlns:a16="http://schemas.microsoft.com/office/drawing/2014/main" id="{C36A60F3-2C4C-4972-A02C-BDA98F1E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0325"/>
            <a:ext cx="9144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1" name="top-label-text-公司责任">
            <a:extLst xmlns:a="http://schemas.openxmlformats.org/drawingml/2006/main">
              <a:ext uri="{FF2B5EF4-FFF2-40B4-BE49-F238E27FC236}">
                <a16:creationId xmlns:a16="http://schemas.microsoft.com/office/drawing/2014/main" id="{82D2967D-D6C0-4152-8749-03B1BDC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公司责任</a:t>
            </a:r>
          </a:p>
        </p:txBody>
      </p:sp>
      <p:sp>
        <p:nvSpPr>
          <p:cNvPr id="22" name="top-main-公司责任">
            <a:extLst xmlns:a="http://schemas.openxmlformats.org/drawingml/2006/main">
              <a:ext uri="{FF2B5EF4-FFF2-40B4-BE49-F238E27FC236}">
                <a16:creationId xmlns:a16="http://schemas.microsoft.com/office/drawing/2014/main" id="{D7258105-BEC3-4666-A833-11C75F71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38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456"/>
                </a:solidFill>
              </a:defRPr>
            </a:pPr>
            <a:r>
              <a:rPr sz="1575" b="1">
                <a:solidFill>
                  <a:srgbClr val="063456"/>
                </a:solidFill>
              </a:rPr>
              <a:t>公司需要审核并留痕</a:t>
            </a:r>
          </a:p>
        </p:txBody>
      </p:sp>
      <p:sp>
        <p:nvSpPr>
          <p:cNvPr id="23" name="top-sub-公司责任">
            <a:extLst xmlns:a="http://schemas.openxmlformats.org/drawingml/2006/main">
              <a:ext uri="{FF2B5EF4-FFF2-40B4-BE49-F238E27FC236}">
                <a16:creationId xmlns:a16="http://schemas.microsoft.com/office/drawing/2014/main" id="{510D369A-01DD-4C62-B93B-544EF2E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收集证明材料，判断申报内容是否真实、完整、可追溯</a:t>
            </a:r>
          </a:p>
        </p:txBody>
      </p:sp>
      <p:sp>
        <p:nvSpPr>
          <p:cNvPr id="24" name="left-line">
            <a:extLst xmlns:a="http://schemas.openxmlformats.org/drawingml/2006/main">
              <a:ext uri="{FF2B5EF4-FFF2-40B4-BE49-F238E27FC236}">
                <a16:creationId xmlns:a16="http://schemas.microsoft.com/office/drawing/2014/main" id="{33A0D909-3B17-42AA-9E99-D4DBF8C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76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4EA"/>
            </a:solidFill>
            <a:prstDash val="solid"/>
          </a:ln>
        </p:spPr>
      </p:sp>
      <p:sp>
        <p:nvSpPr>
          <p:cNvPr id="25" name="right-line">
            <a:extLst xmlns:a="http://schemas.openxmlformats.org/drawingml/2006/main">
              <a:ext uri="{FF2B5EF4-FFF2-40B4-BE49-F238E27FC236}">
                <a16:creationId xmlns:a16="http://schemas.microsoft.com/office/drawing/2014/main" id="{3CF617FF-2959-4025-8092-6FBBB28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6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4EA"/>
            </a:solidFill>
            <a:prstDash val="solid"/>
          </a:ln>
        </p:spPr>
      </p:sp>
      <p:sp>
        <p:nvSpPr>
          <p:cNvPr id="26" name="down-arrow-1">
            <a:extLst xmlns:a="http://schemas.openxmlformats.org/drawingml/2006/main">
              <a:ext uri="{FF2B5EF4-FFF2-40B4-BE49-F238E27FC236}">
                <a16:creationId xmlns:a16="http://schemas.microsoft.com/office/drawing/2014/main" id="{C4B16C09-DBE4-475A-9E16-39C36914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4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508F"/>
                </a:solidFill>
              </a:defRPr>
            </a:pPr>
            <a:r>
              <a:rPr sz="2100" b="1">
                <a:solidFill>
                  <a:srgbClr val="00508F"/>
                </a:solidFill>
              </a:rPr>
              <a:t>↓</a:t>
            </a:r>
          </a:p>
        </p:txBody>
      </p:sp>
      <p:sp>
        <p:nvSpPr>
          <p:cNvPr id="27" name="pain-bg">
            <a:extLst xmlns:a="http://schemas.openxmlformats.org/drawingml/2006/main">
              <a:ext uri="{FF2B5EF4-FFF2-40B4-BE49-F238E27FC236}">
                <a16:creationId xmlns:a16="http://schemas.microsoft.com/office/drawing/2014/main" id="{4B17105A-1696-4631-BBB2-420D3FED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28" name="pain-accent">
            <a:extLst xmlns:a="http://schemas.openxmlformats.org/drawingml/2006/main">
              <a:ext uri="{FF2B5EF4-FFF2-40B4-BE49-F238E27FC236}">
                <a16:creationId xmlns:a16="http://schemas.microsoft.com/office/drawing/2014/main" id="{9FC81B01-A776-4E75-800A-68A8D31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9" name="pain-title">
            <a:extLst xmlns:a="http://schemas.openxmlformats.org/drawingml/2006/main">
              <a:ext uri="{FF2B5EF4-FFF2-40B4-BE49-F238E27FC236}">
                <a16:creationId xmlns:a16="http://schemas.microsoft.com/office/drawing/2014/main" id="{83765634-63D1-43CC-B379-01C64E3F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81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17A22"/>
                </a:solidFill>
              </a:defRPr>
            </a:pPr>
            <a:r>
              <a:rPr sz="1425" b="1">
                <a:solidFill>
                  <a:srgbClr val="E17A22"/>
                </a:solidFill>
              </a:rPr>
              <a:t>当前痛点</a:t>
            </a:r>
          </a:p>
        </p:txBody>
      </p:sp>
      <p:sp>
        <p:nvSpPr>
          <p:cNvPr id="30" name="pain-main">
            <a:extLst xmlns:a="http://schemas.openxmlformats.org/drawingml/2006/main">
              <a:ext uri="{FF2B5EF4-FFF2-40B4-BE49-F238E27FC236}">
                <a16:creationId xmlns:a16="http://schemas.microsoft.com/office/drawing/2014/main" id="{EDAA069D-4531-4D38-833C-89428992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624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关键信息散落在券商材料中，人工提交、难追溯、难复核</a:t>
            </a:r>
          </a:p>
        </p:txBody>
      </p:sp>
      <p:sp>
        <p:nvSpPr>
          <p:cNvPr id="31" name="pain-sub">
            <a:extLst xmlns:a="http://schemas.openxmlformats.org/drawingml/2006/main">
              <a:ext uri="{FF2B5EF4-FFF2-40B4-BE49-F238E27FC236}">
                <a16:creationId xmlns:a16="http://schemas.microsoft.com/office/drawing/2014/main" id="{1D9CB7AF-132A-4508-BBCC-055A15C2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身份 / 账户 / 交易 / 持仓分散在不同页面、表格和截图中</a:t>
            </a:r>
          </a:p>
        </p:txBody>
      </p:sp>
      <p:sp>
        <p:nvSpPr>
          <p:cNvPr id="32" name="down-arrow-2">
            <a:extLst xmlns:a="http://schemas.openxmlformats.org/drawingml/2006/main">
              <a:ext uri="{FF2B5EF4-FFF2-40B4-BE49-F238E27FC236}">
                <a16:creationId xmlns:a16="http://schemas.microsoft.com/office/drawing/2014/main" id="{C3849E8B-393F-4612-B535-EDD1364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101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508F"/>
                </a:solidFill>
              </a:defRPr>
            </a:pPr>
            <a:r>
              <a:rPr sz="2100" b="1">
                <a:solidFill>
                  <a:srgbClr val="00508F"/>
                </a:solidFill>
              </a:rPr>
              <a:t>↓</a:t>
            </a:r>
          </a:p>
        </p:txBody>
      </p:sp>
      <p:sp>
        <p:nvSpPr>
          <p:cNvPr id="33" name="goal-bg">
            <a:extLst xmlns:a="http://schemas.openxmlformats.org/drawingml/2006/main">
              <a:ext uri="{FF2B5EF4-FFF2-40B4-BE49-F238E27FC236}">
                <a16:creationId xmlns:a16="http://schemas.microsoft.com/office/drawing/2014/main" id="{CF2643FD-EE24-4C0B-84FE-A8B7A80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100203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4" name="goal-accent">
            <a:extLst xmlns:a="http://schemas.openxmlformats.org/drawingml/2006/main">
              <a:ext uri="{FF2B5EF4-FFF2-40B4-BE49-F238E27FC236}">
                <a16:creationId xmlns:a16="http://schemas.microsoft.com/office/drawing/2014/main" id="{30362B23-D25E-47E7-91A9-1330B110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5" name="goal-label">
            <a:extLst xmlns:a="http://schemas.openxmlformats.org/drawingml/2006/main">
              <a:ext uri="{FF2B5EF4-FFF2-40B4-BE49-F238E27FC236}">
                <a16:creationId xmlns:a16="http://schemas.microsoft.com/office/drawing/2014/main" id="{376BD460-E45D-4DD3-B2DF-DA67CE8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76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项目目标</a:t>
            </a:r>
          </a:p>
        </p:txBody>
      </p:sp>
      <p:sp>
        <p:nvSpPr>
          <p:cNvPr id="36" name="goal-main">
            <a:extLst xmlns:a="http://schemas.openxmlformats.org/drawingml/2006/main">
              <a:ext uri="{FF2B5EF4-FFF2-40B4-BE49-F238E27FC236}">
                <a16:creationId xmlns:a16="http://schemas.microsoft.com/office/drawing/2014/main" id="{8F5CA28C-FA58-40A1-AF04-792F6702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非结构化材料  →  可复核、可追溯、可编辑、可导出的申报结果</a:t>
            </a:r>
          </a:p>
        </p:txBody>
      </p:sp>
      <p:sp>
        <p:nvSpPr>
          <p:cNvPr id="3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C53BAD0-5DAA-4E52-8201-EBEE40C0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BE97D88-8F28-4ACC-AB55-A01CA2A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3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6BC403D-EADC-4992-969E-F6A5C493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项目背景 / 收敛架构版</a:t>
            </a:r>
          </a:p>
        </p:txBody>
      </p:sp>
    </p:spTree>
    <p:extLst>
      <p:ext uri="{BB962C8B-B14F-4D97-AF65-F5344CB8AC3E}">
        <p14:creationId xmlns:p14="http://schemas.microsoft.com/office/powerpoint/2010/main" val="332071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2026-06-24T13:29:52.5850000Z</dcterms:created>
  <dcterms:modified xsi:type="dcterms:W3CDTF">2026-06-24T13:29:52.5850000Z</dcterms:modified>
</coreProperties>
</file>