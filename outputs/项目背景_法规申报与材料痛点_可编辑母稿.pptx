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e28d8b42f84b8c" /><Relationship Type="http://schemas.openxmlformats.org/officeDocument/2006/relationships/extended-properties" Target="/docProps/app.xml" Id="R48fda0d48daf4883" /><Relationship Type="http://schemas.openxmlformats.org/officeDocument/2006/relationships/officeDocument" Target="/ppt/presentation.xml" Id="Rda232ed7a091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d916910014b54"/>
  </p:sldMasterIdLst>
  <p:notesMasterIdLst>
    <p:notesMasterId xmlns:r="http://schemas.openxmlformats.org/officeDocument/2006/relationships" r:id="Rf9487e3329cb4e51"/>
  </p:notesMasterIdLst>
  <p:sldIdLst>
    <p:sldId xmlns:r="http://schemas.openxmlformats.org/officeDocument/2006/relationships" id="256" r:id="R30bd3fc3f3ba40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f510b12b224831" /><Relationship Type="http://schemas.openxmlformats.org/officeDocument/2006/relationships/slideMaster" Target="/ppt/slideMasters/slideMaster1.xml" Id="R709d916910014b54" /><Relationship Type="http://schemas.openxmlformats.org/officeDocument/2006/relationships/notesMaster" Target="/ppt/notesMasters/notesMaster1.xml" Id="Rf9487e3329cb4e51" /><Relationship Type="http://schemas.openxmlformats.org/officeDocument/2006/relationships/presProps" Target="/ppt/presProps.xml" Id="R026176d4541f4b1f" /><Relationship Type="http://schemas.openxmlformats.org/officeDocument/2006/relationships/tableStyles" Target="/ppt/tableStyles.xml" Id="R4d1164c4e85d41de" /><Relationship Type="http://schemas.openxmlformats.org/officeDocument/2006/relationships/slide" Target="/ppt/slides/slide1.xml" Id="R30bd3fc3f3ba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35e9ed1c1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4d948b7024941" /><Relationship Type="http://schemas.openxmlformats.org/officeDocument/2006/relationships/notesMaster" Target="/ppt/notesMasters/notesMaster1.xml" Id="Re9143377ff10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7ffb5a2e24d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3fb257aadd40de" /><Relationship Type="http://schemas.openxmlformats.org/officeDocument/2006/relationships/slideLayout" Target="/ppt/slideLayouts/slideLayout1.xml" Id="R4780b5b75822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0b5b75822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9de593fce464d" /><Relationship Type="http://schemas.openxmlformats.org/officeDocument/2006/relationships/notesSlide" Target="/ppt/notesSlides/notesSlide1.xml" Id="Rd9b87084287f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FC7B1427-8BC9-4B88-940E-B465AE5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E3842E71-E631-4DBB-B7CD-C59062FF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36B2F35F-342C-42BA-A6EF-31DE760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11765B07-DC09-436F-B934-82AC808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19B2BB9-25D8-4709-B01B-1128B56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项目背景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041821-2DA6-48A8-9A51-EF80B2A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从法规申报要求到材料结构化处理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799A1A-5002-42F8-9FFB-0EF1289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0F5612C1-7843-4E4B-9E07-B7DABFC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A9788B8E-3354-4F1F-8C13-AA91444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25E52671-3088-4BA6-B170-80225E67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背景 / 目标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9BFE83D0-51F1-4855-8A1B-EA1842F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10020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3446"/>
                </a:solidFill>
              </a:defRPr>
            </a:pPr>
            <a:r>
              <a:rPr sz="1350" b="0">
                <a:solidFill>
                  <a:srgbClr val="1A3446"/>
                </a:solidFill>
              </a:rPr>
              <a:t>基于基金从业人员证券投资管理相关规定，基金公司既要管理从业人员及相关人员的证券投资申报，也要完成材料收集、审核判断和留痕归档。</a:t>
            </a:r>
          </a:p>
        </p:txBody>
      </p:sp>
      <p:sp>
        <p:nvSpPr>
          <p:cNvPr id="12" name="section-法规基础：形成两类管理要求">
            <a:extLst xmlns:a="http://schemas.openxmlformats.org/drawingml/2006/main">
              <a:ext uri="{FF2B5EF4-FFF2-40B4-BE49-F238E27FC236}">
                <a16:creationId xmlns:a16="http://schemas.microsoft.com/office/drawing/2014/main" id="{23DE6EB2-510D-4095-9885-34FCE119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法规基础：形成两类管理要求</a:t>
            </a:r>
          </a:p>
        </p:txBody>
      </p:sp>
      <p:sp>
        <p:nvSpPr>
          <p:cNvPr id="13" name="section-rule-法规基础：形成两类管理要求">
            <a:extLst xmlns:a="http://schemas.openxmlformats.org/drawingml/2006/main">
              <a:ext uri="{FF2B5EF4-FFF2-40B4-BE49-F238E27FC236}">
                <a16:creationId xmlns:a16="http://schemas.microsoft.com/office/drawing/2014/main" id="{4CE5EDF0-D013-46C1-AACE-3A082224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aw-panel">
            <a:extLst xmlns:a="http://schemas.openxmlformats.org/drawingml/2006/main">
              <a:ext uri="{FF2B5EF4-FFF2-40B4-BE49-F238E27FC236}">
                <a16:creationId xmlns:a16="http://schemas.microsoft.com/office/drawing/2014/main" id="{ABD1C2F0-6AAE-45DC-BA8B-99E007F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61912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req-对员工">
            <a:extLst xmlns:a="http://schemas.openxmlformats.org/drawingml/2006/main">
              <a:ext uri="{FF2B5EF4-FFF2-40B4-BE49-F238E27FC236}">
                <a16:creationId xmlns:a16="http://schemas.microsoft.com/office/drawing/2014/main" id="{6A5C4A8A-7C2E-4C61-BF64-A434643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2857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req-accent-对员工">
            <a:extLst xmlns:a="http://schemas.openxmlformats.org/drawingml/2006/main">
              <a:ext uri="{FF2B5EF4-FFF2-40B4-BE49-F238E27FC236}">
                <a16:creationId xmlns:a16="http://schemas.microsoft.com/office/drawing/2014/main" id="{E30F4F67-78FD-41EE-B60E-2A137D4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req-tag-对员工">
            <a:extLst xmlns:a="http://schemas.openxmlformats.org/drawingml/2006/main">
              <a:ext uri="{FF2B5EF4-FFF2-40B4-BE49-F238E27FC236}">
                <a16:creationId xmlns:a16="http://schemas.microsoft.com/office/drawing/2014/main" id="{564749B5-E27A-460C-8D6F-8A0F749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43225"/>
            <a:ext cx="9334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8" name="req-tag-text-对员工">
            <a:extLst xmlns:a="http://schemas.openxmlformats.org/drawingml/2006/main">
              <a:ext uri="{FF2B5EF4-FFF2-40B4-BE49-F238E27FC236}">
                <a16:creationId xmlns:a16="http://schemas.microsoft.com/office/drawing/2014/main" id="{D36F1B41-5E4A-4BDA-BF86-2263E450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0375"/>
            <a:ext cx="819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对员工</a:t>
            </a:r>
          </a:p>
        </p:txBody>
      </p:sp>
      <p:sp>
        <p:nvSpPr>
          <p:cNvPr id="19" name="req-subtitle-对员工">
            <a:extLst xmlns:a="http://schemas.openxmlformats.org/drawingml/2006/main">
              <a:ext uri="{FF2B5EF4-FFF2-40B4-BE49-F238E27FC236}">
                <a16:creationId xmlns:a16="http://schemas.microsoft.com/office/drawing/2014/main" id="{42C4ACE7-ED43-405E-82F8-BC61D99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62275"/>
            <a:ext cx="1390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申报、登记、留痕</a:t>
            </a:r>
          </a:p>
        </p:txBody>
      </p:sp>
      <p:sp>
        <p:nvSpPr>
          <p:cNvPr id="20" name="req-body-对员工">
            <a:extLst xmlns:a="http://schemas.openxmlformats.org/drawingml/2006/main">
              <a:ext uri="{FF2B5EF4-FFF2-40B4-BE49-F238E27FC236}">
                <a16:creationId xmlns:a16="http://schemas.microsoft.com/office/drawing/2014/main" id="{F499C301-3D3A-4C43-890F-E144B9C9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337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3446"/>
                </a:solidFill>
              </a:defRPr>
            </a:pPr>
            <a:r>
              <a:rPr sz="975" b="0">
                <a:solidFill>
                  <a:srgbClr val="1A3446"/>
                </a:solidFill>
              </a:rPr>
              <a:t>员工本人、配偶、利害关系人等主体的证券账户、持仓和交易情况，需要按公司制度进行申报和记录。</a:t>
            </a:r>
          </a:p>
        </p:txBody>
      </p:sp>
      <p:sp>
        <p:nvSpPr>
          <p:cNvPr id="21" name="req-对公司">
            <a:extLst xmlns:a="http://schemas.openxmlformats.org/drawingml/2006/main">
              <a:ext uri="{FF2B5EF4-FFF2-40B4-BE49-F238E27FC236}">
                <a16:creationId xmlns:a16="http://schemas.microsoft.com/office/drawing/2014/main" id="{040AF0E2-56D6-494F-822B-C2E251A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857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2" name="req-accent-对公司">
            <a:extLst xmlns:a="http://schemas.openxmlformats.org/drawingml/2006/main">
              <a:ext uri="{FF2B5EF4-FFF2-40B4-BE49-F238E27FC236}">
                <a16:creationId xmlns:a16="http://schemas.microsoft.com/office/drawing/2014/main" id="{B1FB253B-B124-4AD7-ABE4-D43757FE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3" name="req-tag-对公司">
            <a:extLst xmlns:a="http://schemas.openxmlformats.org/drawingml/2006/main">
              <a:ext uri="{FF2B5EF4-FFF2-40B4-BE49-F238E27FC236}">
                <a16:creationId xmlns:a16="http://schemas.microsoft.com/office/drawing/2014/main" id="{DFDCA34D-7C37-4E0D-A373-FA2C189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43225"/>
            <a:ext cx="9334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4" name="req-tag-text-对公司">
            <a:extLst xmlns:a="http://schemas.openxmlformats.org/drawingml/2006/main">
              <a:ext uri="{FF2B5EF4-FFF2-40B4-BE49-F238E27FC236}">
                <a16:creationId xmlns:a16="http://schemas.microsoft.com/office/drawing/2014/main" id="{8B543AB6-A24D-4C94-880D-BB99D75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0375"/>
            <a:ext cx="819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对公司</a:t>
            </a:r>
          </a:p>
        </p:txBody>
      </p:sp>
      <p:sp>
        <p:nvSpPr>
          <p:cNvPr id="25" name="req-subtitle-对公司">
            <a:extLst xmlns:a="http://schemas.openxmlformats.org/drawingml/2006/main">
              <a:ext uri="{FF2B5EF4-FFF2-40B4-BE49-F238E27FC236}">
                <a16:creationId xmlns:a16="http://schemas.microsoft.com/office/drawing/2014/main" id="{FB4A547B-224C-4DB6-98AD-2148FF5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62275"/>
            <a:ext cx="1390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收集、审核、复核</a:t>
            </a:r>
          </a:p>
        </p:txBody>
      </p:sp>
      <p:sp>
        <p:nvSpPr>
          <p:cNvPr id="26" name="req-body-对公司">
            <a:extLst xmlns:a="http://schemas.openxmlformats.org/drawingml/2006/main">
              <a:ext uri="{FF2B5EF4-FFF2-40B4-BE49-F238E27FC236}">
                <a16:creationId xmlns:a16="http://schemas.microsoft.com/office/drawing/2014/main" id="{78181F66-C698-4C4B-BDBF-B8D099F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3446"/>
                </a:solidFill>
              </a:defRPr>
            </a:pPr>
            <a:r>
              <a:rPr sz="975" b="0">
                <a:solidFill>
                  <a:srgbClr val="1A3446"/>
                </a:solidFill>
              </a:rPr>
              <a:t>公司需要收集证券账户、交易流水、持仓证明等材料，并判断申报内容是否真实、完整、可追溯。</a:t>
            </a:r>
          </a:p>
        </p:txBody>
      </p:sp>
      <p:sp>
        <p:nvSpPr>
          <p:cNvPr id="27" name="law-arrow">
            <a:extLst xmlns:a="http://schemas.openxmlformats.org/drawingml/2006/main">
              <a:ext uri="{FF2B5EF4-FFF2-40B4-BE49-F238E27FC236}">
                <a16:creationId xmlns:a16="http://schemas.microsoft.com/office/drawing/2014/main" id="{6F34C4D0-9256-46CD-919E-1F4F066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91025"/>
            <a:ext cx="49053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8" name="law-arrow-head">
            <a:extLst xmlns:a="http://schemas.openxmlformats.org/drawingml/2006/main">
              <a:ext uri="{FF2B5EF4-FFF2-40B4-BE49-F238E27FC236}">
                <a16:creationId xmlns:a16="http://schemas.microsoft.com/office/drawing/2014/main" id="{D2D351C0-A59E-4C7E-939A-AE8E5020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7239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9" name="law-arrow-text">
            <a:extLst xmlns:a="http://schemas.openxmlformats.org/drawingml/2006/main">
              <a:ext uri="{FF2B5EF4-FFF2-40B4-BE49-F238E27FC236}">
                <a16:creationId xmlns:a16="http://schemas.microsoft.com/office/drawing/2014/main" id="{0868797C-08DA-449A-A5EE-A3A43542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86275"/>
            <a:ext cx="442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申报要求最终落到：材料能否支撑申报、审核能否复核、过程能否留痕</a:t>
            </a:r>
          </a:p>
        </p:txBody>
      </p:sp>
      <p:sp>
        <p:nvSpPr>
          <p:cNvPr id="30" name="section-当前痛点：材料难以直接成为可处理素材">
            <a:extLst xmlns:a="http://schemas.openxmlformats.org/drawingml/2006/main">
              <a:ext uri="{FF2B5EF4-FFF2-40B4-BE49-F238E27FC236}">
                <a16:creationId xmlns:a16="http://schemas.microsoft.com/office/drawing/2014/main" id="{0249783F-FE41-477D-A04A-B8837D6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当前痛点：材料难以直接成为可处理素材</a:t>
            </a:r>
          </a:p>
        </p:txBody>
      </p:sp>
      <p:sp>
        <p:nvSpPr>
          <p:cNvPr id="31" name="section-rule-当前痛点：材料难以直接成为可处理素材">
            <a:extLst xmlns:a="http://schemas.openxmlformats.org/drawingml/2006/main">
              <a:ext uri="{FF2B5EF4-FFF2-40B4-BE49-F238E27FC236}">
                <a16:creationId xmlns:a16="http://schemas.microsoft.com/office/drawing/2014/main" id="{E290CC93-01F8-456E-BA09-14451714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90775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2" name="pain-panel">
            <a:extLst xmlns:a="http://schemas.openxmlformats.org/drawingml/2006/main">
              <a:ext uri="{FF2B5EF4-FFF2-40B4-BE49-F238E27FC236}">
                <a16:creationId xmlns:a16="http://schemas.microsoft.com/office/drawing/2014/main" id="{7F7B44B5-2743-42AD-92A0-333503D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4480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pain-1">
            <a:extLst xmlns:a="http://schemas.openxmlformats.org/drawingml/2006/main">
              <a:ext uri="{FF2B5EF4-FFF2-40B4-BE49-F238E27FC236}">
                <a16:creationId xmlns:a16="http://schemas.microsoft.com/office/drawing/2014/main" id="{5C05BD87-5580-4508-AE1B-86491C28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3431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4" name="pain-no-1">
            <a:extLst xmlns:a="http://schemas.openxmlformats.org/drawingml/2006/main">
              <a:ext uri="{FF2B5EF4-FFF2-40B4-BE49-F238E27FC236}">
                <a16:creationId xmlns:a16="http://schemas.microsoft.com/office/drawing/2014/main" id="{CD6FB01B-6302-41E6-83B7-A357B7D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5" name="pain-no-text-1">
            <a:extLst xmlns:a="http://schemas.openxmlformats.org/drawingml/2006/main">
              <a:ext uri="{FF2B5EF4-FFF2-40B4-BE49-F238E27FC236}">
                <a16:creationId xmlns:a16="http://schemas.microsoft.com/office/drawing/2014/main" id="{9B668430-FC1E-4F41-98D2-39E5C1B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256DC304-820F-4D49-9DA6-02B54193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70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手工申报提交</a:t>
            </a:r>
          </a:p>
        </p:txBody>
      </p:sp>
      <p:sp>
        <p:nvSpPr>
          <p:cNvPr id="37" name="pain-note-1">
            <a:extLst xmlns:a="http://schemas.openxmlformats.org/drawingml/2006/main">
              <a:ext uri="{FF2B5EF4-FFF2-40B4-BE49-F238E27FC236}">
                <a16:creationId xmlns:a16="http://schemas.microsoft.com/office/drawing/2014/main" id="{7EC24A0E-3F7B-4482-918D-1E20569D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依赖逐页查找、手动填写字段</a:t>
            </a:r>
          </a:p>
        </p:txBody>
      </p:sp>
      <p:sp>
        <p:nvSpPr>
          <p:cNvPr id="38" name="pain-2">
            <a:extLst xmlns:a="http://schemas.openxmlformats.org/drawingml/2006/main">
              <a:ext uri="{FF2B5EF4-FFF2-40B4-BE49-F238E27FC236}">
                <a16:creationId xmlns:a16="http://schemas.microsoft.com/office/drawing/2014/main" id="{9D7B1A12-8D6F-48B9-A926-3DC661A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3775"/>
            <a:ext cx="23431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9" name="pain-no-2">
            <a:extLst xmlns:a="http://schemas.openxmlformats.org/drawingml/2006/main">
              <a:ext uri="{FF2B5EF4-FFF2-40B4-BE49-F238E27FC236}">
                <a16:creationId xmlns:a16="http://schemas.microsoft.com/office/drawing/2014/main" id="{5F224EEC-42EF-4EEA-8402-0E879C4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0" name="pain-no-text-2">
            <a:extLst xmlns:a="http://schemas.openxmlformats.org/drawingml/2006/main">
              <a:ext uri="{FF2B5EF4-FFF2-40B4-BE49-F238E27FC236}">
                <a16:creationId xmlns:a16="http://schemas.microsoft.com/office/drawing/2014/main" id="{F235048A-737D-4823-AC3F-EE95E003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004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DFFE0D30-EAE9-4C0A-8858-2E317FF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材料难追溯</a:t>
            </a:r>
          </a:p>
        </p:txBody>
      </p:sp>
      <p:sp>
        <p:nvSpPr>
          <p:cNvPr id="42" name="pain-note-2">
            <a:extLst xmlns:a="http://schemas.openxmlformats.org/drawingml/2006/main">
              <a:ext uri="{FF2B5EF4-FFF2-40B4-BE49-F238E27FC236}">
                <a16:creationId xmlns:a16="http://schemas.microsoft.com/office/drawing/2014/main" id="{BB2D8896-02A8-4E5E-92A3-230068D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申报结果与来源材料难建立稳定对应</a:t>
            </a:r>
          </a:p>
        </p:txBody>
      </p:sp>
      <p:sp>
        <p:nvSpPr>
          <p:cNvPr id="43" name="pain-3">
            <a:extLst xmlns:a="http://schemas.openxmlformats.org/drawingml/2006/main">
              <a:ext uri="{FF2B5EF4-FFF2-40B4-BE49-F238E27FC236}">
                <a16:creationId xmlns:a16="http://schemas.microsoft.com/office/drawing/2014/main" id="{5016E701-5D5C-4155-A4B6-10E2F8DD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23431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4" name="pain-no-3">
            <a:extLst xmlns:a="http://schemas.openxmlformats.org/drawingml/2006/main">
              <a:ext uri="{FF2B5EF4-FFF2-40B4-BE49-F238E27FC236}">
                <a16:creationId xmlns:a16="http://schemas.microsoft.com/office/drawing/2014/main" id="{7752209B-5BDA-4FE8-A9EC-E5D4C5D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5" name="pain-no-text-3">
            <a:extLst xmlns:a="http://schemas.openxmlformats.org/drawingml/2006/main">
              <a:ext uri="{FF2B5EF4-FFF2-40B4-BE49-F238E27FC236}">
                <a16:creationId xmlns:a16="http://schemas.microsoft.com/office/drawing/2014/main" id="{59706A89-64A7-4854-BFCB-781DF9B3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52A7C6FA-343C-47F4-BAA9-947C490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86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信息分散</a:t>
            </a:r>
          </a:p>
        </p:txBody>
      </p:sp>
      <p:sp>
        <p:nvSpPr>
          <p:cNvPr id="47" name="pain-note-3">
            <a:extLst xmlns:a="http://schemas.openxmlformats.org/drawingml/2006/main">
              <a:ext uri="{FF2B5EF4-FFF2-40B4-BE49-F238E27FC236}">
                <a16:creationId xmlns:a16="http://schemas.microsoft.com/office/drawing/2014/main" id="{418644AF-755F-4B20-95EF-5AD70A6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身份、账户、交易、持仓散落在券商材料中</a:t>
            </a:r>
          </a:p>
        </p:txBody>
      </p:sp>
      <p:sp>
        <p:nvSpPr>
          <p:cNvPr id="48" name="target-panel">
            <a:extLst xmlns:a="http://schemas.openxmlformats.org/drawingml/2006/main">
              <a:ext uri="{FF2B5EF4-FFF2-40B4-BE49-F238E27FC236}">
                <a16:creationId xmlns:a16="http://schemas.microsoft.com/office/drawing/2014/main" id="{F4BA4A48-AD46-4544-AA43-57BC7AC4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9" name="target-accent">
            <a:extLst xmlns:a="http://schemas.openxmlformats.org/drawingml/2006/main">
              <a:ext uri="{FF2B5EF4-FFF2-40B4-BE49-F238E27FC236}">
                <a16:creationId xmlns:a16="http://schemas.microsoft.com/office/drawing/2014/main" id="{F01ED8D1-5310-4FAE-87CE-9850D2E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50" name="target-title">
            <a:extLst xmlns:a="http://schemas.openxmlformats.org/drawingml/2006/main">
              <a:ext uri="{FF2B5EF4-FFF2-40B4-BE49-F238E27FC236}">
                <a16:creationId xmlns:a16="http://schemas.microsoft.com/office/drawing/2014/main" id="{93ECC240-4983-4B25-BE82-3EF0A4C5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95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项目目标</a:t>
            </a:r>
          </a:p>
        </p:txBody>
      </p:sp>
      <p:sp>
        <p:nvSpPr>
          <p:cNvPr id="51" name="target-可复核">
            <a:extLst xmlns:a="http://schemas.openxmlformats.org/drawingml/2006/main">
              <a:ext uri="{FF2B5EF4-FFF2-40B4-BE49-F238E27FC236}">
                <a16:creationId xmlns:a16="http://schemas.microsoft.com/office/drawing/2014/main" id="{7383D9ED-6ACF-4F64-83F5-94E0E5D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95950"/>
            <a:ext cx="1581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52" name="target-title-可复核">
            <a:extLst xmlns:a="http://schemas.openxmlformats.org/drawingml/2006/main">
              <a:ext uri="{FF2B5EF4-FFF2-40B4-BE49-F238E27FC236}">
                <a16:creationId xmlns:a16="http://schemas.microsoft.com/office/drawing/2014/main" id="{DA93E7C4-64A8-4E93-AF71-33B38F43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19775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8F"/>
                </a:solidFill>
              </a:defRPr>
            </a:pPr>
            <a:r>
              <a:rPr sz="1050" b="1">
                <a:solidFill>
                  <a:srgbClr val="00508F"/>
                </a:solidFill>
              </a:rPr>
              <a:t>可复核</a:t>
            </a:r>
          </a:p>
        </p:txBody>
      </p:sp>
      <p:sp>
        <p:nvSpPr>
          <p:cNvPr id="53" name="target-note-可复核">
            <a:extLst xmlns:a="http://schemas.openxmlformats.org/drawingml/2006/main">
              <a:ext uri="{FF2B5EF4-FFF2-40B4-BE49-F238E27FC236}">
                <a16:creationId xmlns:a16="http://schemas.microsoft.com/office/drawing/2014/main" id="{1DA40E30-0EA6-4B71-AD24-55A04F1E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483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字段与规则可检查</a:t>
            </a:r>
          </a:p>
        </p:txBody>
      </p:sp>
      <p:sp>
        <p:nvSpPr>
          <p:cNvPr id="54" name="target-可追溯">
            <a:extLst xmlns:a="http://schemas.openxmlformats.org/drawingml/2006/main">
              <a:ext uri="{FF2B5EF4-FFF2-40B4-BE49-F238E27FC236}">
                <a16:creationId xmlns:a16="http://schemas.microsoft.com/office/drawing/2014/main" id="{1EF14910-812F-4080-BC9E-9437F8F0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1581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55" name="target-title-可追溯">
            <a:extLst xmlns:a="http://schemas.openxmlformats.org/drawingml/2006/main">
              <a:ext uri="{FF2B5EF4-FFF2-40B4-BE49-F238E27FC236}">
                <a16:creationId xmlns:a16="http://schemas.microsoft.com/office/drawing/2014/main" id="{0563F6AF-5897-4B65-8DEE-572404B2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19775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可追溯</a:t>
            </a:r>
          </a:p>
        </p:txBody>
      </p:sp>
      <p:sp>
        <p:nvSpPr>
          <p:cNvPr id="56" name="target-note-可追溯">
            <a:extLst xmlns:a="http://schemas.openxmlformats.org/drawingml/2006/main">
              <a:ext uri="{FF2B5EF4-FFF2-40B4-BE49-F238E27FC236}">
                <a16:creationId xmlns:a16="http://schemas.microsoft.com/office/drawing/2014/main" id="{A821D55D-3868-458D-A490-4179BFC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483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结果回到材料来源</a:t>
            </a:r>
          </a:p>
        </p:txBody>
      </p:sp>
      <p:sp>
        <p:nvSpPr>
          <p:cNvPr id="57" name="target-可编辑">
            <a:extLst xmlns:a="http://schemas.openxmlformats.org/drawingml/2006/main">
              <a:ext uri="{FF2B5EF4-FFF2-40B4-BE49-F238E27FC236}">
                <a16:creationId xmlns:a16="http://schemas.microsoft.com/office/drawing/2014/main" id="{F0F46A96-BD02-4CF3-9F13-4C07D78B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95950"/>
            <a:ext cx="1581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58" name="target-title-可编辑">
            <a:extLst xmlns:a="http://schemas.openxmlformats.org/drawingml/2006/main">
              <a:ext uri="{FF2B5EF4-FFF2-40B4-BE49-F238E27FC236}">
                <a16:creationId xmlns:a16="http://schemas.microsoft.com/office/drawing/2014/main" id="{A64314AB-9CEC-4D55-A77C-5D0C086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819775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8F"/>
                </a:solidFill>
              </a:defRPr>
            </a:pPr>
            <a:r>
              <a:rPr sz="1050" b="1">
                <a:solidFill>
                  <a:srgbClr val="00508F"/>
                </a:solidFill>
              </a:rPr>
              <a:t>可编辑</a:t>
            </a:r>
          </a:p>
        </p:txBody>
      </p:sp>
      <p:sp>
        <p:nvSpPr>
          <p:cNvPr id="59" name="target-note-可编辑">
            <a:extLst xmlns:a="http://schemas.openxmlformats.org/drawingml/2006/main">
              <a:ext uri="{FF2B5EF4-FFF2-40B4-BE49-F238E27FC236}">
                <a16:creationId xmlns:a16="http://schemas.microsoft.com/office/drawing/2014/main" id="{7A1B17A5-AF45-4A3E-AB51-04BBBEFC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483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支持人工修正确认</a:t>
            </a:r>
          </a:p>
        </p:txBody>
      </p:sp>
      <p:sp>
        <p:nvSpPr>
          <p:cNvPr id="60" name="target-可导出">
            <a:extLst xmlns:a="http://schemas.openxmlformats.org/drawingml/2006/main">
              <a:ext uri="{FF2B5EF4-FFF2-40B4-BE49-F238E27FC236}">
                <a16:creationId xmlns:a16="http://schemas.microsoft.com/office/drawing/2014/main" id="{F14061C0-7354-47B8-816F-668049C5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95950"/>
            <a:ext cx="1581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61" name="target-title-可导出">
            <a:extLst xmlns:a="http://schemas.openxmlformats.org/drawingml/2006/main">
              <a:ext uri="{FF2B5EF4-FFF2-40B4-BE49-F238E27FC236}">
                <a16:creationId xmlns:a16="http://schemas.microsoft.com/office/drawing/2014/main" id="{2702AF6A-B9AE-4970-9BB3-CD9A76E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9775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可导出</a:t>
            </a:r>
          </a:p>
        </p:txBody>
      </p:sp>
      <p:sp>
        <p:nvSpPr>
          <p:cNvPr id="62" name="target-note-可导出">
            <a:extLst xmlns:a="http://schemas.openxmlformats.org/drawingml/2006/main">
              <a:ext uri="{FF2B5EF4-FFF2-40B4-BE49-F238E27FC236}">
                <a16:creationId xmlns:a16="http://schemas.microsoft.com/office/drawing/2014/main" id="{AAEFE2DF-C60B-4508-8CC5-8E82A00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形成申报与归档结果</a:t>
            </a:r>
          </a:p>
        </p:txBody>
      </p:sp>
      <p:sp>
        <p:nvSpPr>
          <p:cNvPr id="63" name="target-summary">
            <a:extLst xmlns:a="http://schemas.openxmlformats.org/drawingml/2006/main">
              <a:ext uri="{FF2B5EF4-FFF2-40B4-BE49-F238E27FC236}">
                <a16:creationId xmlns:a16="http://schemas.microsoft.com/office/drawing/2014/main" id="{376C87F2-AFFD-479F-AB23-8EB31364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867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把非结构化材料转化为后续可核对、可处理的申报数据。</a:t>
            </a:r>
          </a:p>
        </p:txBody>
      </p:sp>
      <p:sp>
        <p:nvSpPr>
          <p:cNvPr id="6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7881F03-D841-46CD-9940-677F47EE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6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E82640-0AF7-4828-A8ED-1377FCCA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6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6CF165E-74CC-4F5D-8D1B-ED63584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项目背景 / 申报材料结构化</a:t>
            </a:r>
          </a:p>
        </p:txBody>
      </p:sp>
    </p:spTree>
    <p:extLst>
      <p:ext uri="{BB962C8B-B14F-4D97-AF65-F5344CB8AC3E}">
        <p14:creationId xmlns:p14="http://schemas.microsoft.com/office/powerpoint/2010/main" val="2098560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2026-06-24T13:22:25.5750000Z</dcterms:created>
  <dcterms:modified xsi:type="dcterms:W3CDTF">2026-06-24T13:22:25.5750000Z</dcterms:modified>
</coreProperties>
</file>