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bca73b0e54883" /><Relationship Type="http://schemas.openxmlformats.org/officeDocument/2006/relationships/extended-properties" Target="/docProps/app.xml" Id="R2bbbf946fff34f4d" /><Relationship Type="http://schemas.openxmlformats.org/officeDocument/2006/relationships/officeDocument" Target="/ppt/presentation.xml" Id="Rbbec0eb5ae8f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5d4c45ca7e4191"/>
  </p:sldMasterIdLst>
  <p:notesMasterIdLst>
    <p:notesMasterId xmlns:r="http://schemas.openxmlformats.org/officeDocument/2006/relationships" r:id="Rabadeaee44e346eb"/>
  </p:notesMasterIdLst>
  <p:sldIdLst>
    <p:sldId xmlns:r="http://schemas.openxmlformats.org/officeDocument/2006/relationships" id="256" r:id="Radc231009f6244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24dee9c934aa8" /><Relationship Type="http://schemas.openxmlformats.org/officeDocument/2006/relationships/slideMaster" Target="/ppt/slideMasters/slideMaster1.xml" Id="R615d4c45ca7e4191" /><Relationship Type="http://schemas.openxmlformats.org/officeDocument/2006/relationships/notesMaster" Target="/ppt/notesMasters/notesMaster1.xml" Id="Rabadeaee44e346eb" /><Relationship Type="http://schemas.openxmlformats.org/officeDocument/2006/relationships/presProps" Target="/ppt/presProps.xml" Id="R29b6483ba54948bb" /><Relationship Type="http://schemas.openxmlformats.org/officeDocument/2006/relationships/tableStyles" Target="/ppt/tableStyles.xml" Id="Rc0998695450f4373" /><Relationship Type="http://schemas.openxmlformats.org/officeDocument/2006/relationships/slide" Target="/ppt/slides/slide1.xml" Id="Radc231009f6244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b8eeca620f47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076cf078f64581" /><Relationship Type="http://schemas.openxmlformats.org/officeDocument/2006/relationships/notesMaster" Target="/ppt/notesMasters/notesMaster1.xml" Id="R7bf6f21989db45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ca7a8325e42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c207ceab6c462d" /><Relationship Type="http://schemas.openxmlformats.org/officeDocument/2006/relationships/slideLayout" Target="/ppt/slideLayouts/slideLayout1.xml" Id="R14ca008363a445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a008363a445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5c9fce52420b" /><Relationship Type="http://schemas.openxmlformats.org/officeDocument/2006/relationships/notesSlide" Target="/ppt/notesSlides/notesSlide1.xml" Id="R4abf2202badf4c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C13F5C3E-4EC2-4B46-901C-895B5CB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bg">
            <a:extLst xmlns:a="http://schemas.openxmlformats.org/drawingml/2006/main">
              <a:ext uri="{FF2B5EF4-FFF2-40B4-BE49-F238E27FC236}">
                <a16:creationId xmlns:a16="http://schemas.microsoft.com/office/drawing/2014/main" id="{170721ED-88DC-4147-B88B-694E786F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6"/>
          </a:solidFill>
          <a:ln xmlns:a="http://schemas.openxmlformats.org/drawingml/2006/main" w="0">
            <a:solidFill>
              <a:srgbClr val="E9F2F6"/>
            </a:solidFill>
            <a:prstDash val="solid"/>
          </a:ln>
        </p:spPr>
      </p:sp>
      <p:sp>
        <p:nvSpPr>
          <p:cNvPr id="3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58CA9E8-1C64-49D1-B813-4B7F920F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425432-ABB5-4A34-88A6-E27E4DCE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6202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5" name="brand-dot">
            <a:extLst xmlns:a="http://schemas.openxmlformats.org/drawingml/2006/main">
              <a:ext uri="{FF2B5EF4-FFF2-40B4-BE49-F238E27FC236}">
                <a16:creationId xmlns:a16="http://schemas.microsoft.com/office/drawing/2014/main" id="{076764E0-EA07-4C45-B9B7-D7A46233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CD7AB-814F-422D-A419-A3EE4B3B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 FUND 易方达风格参考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C453E-0282-47EA-8DAE-881F31B4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987"/>
                </a:solidFill>
              </a:defRPr>
            </a:pPr>
            <a:r>
              <a:rPr sz="1200" b="1">
                <a:solidFill>
                  <a:srgbClr val="657987"/>
                </a:solidFill>
              </a:rPr>
              <a:t>解决方法｜Graph RAG 上下文增强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EB167-F4B3-4B95-8C2F-7CBEE5CC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9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Graph RAG：抽取前的上下文增强层</a:t>
            </a:r>
          </a:p>
        </p:txBody>
      </p:sp>
      <p:sp>
        <p:nvSpPr>
          <p:cNvPr id="9" name="badge-bg">
            <a:extLst xmlns:a="http://schemas.openxmlformats.org/drawingml/2006/main">
              <a:ext uri="{FF2B5EF4-FFF2-40B4-BE49-F238E27FC236}">
                <a16:creationId xmlns:a16="http://schemas.microsoft.com/office/drawing/2014/main" id="{C441E944-1727-4E4B-B133-F1106265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715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B538814D-B4A4-435C-9C9C-89CFF892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97155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4566E-9218-48AB-BF89-38FC50B4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0668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增强召回 / 降噪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B012DB-5B15-4A7A-9C77-60F40E8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433D0-32EF-4932-9585-AFB5C1A2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易方达基金 · 内部交流，请勿外传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71C1F-70FA-4795-9AA1-45466D65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4865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A9AA5"/>
                </a:solidFill>
              </a:defRPr>
            </a:pPr>
            <a:r>
              <a:rPr sz="825" b="1">
                <a:solidFill>
                  <a:srgbClr val="8A9AA5"/>
                </a:solidFill>
              </a:rPr>
              <a:t>Graph RAG 母稿</a:t>
            </a:r>
          </a:p>
        </p:txBody>
      </p:sp>
      <p:sp>
        <p:nvSpPr>
          <p:cNvPr id="15" name="note-bg">
            <a:extLst xmlns:a="http://schemas.openxmlformats.org/drawingml/2006/main">
              <a:ext uri="{FF2B5EF4-FFF2-40B4-BE49-F238E27FC236}">
                <a16:creationId xmlns:a16="http://schemas.microsoft.com/office/drawing/2014/main" id="{E664B8A3-3C4E-4BCA-975C-8ED59E4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1002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te-accent">
            <a:extLst xmlns:a="http://schemas.openxmlformats.org/drawingml/2006/main">
              <a:ext uri="{FF2B5EF4-FFF2-40B4-BE49-F238E27FC236}">
                <a16:creationId xmlns:a16="http://schemas.microsoft.com/office/drawing/2014/main" id="{213D7A44-CE87-4848-AE21-DE71AD2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47A38-A567-46C7-939F-632FB15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47825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063456"/>
                </a:solidFill>
              </a:defRPr>
            </a:pPr>
            <a:r>
              <a:rPr sz="1140" b="1">
                <a:solidFill>
                  <a:srgbClr val="063456"/>
                </a:solidFill>
              </a:rPr>
              <a:t>定位：Graph RAG 不替代 OCR 或 LLM 抽取，而是在 OCR/PDF/Table 结果生成后，为抽取模型提供更相关的局部上下文。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1DE52-AA51-4844-AC54-56B1D9A0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处理机制</a:t>
            </a:r>
          </a:p>
        </p:txBody>
      </p:sp>
      <p:sp>
        <p:nvSpPr>
          <p:cNvPr id="19" name="flow-node">
            <a:extLst xmlns:a="http://schemas.openxmlformats.org/drawingml/2006/main">
              <a:ext uri="{FF2B5EF4-FFF2-40B4-BE49-F238E27FC236}">
                <a16:creationId xmlns:a16="http://schemas.microsoft.com/office/drawing/2014/main" id="{7A749630-66BA-4FEE-8BE0-FAFAD19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0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A1884555-2952-4B38-8333-02322EF3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5B012-E545-41CB-A19F-0781AF28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987"/>
                </a:solidFill>
              </a:defRPr>
            </a:pPr>
            <a:r>
              <a:rPr sz="900" b="1">
                <a:solidFill>
                  <a:srgbClr val="657987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F9153-E177-4078-B8B6-E0A418B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336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OCR / 表格结果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A2771-A557-45E0-973D-0BB003E8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形成可读文本与表格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AD7D6-3263-4750-AB18-2A117581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051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5CF"/>
                </a:solidFill>
              </a:defRPr>
            </a:pPr>
            <a:r>
              <a:rPr sz="15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25" name="flow-node">
            <a:extLst xmlns:a="http://schemas.openxmlformats.org/drawingml/2006/main">
              <a:ext uri="{FF2B5EF4-FFF2-40B4-BE49-F238E27FC236}">
                <a16:creationId xmlns:a16="http://schemas.microsoft.com/office/drawing/2014/main" id="{07B67B6D-34D0-4CE8-8641-028DD272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F6BFAB34-B108-422C-B51B-197905CB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C1234E-E165-49EA-A98F-6CA4A18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5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987"/>
                </a:solidFill>
              </a:defRPr>
            </a:pPr>
            <a:r>
              <a:rPr sz="900" b="1">
                <a:solidFill>
                  <a:srgbClr val="657987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09A8A5-2356-4BB8-8A0F-B676D98A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Chunk / 向量化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F62905-53AC-4410-A572-2093F57F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bge-small-zh-v1.5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45DA5-44E4-47E8-9937-1BE64B93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5CF"/>
                </a:solidFill>
              </a:defRPr>
            </a:pPr>
            <a:r>
              <a:rPr sz="15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1" name="flow-node">
            <a:extLst xmlns:a="http://schemas.openxmlformats.org/drawingml/2006/main">
              <a:ext uri="{FF2B5EF4-FFF2-40B4-BE49-F238E27FC236}">
                <a16:creationId xmlns:a16="http://schemas.microsoft.com/office/drawing/2014/main" id="{29AD976F-2D82-4316-8B64-074402CF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2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19CBF9CE-7B3E-4CBC-B9DC-C5920C79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908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00F1FB-F9DC-464A-A4AF-798A481B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75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987"/>
                </a:solidFill>
              </a:defRPr>
            </a:pPr>
            <a:r>
              <a:rPr sz="900" b="1">
                <a:solidFill>
                  <a:srgbClr val="657987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92DCA-6CED-4873-ABAB-53C0CDA2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336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相似度检索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AC22C-A8BF-427B-97E3-F732A4AE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找到交易、持仓、分红片段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E7FC0B-5BDB-44E2-9096-D1F24084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051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5CF"/>
                </a:solidFill>
              </a:defRPr>
            </a:pPr>
            <a:r>
              <a:rPr sz="15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37" name="flow-node">
            <a:extLst xmlns:a="http://schemas.openxmlformats.org/drawingml/2006/main">
              <a:ext uri="{FF2B5EF4-FFF2-40B4-BE49-F238E27FC236}">
                <a16:creationId xmlns:a16="http://schemas.microsoft.com/office/drawing/2014/main" id="{2B7402B7-1778-4370-BF1F-B05FD5D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8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0F16286E-531D-44AE-81DA-8A538128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908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FC0A4D-5B30-4D15-9E39-970CACCE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5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987"/>
                </a:solidFill>
              </a:defRPr>
            </a:pPr>
            <a:r>
              <a:rPr sz="900" b="1">
                <a:solidFill>
                  <a:srgbClr val="657987"/>
                </a:solidFill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526D4-7F81-4A8D-BB8E-F2908F56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336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图关系扩展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30718A-F8A6-4559-930D-82992B53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沿账户、证券、事件补上下文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33C3F0-D9B8-400F-B808-E57B8067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B5CF"/>
                </a:solidFill>
              </a:defRPr>
            </a:pPr>
            <a:r>
              <a:rPr sz="1500" b="1">
                <a:solidFill>
                  <a:srgbClr val="00B5CF"/>
                </a:solidFill>
              </a:rPr>
              <a:t>→</a:t>
            </a:r>
          </a:p>
        </p:txBody>
      </p:sp>
      <p:sp>
        <p:nvSpPr>
          <p:cNvPr id="43" name="flow-node">
            <a:extLst xmlns:a="http://schemas.openxmlformats.org/drawingml/2006/main">
              <a:ext uri="{FF2B5EF4-FFF2-40B4-BE49-F238E27FC236}">
                <a16:creationId xmlns:a16="http://schemas.microsoft.com/office/drawing/2014/main" id="{5FAF4827-ADB7-42CE-A972-435D723B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4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DE5BF3DB-4E9D-4534-899E-47A9C2D9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90800"/>
            <a:ext cx="186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59BDA2-CBBA-48EA-8369-DB071ED4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527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7987"/>
                </a:solidFill>
              </a:defRPr>
            </a:pPr>
            <a:r>
              <a:rPr sz="900" b="1">
                <a:solidFill>
                  <a:srgbClr val="657987"/>
                </a:solidFill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01949-B62B-4B98-AE1E-F3B8A867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3367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LLM 抽取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7FF74F-B669-4319-90EF-D99E2BF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6705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486171"/>
                </a:solidFill>
              </a:defRPr>
            </a:pPr>
            <a:r>
              <a:rPr sz="788" b="1">
                <a:solidFill>
                  <a:srgbClr val="486171"/>
                </a:solidFill>
              </a:rPr>
              <a:t>相关局部材料进入结构化抽取</a:t>
            </a:r>
          </a:p>
        </p:txBody>
      </p:sp>
      <p:sp>
        <p:nvSpPr>
          <p:cNvPr id="48" name="graph-entity-box">
            <a:extLst xmlns:a="http://schemas.openxmlformats.org/drawingml/2006/main">
              <a:ext uri="{FF2B5EF4-FFF2-40B4-BE49-F238E27FC236}">
                <a16:creationId xmlns:a16="http://schemas.microsoft.com/office/drawing/2014/main" id="{8ECD7856-335A-4F9B-A1E6-7AB10122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47244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48430C-24B2-4152-A139-5CD466D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57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图结构扩展的实体关系</a:t>
            </a:r>
          </a:p>
        </p:txBody>
      </p:sp>
      <p:sp>
        <p:nvSpPr>
          <p:cNvPr id="50" name="entity">
            <a:extLst xmlns:a="http://schemas.openxmlformats.org/drawingml/2006/main">
              <a:ext uri="{FF2B5EF4-FFF2-40B4-BE49-F238E27FC236}">
                <a16:creationId xmlns:a16="http://schemas.microsoft.com/office/drawing/2014/main" id="{943627D9-0C64-4F4B-A317-F10B67C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ntity-accent">
            <a:extLst xmlns:a="http://schemas.openxmlformats.org/drawingml/2006/main">
              <a:ext uri="{FF2B5EF4-FFF2-40B4-BE49-F238E27FC236}">
                <a16:creationId xmlns:a16="http://schemas.microsoft.com/office/drawing/2014/main" id="{A4FD5509-74F7-45F3-B373-581AC3BA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862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6CD0D0-D47F-4FB1-BD03-8283827A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62450"/>
            <a:ext cx="590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508F"/>
                </a:solidFill>
              </a:defRPr>
            </a:pPr>
            <a:r>
              <a:rPr sz="863" b="1">
                <a:solidFill>
                  <a:srgbClr val="00508F"/>
                </a:solidFill>
              </a:rPr>
              <a:t>账户</a:t>
            </a:r>
          </a:p>
        </p:txBody>
      </p:sp>
      <p:sp>
        <p:nvSpPr>
          <p:cNvPr id="53" name="entity">
            <a:extLst xmlns:a="http://schemas.openxmlformats.org/drawingml/2006/main">
              <a:ext uri="{FF2B5EF4-FFF2-40B4-BE49-F238E27FC236}">
                <a16:creationId xmlns:a16="http://schemas.microsoft.com/office/drawing/2014/main" id="{B2317040-327D-46B0-BEA1-938924B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entity-accent">
            <a:extLst xmlns:a="http://schemas.openxmlformats.org/drawingml/2006/main">
              <a:ext uri="{FF2B5EF4-FFF2-40B4-BE49-F238E27FC236}">
                <a16:creationId xmlns:a16="http://schemas.microsoft.com/office/drawing/2014/main" id="{7A965B67-AF74-4A3D-BBB8-28C04E5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1F0F22-E639-4476-9502-AC1183E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62450"/>
            <a:ext cx="590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508F"/>
                </a:solidFill>
              </a:defRPr>
            </a:pPr>
            <a:r>
              <a:rPr sz="863" b="1">
                <a:solidFill>
                  <a:srgbClr val="00508F"/>
                </a:solidFill>
              </a:rPr>
              <a:t>证券代码</a:t>
            </a:r>
          </a:p>
        </p:txBody>
      </p:sp>
      <p:sp>
        <p:nvSpPr>
          <p:cNvPr id="56" name="entity">
            <a:extLst xmlns:a="http://schemas.openxmlformats.org/drawingml/2006/main">
              <a:ext uri="{FF2B5EF4-FFF2-40B4-BE49-F238E27FC236}">
                <a16:creationId xmlns:a16="http://schemas.microsoft.com/office/drawing/2014/main" id="{89C376BC-8117-47DB-A02E-B7385E0D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ntity-accent">
            <a:extLst xmlns:a="http://schemas.openxmlformats.org/drawingml/2006/main">
              <a:ext uri="{FF2B5EF4-FFF2-40B4-BE49-F238E27FC236}">
                <a16:creationId xmlns:a16="http://schemas.microsoft.com/office/drawing/2014/main" id="{62F80298-058D-49C0-BF0E-8A3A076F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DEC6D0-34B9-45B6-B1F4-36301551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590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交易事件</a:t>
            </a:r>
          </a:p>
        </p:txBody>
      </p:sp>
      <p:sp>
        <p:nvSpPr>
          <p:cNvPr id="59" name="entity">
            <a:extLst xmlns:a="http://schemas.openxmlformats.org/drawingml/2006/main">
              <a:ext uri="{FF2B5EF4-FFF2-40B4-BE49-F238E27FC236}">
                <a16:creationId xmlns:a16="http://schemas.microsoft.com/office/drawing/2014/main" id="{DA27DBD6-889E-4AE1-A406-F658E3B8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entity-accent">
            <a:extLst xmlns:a="http://schemas.openxmlformats.org/drawingml/2006/main">
              <a:ext uri="{FF2B5EF4-FFF2-40B4-BE49-F238E27FC236}">
                <a16:creationId xmlns:a16="http://schemas.microsoft.com/office/drawing/2014/main" id="{DD74C9D5-C6D4-4CD0-AE55-C724C20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E7581C-CC83-445E-A9FD-1A4429E2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38700"/>
            <a:ext cx="5905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0508F"/>
                </a:solidFill>
              </a:defRPr>
            </a:pPr>
            <a:r>
              <a:rPr sz="863" b="1">
                <a:solidFill>
                  <a:srgbClr val="00508F"/>
                </a:solidFill>
              </a:rPr>
              <a:t>持仓</a:t>
            </a:r>
          </a:p>
        </p:txBody>
      </p:sp>
      <p:sp>
        <p:nvSpPr>
          <p:cNvPr id="62" name="entity">
            <a:extLst xmlns:a="http://schemas.openxmlformats.org/drawingml/2006/main">
              <a:ext uri="{FF2B5EF4-FFF2-40B4-BE49-F238E27FC236}">
                <a16:creationId xmlns:a16="http://schemas.microsoft.com/office/drawing/2014/main" id="{7E5B3BF8-7D7D-43BF-A6BE-F0B9C538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entity-accent">
            <a:extLst xmlns:a="http://schemas.openxmlformats.org/drawingml/2006/main">
              <a:ext uri="{FF2B5EF4-FFF2-40B4-BE49-F238E27FC236}">
                <a16:creationId xmlns:a16="http://schemas.microsoft.com/office/drawing/2014/main" id="{B55E8081-0A07-4D70-8DC3-0AC871EB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38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56BD49-A2B2-402E-B087-C4AC5DF6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38700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17A22"/>
                </a:solidFill>
              </a:defRPr>
            </a:pPr>
            <a:r>
              <a:rPr sz="863" b="1">
                <a:solidFill>
                  <a:srgbClr val="E17A22"/>
                </a:solidFill>
              </a:rPr>
              <a:t>分红 / 利息事件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B28C1BB-3629-4F06-80DD-0BD67CE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244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57987"/>
                </a:solidFill>
              </a:defRPr>
            </a:pPr>
            <a:r>
              <a:rPr sz="825" b="1">
                <a:solidFill>
                  <a:srgbClr val="657987"/>
                </a:solidFill>
              </a:rPr>
              <a:t>账户 ↔ 证券 ↔ 交易 / 持仓 / 分红利息</a:t>
            </a:r>
          </a:p>
        </p:txBody>
      </p:sp>
      <p:sp>
        <p:nvSpPr>
          <p:cNvPr id="66" name="model-card">
            <a:extLst xmlns:a="http://schemas.openxmlformats.org/drawingml/2006/main">
              <a:ext uri="{FF2B5EF4-FFF2-40B4-BE49-F238E27FC236}">
                <a16:creationId xmlns:a16="http://schemas.microsoft.com/office/drawing/2014/main" id="{5079CADA-38C5-421A-B6F2-940C3411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4724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model-top">
            <a:extLst xmlns:a="http://schemas.openxmlformats.org/drawingml/2006/main">
              <a:ext uri="{FF2B5EF4-FFF2-40B4-BE49-F238E27FC236}">
                <a16:creationId xmlns:a16="http://schemas.microsoft.com/office/drawing/2014/main" id="{2565986F-B103-4964-8C61-F9111ECE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472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C5F25B-96B7-4247-A8B8-822FFC82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模型与边界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18B18DB-F0CF-484F-A2AA-ED45FE3C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29300"/>
            <a:ext cx="417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FFFFFF"/>
                </a:solidFill>
              </a:defRPr>
            </a:pPr>
            <a:r>
              <a:rPr sz="735" b="1">
                <a:solidFill>
                  <a:srgbClr val="FFFFFF"/>
                </a:solidFill>
              </a:rPr>
              <a:t>Embedding：BAAI/bge-small-zh-v1.5；负责把 OCR/table chunk 向量化用于相似度检索。</a:t>
            </a:r>
          </a:p>
          <a:p xmlns:a="http://schemas.openxmlformats.org/drawingml/2006/main">
            <a:pPr algn="l">
              <a:defRPr sz="735" b="1">
                <a:solidFill>
                  <a:srgbClr val="FFFFFF"/>
                </a:solidFill>
              </a:defRPr>
            </a:pPr>
            <a:r>
              <a:rPr sz="735" b="1">
                <a:solidFill>
                  <a:srgbClr val="FFFFFF"/>
                </a:solidFill>
              </a:rPr>
              <a:t>图结构：在检索结果基础上，沿账户、证券代码、交易/分红/利息事件关系扩展上下文。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3116D2-5A8C-487D-A664-342FA9F8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67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相比普通 RAG 的项目优势</a:t>
            </a:r>
          </a:p>
        </p:txBody>
      </p:sp>
      <p:sp>
        <p:nvSpPr>
          <p:cNvPr id="71" name="advantage-card">
            <a:extLst xmlns:a="http://schemas.openxmlformats.org/drawingml/2006/main">
              <a:ext uri="{FF2B5EF4-FFF2-40B4-BE49-F238E27FC236}">
                <a16:creationId xmlns:a16="http://schemas.microsoft.com/office/drawing/2014/main" id="{A061BB50-6F47-4826-8101-DC557328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7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2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2029B297-3447-48BF-A360-E6D52F47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D21587-ACC5-4209-B109-2831022E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提高召回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95B9B7-9AC7-4E72-9F2D-EA4F412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普通 RAG：只按文本相似度找片段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850657-C4E9-4859-9191-A740D17E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2435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3456"/>
                </a:solidFill>
              </a:defRPr>
            </a:pPr>
            <a:r>
              <a:rPr sz="788" b="1">
                <a:solidFill>
                  <a:srgbClr val="063456"/>
                </a:solidFill>
              </a:rPr>
              <a:t>Graph RAG：检索后沿实体关系补相关片段</a:t>
            </a:r>
          </a:p>
        </p:txBody>
      </p:sp>
      <p:sp>
        <p:nvSpPr>
          <p:cNvPr id="76" name="outcome-bg">
            <a:extLst xmlns:a="http://schemas.openxmlformats.org/drawingml/2006/main">
              <a:ext uri="{FF2B5EF4-FFF2-40B4-BE49-F238E27FC236}">
                <a16:creationId xmlns:a16="http://schemas.microsoft.com/office/drawing/2014/main" id="{1354D968-E435-4DB0-906F-8D4D8A9C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958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7BDCFCD-0A08-4176-9DBF-55EA78D2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24375"/>
            <a:ext cx="1714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508F"/>
                </a:solidFill>
              </a:defRPr>
            </a:pPr>
            <a:r>
              <a:rPr sz="713" b="1">
                <a:solidFill>
                  <a:srgbClr val="00508F"/>
                </a:solidFill>
              </a:rPr>
              <a:t>交易 / 持仓 / 分红更不易漏</a:t>
            </a:r>
          </a:p>
        </p:txBody>
      </p:sp>
      <p:sp>
        <p:nvSpPr>
          <p:cNvPr id="78" name="advantage-card">
            <a:extLst xmlns:a="http://schemas.openxmlformats.org/drawingml/2006/main">
              <a:ext uri="{FF2B5EF4-FFF2-40B4-BE49-F238E27FC236}">
                <a16:creationId xmlns:a16="http://schemas.microsoft.com/office/drawing/2014/main" id="{D6BC9202-CEA7-4B29-A7FB-54F38043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487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695F9E02-9A50-4651-BE36-2394EC42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601783D-3E73-49D0-9025-7B649F21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19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增强关联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0413EEF-62F7-45F9-9419-0962E7FB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387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普通 RAG：跨页信息容易断开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E62438F-C289-49E8-AC4B-AE8CF9C5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4825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3456"/>
                </a:solidFill>
              </a:defRPr>
            </a:pPr>
            <a:r>
              <a:rPr sz="788" b="1">
                <a:solidFill>
                  <a:srgbClr val="063456"/>
                </a:solidFill>
              </a:rPr>
              <a:t>Graph RAG：把同账户、同证券、同事件连起来</a:t>
            </a:r>
          </a:p>
        </p:txBody>
      </p:sp>
      <p:sp>
        <p:nvSpPr>
          <p:cNvPr id="83" name="outcome-bg">
            <a:extLst xmlns:a="http://schemas.openxmlformats.org/drawingml/2006/main">
              <a:ext uri="{FF2B5EF4-FFF2-40B4-BE49-F238E27FC236}">
                <a16:creationId xmlns:a16="http://schemas.microsoft.com/office/drawing/2014/main" id="{E27285A9-EF53-4986-8F13-45CF145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197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8C72EA-4600-429F-99B5-1DDF6D9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48275"/>
            <a:ext cx="1714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508F"/>
                </a:solidFill>
              </a:defRPr>
            </a:pPr>
            <a:r>
              <a:rPr sz="713" b="1">
                <a:solidFill>
                  <a:srgbClr val="00508F"/>
                </a:solidFill>
              </a:rPr>
              <a:t>跨页 / 跨行信息可合并</a:t>
            </a:r>
          </a:p>
        </p:txBody>
      </p:sp>
      <p:sp>
        <p:nvSpPr>
          <p:cNvPr id="85" name="advantage-card">
            <a:extLst xmlns:a="http://schemas.openxmlformats.org/drawingml/2006/main">
              <a:ext uri="{FF2B5EF4-FFF2-40B4-BE49-F238E27FC236}">
                <a16:creationId xmlns:a16="http://schemas.microsoft.com/office/drawing/2014/main" id="{8611208C-83FF-4251-B783-404B1B7A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487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86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79C61ED2-2629-46C0-87D5-8831D6FC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48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E7A4009-1928-4905-B281-5D32A3C5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43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减少干扰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C327E8-3E5D-4CFD-BBF0-86AE8C53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5626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57987"/>
                </a:solidFill>
              </a:defRPr>
            </a:pPr>
            <a:r>
              <a:rPr sz="788" b="1">
                <a:solidFill>
                  <a:srgbClr val="657987"/>
                </a:solidFill>
              </a:rPr>
              <a:t>普通 RAG：Top-K 片段仍混入无关 OCR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4DA14AF-7EDC-4A85-8F35-E0EF3344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72150"/>
            <a:ext cx="2628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3456"/>
                </a:solidFill>
              </a:defRPr>
            </a:pPr>
            <a:r>
              <a:rPr sz="788" b="1">
                <a:solidFill>
                  <a:srgbClr val="063456"/>
                </a:solidFill>
              </a:rPr>
              <a:t>Graph RAG：实体扩展后只保留相关局部上下文</a:t>
            </a:r>
          </a:p>
        </p:txBody>
      </p:sp>
      <p:sp>
        <p:nvSpPr>
          <p:cNvPr id="90" name="outcome-bg">
            <a:extLst xmlns:a="http://schemas.openxmlformats.org/drawingml/2006/main">
              <a:ext uri="{FF2B5EF4-FFF2-40B4-BE49-F238E27FC236}">
                <a16:creationId xmlns:a16="http://schemas.microsoft.com/office/drawing/2014/main" id="{ABCE65A4-5DBD-4BA0-B90A-AB53C2FE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43600"/>
            <a:ext cx="17145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E63735-78B9-4515-A4EC-752E56B3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972175"/>
            <a:ext cx="17145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17A22"/>
                </a:solidFill>
              </a:defRPr>
            </a:pPr>
            <a:r>
              <a:rPr sz="713" b="1">
                <a:solidFill>
                  <a:srgbClr val="E17A22"/>
                </a:solidFill>
              </a:rPr>
              <a:t>降低错抽和输出过长风险</a:t>
            </a:r>
          </a:p>
        </p:txBody>
      </p:sp>
    </p:spTree>
    <p:extLst>
      <p:ext uri="{BB962C8B-B14F-4D97-AF65-F5344CB8AC3E}">
        <p14:creationId xmlns:p14="http://schemas.microsoft.com/office/powerpoint/2010/main" val="1129201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2026-06-23T12:13:34.4440000Z</dcterms:created>
  <dcterms:modified xsi:type="dcterms:W3CDTF">2026-06-23T12:13:34.4440000Z</dcterms:modified>
</coreProperties>
</file>