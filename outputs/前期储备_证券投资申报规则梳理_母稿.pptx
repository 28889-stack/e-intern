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74055b167340ef" /><Relationship Type="http://schemas.openxmlformats.org/officeDocument/2006/relationships/extended-properties" Target="/docProps/app.xml" Id="Rb9a829c05b2944d4" /><Relationship Type="http://schemas.openxmlformats.org/officeDocument/2006/relationships/officeDocument" Target="/ppt/presentation.xml" Id="R9753c22406d243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80041db7704911"/>
  </p:sldMasterIdLst>
  <p:notesMasterIdLst>
    <p:notesMasterId xmlns:r="http://schemas.openxmlformats.org/officeDocument/2006/relationships" r:id="R24377191a38044b0"/>
  </p:notesMasterIdLst>
  <p:sldIdLst>
    <p:sldId xmlns:r="http://schemas.openxmlformats.org/officeDocument/2006/relationships" id="256" r:id="R5caec5f3898248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b9a03ad07d4f07" /><Relationship Type="http://schemas.openxmlformats.org/officeDocument/2006/relationships/slideMaster" Target="/ppt/slideMasters/slideMaster1.xml" Id="Rdf80041db7704911" /><Relationship Type="http://schemas.openxmlformats.org/officeDocument/2006/relationships/notesMaster" Target="/ppt/notesMasters/notesMaster1.xml" Id="R24377191a38044b0" /><Relationship Type="http://schemas.openxmlformats.org/officeDocument/2006/relationships/presProps" Target="/ppt/presProps.xml" Id="R905c10e2fff34e04" /><Relationship Type="http://schemas.openxmlformats.org/officeDocument/2006/relationships/tableStyles" Target="/ppt/tableStyles.xml" Id="R7d1e0ec856b04c8d" /><Relationship Type="http://schemas.openxmlformats.org/officeDocument/2006/relationships/slide" Target="/ppt/slides/slide1.xml" Id="R5caec5f3898248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534bd3416b4e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2170148dc348d2" /><Relationship Type="http://schemas.openxmlformats.org/officeDocument/2006/relationships/notesMaster" Target="/ppt/notesMasters/notesMaster1.xml" Id="R97bd256b5f7146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62a4e3c0144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cbd6d652941d2" /><Relationship Type="http://schemas.openxmlformats.org/officeDocument/2006/relationships/slideLayout" Target="/ppt/slideLayouts/slideLayout1.xml" Id="R1037584e1e724b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37584e1e724b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30b4ddbd142da" /><Relationship Type="http://schemas.openxmlformats.org/officeDocument/2006/relationships/notesSlide" Target="/ppt/notesSlides/notesSlide1.xml" Id="Rc6fe6fab2ffd46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4E91CD53-5D89-4EAD-8D98-8B835E4E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D14E8A61-3585-4A2C-9FFF-ED91A5CB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B35C9C92-51B1-4596-898A-499F0848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1699E0C-98E3-4C74-956A-A691EDCD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74CDB676-7E9D-4F76-834F-11710059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FDEB7-401B-4B68-801E-F7A60443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DF584-AA56-4404-A4D7-A15B1F89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前期储备｜法律规则梳理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AD77C-5BE2-4107-9166-99C6A711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证券投资申报规则梳理：明确主体、流程与申报字段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F2270613-A71F-4603-AC61-1D25DAF7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0382D10F-7D5D-48A4-A4A6-F22892D5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4F8A3-9552-4CF2-A957-CCC8BC4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066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17A22"/>
                </a:solidFill>
              </a:defRPr>
            </a:pPr>
            <a:r>
              <a:rPr sz="1013" b="1">
                <a:solidFill>
                  <a:srgbClr val="E17A22"/>
                </a:solidFill>
              </a:rPr>
              <a:t>规则前置理解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9402D3F-6F7D-4C9A-A829-DF234115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76F46-1564-4B51-903D-F8ED7AB5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183F4-1236-4448-9A1D-6B044CDC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法律规则梳理母稿</a:t>
            </a:r>
          </a:p>
        </p:txBody>
      </p:sp>
      <p:sp>
        <p:nvSpPr>
          <p:cNvPr id="15" name="note-bg">
            <a:extLst xmlns:a="http://schemas.openxmlformats.org/drawingml/2006/main">
              <a:ext uri="{FF2B5EF4-FFF2-40B4-BE49-F238E27FC236}">
                <a16:creationId xmlns:a16="http://schemas.microsoft.com/office/drawing/2014/main" id="{E38F1B73-F77D-4F00-88F0-8B1206CD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20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EEB39CEE-ACC2-4182-AF8A-11E04ADC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EBF5A-72E0-4FA5-901C-4CB645E7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063456"/>
                </a:solidFill>
              </a:defRPr>
            </a:pPr>
            <a:r>
              <a:rPr sz="1140" b="1">
                <a:solidFill>
                  <a:srgbClr val="063456"/>
                </a:solidFill>
              </a:rPr>
              <a:t>前期重点研究《基金从业人员证券投资管理指引（试行）》等规则，将大量法条压缩为项目需要落地的三个问题：谁要申报、何时申报、申报什么。</a:t>
            </a:r>
          </a:p>
        </p:txBody>
      </p:sp>
      <p:sp>
        <p:nvSpPr>
          <p:cNvPr id="18" name="pillar">
            <a:extLst xmlns:a="http://schemas.openxmlformats.org/drawingml/2006/main">
              <a:ext uri="{FF2B5EF4-FFF2-40B4-BE49-F238E27FC236}">
                <a16:creationId xmlns:a16="http://schemas.microsoft.com/office/drawing/2014/main" id="{A34671F0-E2B0-4B17-8415-2C3CC4BE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3105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9" name="pillar-top">
            <a:extLst xmlns:a="http://schemas.openxmlformats.org/drawingml/2006/main">
              <a:ext uri="{FF2B5EF4-FFF2-40B4-BE49-F238E27FC236}">
                <a16:creationId xmlns:a16="http://schemas.microsoft.com/office/drawing/2014/main" id="{95D57866-3E91-4595-ABD1-CC8CCA2F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0" name="pillar-label-bg">
            <a:extLst xmlns:a="http://schemas.openxmlformats.org/drawingml/2006/main">
              <a:ext uri="{FF2B5EF4-FFF2-40B4-BE49-F238E27FC236}">
                <a16:creationId xmlns:a16="http://schemas.microsoft.com/office/drawing/2014/main" id="{17654F69-8EEB-483E-A8E5-7A93596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llar-label-accent">
            <a:extLst xmlns:a="http://schemas.openxmlformats.org/drawingml/2006/main">
              <a:ext uri="{FF2B5EF4-FFF2-40B4-BE49-F238E27FC236}">
                <a16:creationId xmlns:a16="http://schemas.microsoft.com/office/drawing/2014/main" id="{774815CA-4975-4F66-BE00-8DACCA94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2831C-0350-4456-9B6E-6AB6D5A6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B5CF"/>
                </a:solidFill>
              </a:defRPr>
            </a:pPr>
            <a:r>
              <a:rPr sz="863" b="1">
                <a:solidFill>
                  <a:srgbClr val="00B5CF"/>
                </a:solidFill>
              </a:rPr>
              <a:t>申报主体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729AD-6BE3-4147-A85E-B9FC1125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覆盖本人、配偶及相关账户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02428-45BD-481A-AE8A-EA37F49C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基金从业人员包括董事、监事、高级管理人员和相关业务人员。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申报范围还需覆盖配偶、利害关系人，以及制度要求纳入管理的父母、子女账户。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重点岗位可适用更严格的审批和交易限制。</a:t>
            </a:r>
          </a:p>
        </p:txBody>
      </p:sp>
      <p:sp>
        <p:nvSpPr>
          <p:cNvPr id="25" name="pillar">
            <a:extLst xmlns:a="http://schemas.openxmlformats.org/drawingml/2006/main">
              <a:ext uri="{FF2B5EF4-FFF2-40B4-BE49-F238E27FC236}">
                <a16:creationId xmlns:a16="http://schemas.microsoft.com/office/drawing/2014/main" id="{99D44167-6D16-4D4A-83ED-DEA68DC4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43150"/>
            <a:ext cx="3105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6" name="pillar-top">
            <a:extLst xmlns:a="http://schemas.openxmlformats.org/drawingml/2006/main">
              <a:ext uri="{FF2B5EF4-FFF2-40B4-BE49-F238E27FC236}">
                <a16:creationId xmlns:a16="http://schemas.microsoft.com/office/drawing/2014/main" id="{D67399C1-A9AE-401E-812D-5D6DB217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43150"/>
            <a:ext cx="3105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7" name="pillar-label-bg">
            <a:extLst xmlns:a="http://schemas.openxmlformats.org/drawingml/2006/main">
              <a:ext uri="{FF2B5EF4-FFF2-40B4-BE49-F238E27FC236}">
                <a16:creationId xmlns:a16="http://schemas.microsoft.com/office/drawing/2014/main" id="{A71ED559-7FF7-415E-AA81-4D3048B9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717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illar-label-accent">
            <a:extLst xmlns:a="http://schemas.openxmlformats.org/drawingml/2006/main">
              <a:ext uri="{FF2B5EF4-FFF2-40B4-BE49-F238E27FC236}">
                <a16:creationId xmlns:a16="http://schemas.microsoft.com/office/drawing/2014/main" id="{57387A33-673E-4CCA-9434-C5D668E0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5717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E7A9C-6BED-458B-82B2-D3CB9C4B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38425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17A22"/>
                </a:solidFill>
              </a:defRPr>
            </a:pPr>
            <a:r>
              <a:rPr sz="863" b="1">
                <a:solidFill>
                  <a:srgbClr val="E17A22"/>
                </a:solidFill>
              </a:rPr>
              <a:t>申报方式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2FE39-A165-4EF4-98C3-6A3157C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覆盖入职、事前、定期和变更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E3F94-2ACB-43D3-B4C4-521B70C8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0995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申报管理不是一次性填报，而是贯穿入职申报、交易前申报或审批、批准有效期、计划变更、定期报告和系统登记。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不同岗位可按信息接触程度和决策权限差异化管理。</a:t>
            </a:r>
          </a:p>
        </p:txBody>
      </p:sp>
      <p:sp>
        <p:nvSpPr>
          <p:cNvPr id="32" name="pillar">
            <a:extLst xmlns:a="http://schemas.openxmlformats.org/drawingml/2006/main">
              <a:ext uri="{FF2B5EF4-FFF2-40B4-BE49-F238E27FC236}">
                <a16:creationId xmlns:a16="http://schemas.microsoft.com/office/drawing/2014/main" id="{11FE5EBE-2AAA-4E53-AFF3-CB0094BA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43150"/>
            <a:ext cx="3333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3" name="pillar-top">
            <a:extLst xmlns:a="http://schemas.openxmlformats.org/drawingml/2006/main">
              <a:ext uri="{FF2B5EF4-FFF2-40B4-BE49-F238E27FC236}">
                <a16:creationId xmlns:a16="http://schemas.microsoft.com/office/drawing/2014/main" id="{A3E853CE-D10F-47CD-9155-87C947B9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431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4" name="pillar-label-bg">
            <a:extLst xmlns:a="http://schemas.openxmlformats.org/drawingml/2006/main">
              <a:ext uri="{FF2B5EF4-FFF2-40B4-BE49-F238E27FC236}">
                <a16:creationId xmlns:a16="http://schemas.microsoft.com/office/drawing/2014/main" id="{FD188646-5828-4814-8C71-CAA4BF55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illar-label-accent">
            <a:extLst xmlns:a="http://schemas.openxmlformats.org/drawingml/2006/main">
              <a:ext uri="{FF2B5EF4-FFF2-40B4-BE49-F238E27FC236}">
                <a16:creationId xmlns:a16="http://schemas.microsoft.com/office/drawing/2014/main" id="{5369EE2E-F59C-4701-8035-58D6B921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2AF8A1-4E8D-4464-B08E-3FC02E98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38425"/>
            <a:ext cx="89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E8B57"/>
                </a:solidFill>
              </a:defRPr>
            </a:pPr>
            <a:r>
              <a:rPr sz="863" b="1">
                <a:solidFill>
                  <a:srgbClr val="2E8B57"/>
                </a:solidFill>
              </a:rPr>
              <a:t>申报内容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2CC4A8-A141-4431-BAD4-44563968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账户、持仓、交易、关系信息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0AEC36-9795-40A1-9A08-EF2AB276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账户类：身份、关系、证券/资金账户、券商、实际控制人。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持仓类：证券名称、代码、数量、市值、持有期限。</a:t>
            </a:r>
          </a:p>
          <a:p xmlns:a="http://schemas.openxmlformats.org/drawingml/2006/main">
            <a:pPr algn="l">
              <a:defRPr sz="930" b="1">
                <a:solidFill>
                  <a:srgbClr val="29475B"/>
                </a:solidFill>
              </a:defRPr>
            </a:pPr>
            <a:r>
              <a:rPr sz="930" b="1">
                <a:solidFill>
                  <a:srgbClr val="29475B"/>
                </a:solidFill>
              </a:rPr>
              <a:t>交易类：方向、金额、时间、理由及利益冲突判断。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47322D-B8BB-46A2-80FD-43C51A8D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对项目设计的转化</a:t>
            </a:r>
          </a:p>
        </p:txBody>
      </p:sp>
      <p:sp>
        <p:nvSpPr>
          <p:cNvPr id="40" name="conversion-rule">
            <a:extLst xmlns:a="http://schemas.openxmlformats.org/drawingml/2006/main">
              <a:ext uri="{FF2B5EF4-FFF2-40B4-BE49-F238E27FC236}">
                <a16:creationId xmlns:a16="http://schemas.microsoft.com/office/drawing/2014/main" id="{16006F2E-97B2-4397-A8B5-C6C93BD7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41" name="conversion">
            <a:extLst xmlns:a="http://schemas.openxmlformats.org/drawingml/2006/main">
              <a:ext uri="{FF2B5EF4-FFF2-40B4-BE49-F238E27FC236}">
                <a16:creationId xmlns:a16="http://schemas.microsoft.com/office/drawing/2014/main" id="{C7F5FDD8-AFD5-494E-BD3A-52019B75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conversion-accent">
            <a:extLst xmlns:a="http://schemas.openxmlformats.org/drawingml/2006/main">
              <a:ext uri="{FF2B5EF4-FFF2-40B4-BE49-F238E27FC236}">
                <a16:creationId xmlns:a16="http://schemas.microsoft.com/office/drawing/2014/main" id="{A7F953FF-F22E-444A-9610-863FF765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75F62B-8604-4CC5-BAE9-DF9EA044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95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人员范围判断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129999-B962-4946-B4D9-4A933DE4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53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86171"/>
                </a:solidFill>
              </a:defRPr>
            </a:pPr>
            <a:r>
              <a:rPr sz="788" b="1">
                <a:solidFill>
                  <a:srgbClr val="486171"/>
                </a:solidFill>
              </a:rPr>
              <a:t>识别员工、配偶、利害关系人及需纳入管理的亲属账户</a:t>
            </a:r>
          </a:p>
        </p:txBody>
      </p:sp>
      <p:sp>
        <p:nvSpPr>
          <p:cNvPr id="45" name="conversion">
            <a:extLst xmlns:a="http://schemas.openxmlformats.org/drawingml/2006/main">
              <a:ext uri="{FF2B5EF4-FFF2-40B4-BE49-F238E27FC236}">
                <a16:creationId xmlns:a16="http://schemas.microsoft.com/office/drawing/2014/main" id="{1F7159B5-2540-407C-9DE3-1A82D9BB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197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conversion-accent">
            <a:extLst xmlns:a="http://schemas.openxmlformats.org/drawingml/2006/main">
              <a:ext uri="{FF2B5EF4-FFF2-40B4-BE49-F238E27FC236}">
                <a16:creationId xmlns:a16="http://schemas.microsoft.com/office/drawing/2014/main" id="{C9AC586B-D910-422C-8D11-98613226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197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334975-252D-4F44-A068-BABFF76D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95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材料与流程校验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FB4573-F02B-480F-8B0C-3C1C1148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553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86171"/>
                </a:solidFill>
              </a:defRPr>
            </a:pPr>
            <a:r>
              <a:rPr sz="788" b="1">
                <a:solidFill>
                  <a:srgbClr val="486171"/>
                </a:solidFill>
              </a:rPr>
              <a:t>判断入职、事前、定期、变更等节点材料是否齐备</a:t>
            </a:r>
          </a:p>
        </p:txBody>
      </p:sp>
      <p:sp>
        <p:nvSpPr>
          <p:cNvPr id="49" name="conversion">
            <a:extLst xmlns:a="http://schemas.openxmlformats.org/drawingml/2006/main">
              <a:ext uri="{FF2B5EF4-FFF2-40B4-BE49-F238E27FC236}">
                <a16:creationId xmlns:a16="http://schemas.microsoft.com/office/drawing/2014/main" id="{EC2707D9-1C5D-4C78-8EE3-C2367ECD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conversion-accent">
            <a:extLst xmlns:a="http://schemas.openxmlformats.org/drawingml/2006/main">
              <a:ext uri="{FF2B5EF4-FFF2-40B4-BE49-F238E27FC236}">
                <a16:creationId xmlns:a16="http://schemas.microsoft.com/office/drawing/2014/main" id="{C412F48B-A4FA-49DF-8729-25EE831C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92838B-049E-4138-8958-7E11836E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字段抽取框架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D9A85F-462B-495B-A70F-5A6DD2F2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53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86171"/>
                </a:solidFill>
              </a:defRPr>
            </a:pPr>
            <a:r>
              <a:rPr sz="788" b="1">
                <a:solidFill>
                  <a:srgbClr val="486171"/>
                </a:solidFill>
              </a:rPr>
              <a:t>围绕账户、持仓、交易、关系四类字段设计抽取结构</a:t>
            </a:r>
          </a:p>
        </p:txBody>
      </p:sp>
      <p:sp>
        <p:nvSpPr>
          <p:cNvPr id="53" name="conversion">
            <a:extLst xmlns:a="http://schemas.openxmlformats.org/drawingml/2006/main">
              <a:ext uri="{FF2B5EF4-FFF2-40B4-BE49-F238E27FC236}">
                <a16:creationId xmlns:a16="http://schemas.microsoft.com/office/drawing/2014/main" id="{2C3FA65F-C310-4AC6-9274-704A6F5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conversion-accent">
            <a:extLst xmlns:a="http://schemas.openxmlformats.org/drawingml/2006/main">
              <a:ext uri="{FF2B5EF4-FFF2-40B4-BE49-F238E27FC236}">
                <a16:creationId xmlns:a16="http://schemas.microsoft.com/office/drawing/2014/main" id="{0A479D44-FD73-49A3-9C49-42B29F6C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9F26EF-6B04-4168-AB1E-F6E9CDE6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95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3456"/>
                </a:solidFill>
              </a:defRPr>
            </a:pPr>
            <a:r>
              <a:rPr sz="1013" b="1">
                <a:solidFill>
                  <a:srgbClr val="063456"/>
                </a:solidFill>
              </a:rPr>
              <a:t>复核问题清单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E68FAB-4DC3-4891-84BD-FE952CB6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53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86171"/>
                </a:solidFill>
              </a:defRPr>
            </a:pPr>
            <a:r>
              <a:rPr sz="788" b="1">
                <a:solidFill>
                  <a:srgbClr val="486171"/>
                </a:solidFill>
              </a:rPr>
              <a:t>缺材料、缺字段、关系不明或交易异常进入人工复核</a:t>
            </a:r>
          </a:p>
        </p:txBody>
      </p:sp>
    </p:spTree>
    <p:extLst>
      <p:ext uri="{BB962C8B-B14F-4D97-AF65-F5344CB8AC3E}">
        <p14:creationId xmlns:p14="http://schemas.microsoft.com/office/powerpoint/2010/main" val="864154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2026-06-23T16:54:15.8860000Z</dcterms:created>
  <dcterms:modified xsi:type="dcterms:W3CDTF">2026-06-23T16:54:15.8860000Z</dcterms:modified>
</coreProperties>
</file>