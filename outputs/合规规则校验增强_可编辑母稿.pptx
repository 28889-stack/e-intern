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7d6ab23b6480b" /><Relationship Type="http://schemas.openxmlformats.org/officeDocument/2006/relationships/extended-properties" Target="/docProps/app.xml" Id="Rd0d2075c9dd24393" /><Relationship Type="http://schemas.openxmlformats.org/officeDocument/2006/relationships/officeDocument" Target="/ppt/presentation.xml" Id="R18557dce08fc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087daaf734a6f"/>
  </p:sldMasterIdLst>
  <p:notesMasterIdLst>
    <p:notesMasterId xmlns:r="http://schemas.openxmlformats.org/officeDocument/2006/relationships" r:id="Rd70ad06a8ad24eb3"/>
  </p:notesMasterIdLst>
  <p:sldIdLst>
    <p:sldId xmlns:r="http://schemas.openxmlformats.org/officeDocument/2006/relationships" id="256" r:id="Rab46ac3d7a1f4e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455e658f6247bd" /><Relationship Type="http://schemas.openxmlformats.org/officeDocument/2006/relationships/slideMaster" Target="/ppt/slideMasters/slideMaster1.xml" Id="R79c087daaf734a6f" /><Relationship Type="http://schemas.openxmlformats.org/officeDocument/2006/relationships/notesMaster" Target="/ppt/notesMasters/notesMaster1.xml" Id="Rd70ad06a8ad24eb3" /><Relationship Type="http://schemas.openxmlformats.org/officeDocument/2006/relationships/presProps" Target="/ppt/presProps.xml" Id="Reb9cacf22524413f" /><Relationship Type="http://schemas.openxmlformats.org/officeDocument/2006/relationships/tableStyles" Target="/ppt/tableStyles.xml" Id="R813807369b444389" /><Relationship Type="http://schemas.openxmlformats.org/officeDocument/2006/relationships/slide" Target="/ppt/slides/slide1.xml" Id="Rab46ac3d7a1f4e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8d110d9f8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afb4c2e1b44f8" /><Relationship Type="http://schemas.openxmlformats.org/officeDocument/2006/relationships/notesMaster" Target="/ppt/notesMasters/notesMaster1.xml" Id="R3c17d8f78316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954211cae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993aaabc44829" /><Relationship Type="http://schemas.openxmlformats.org/officeDocument/2006/relationships/slideLayout" Target="/ppt/slideLayouts/slideLayout1.xml" Id="Ra8ae433adee0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ae433adee0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34535c8a84a1d" /><Relationship Type="http://schemas.openxmlformats.org/officeDocument/2006/relationships/notesSlide" Target="/ppt/notesSlides/notesSlide1.xml" Id="Rb3ea7ff52b9e46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FE7DB16D-EA6D-4EF1-ACB4-3DC851E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F8E9E530-0F22-4F06-B9F5-A53D42BC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E96F9690-2557-4CBE-AA24-0972050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0B22F68F-7BEB-4E89-83CB-23A09A2B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CA437A7-7316-4744-84FE-AA0FDE0E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项目可拓展性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DD7193-68C4-46A3-96E4-12D89C0D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合规规则校验增强：关键在补齐规则所需数据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2AB0EF-70C7-4153-9C60-3D605AB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E5EA484D-195A-4A10-82E0-724D1E2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6CBFB46B-3178-4D18-A11C-A44FB92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FF3C6F58-1EAE-4AE8-8F66-127E7507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8B57"/>
                </a:solidFill>
              </a:defRPr>
            </a:pPr>
            <a:r>
              <a:rPr sz="975" b="1">
                <a:solidFill>
                  <a:srgbClr val="2E8B57"/>
                </a:solidFill>
              </a:rPr>
              <a:t>增强方向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F03D0381-E964-48BF-9C8E-B6B971D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10020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3446"/>
                </a:solidFill>
              </a:defRPr>
            </a:pPr>
            <a:r>
              <a:rPr sz="1350" b="0">
                <a:solidFill>
                  <a:srgbClr val="1A3446"/>
                </a:solidFill>
              </a:rPr>
              <a:t>当前项目已能形成可复核的结构化结果；后续接入事前申报、关系人、指定券商、历史持仓等管理数据后，可从“材料整理”升级为“规则校验”。</a:t>
            </a:r>
          </a:p>
        </p:txBody>
      </p:sp>
      <p:sp>
        <p:nvSpPr>
          <p:cNvPr id="12" name="section-当前基础：材料侧已可结构化">
            <a:extLst xmlns:a="http://schemas.openxmlformats.org/drawingml/2006/main">
              <a:ext uri="{FF2B5EF4-FFF2-40B4-BE49-F238E27FC236}">
                <a16:creationId xmlns:a16="http://schemas.microsoft.com/office/drawing/2014/main" id="{3E21D99D-C7D7-4511-B7E5-C697D795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当前基础：材料侧已可结构化</a:t>
            </a:r>
          </a:p>
        </p:txBody>
      </p:sp>
      <p:sp>
        <p:nvSpPr>
          <p:cNvPr id="13" name="section-rule-当前基础：材料侧已可结构化">
            <a:extLst xmlns:a="http://schemas.openxmlformats.org/drawingml/2006/main">
              <a:ext uri="{FF2B5EF4-FFF2-40B4-BE49-F238E27FC236}">
                <a16:creationId xmlns:a16="http://schemas.microsoft.com/office/drawing/2014/main" id="{AD77020F-9621-48DE-B1F3-7BDEF93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eft-panel">
            <a:extLst xmlns:a="http://schemas.openxmlformats.org/drawingml/2006/main">
              <a:ext uri="{FF2B5EF4-FFF2-40B4-BE49-F238E27FC236}">
                <a16:creationId xmlns:a16="http://schemas.microsoft.com/office/drawing/2014/main" id="{EFDF7573-4DA7-4338-BDCD-4FBD9EFB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552700" cy="29527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cap-材料解析">
            <a:extLst xmlns:a="http://schemas.openxmlformats.org/drawingml/2006/main">
              <a:ext uri="{FF2B5EF4-FFF2-40B4-BE49-F238E27FC236}">
                <a16:creationId xmlns:a16="http://schemas.microsoft.com/office/drawing/2014/main" id="{1D62830E-076C-4609-97BA-BE3E64D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2381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cap-accent-材料解析">
            <a:extLst xmlns:a="http://schemas.openxmlformats.org/drawingml/2006/main">
              <a:ext uri="{FF2B5EF4-FFF2-40B4-BE49-F238E27FC236}">
                <a16:creationId xmlns:a16="http://schemas.microsoft.com/office/drawing/2014/main" id="{B5621CFA-D0FE-42BF-B64D-400FE09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cap-title-材料解析">
            <a:extLst xmlns:a="http://schemas.openxmlformats.org/drawingml/2006/main">
              <a:ext uri="{FF2B5EF4-FFF2-40B4-BE49-F238E27FC236}">
                <a16:creationId xmlns:a16="http://schemas.microsoft.com/office/drawing/2014/main" id="{F2917B11-9C80-47FD-96C2-3892E9DF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材料解析</a:t>
            </a:r>
          </a:p>
        </p:txBody>
      </p:sp>
      <p:sp>
        <p:nvSpPr>
          <p:cNvPr id="18" name="cap-note-材料解析">
            <a:extLst xmlns:a="http://schemas.openxmlformats.org/drawingml/2006/main">
              <a:ext uri="{FF2B5EF4-FFF2-40B4-BE49-F238E27FC236}">
                <a16:creationId xmlns:a16="http://schemas.microsoft.com/office/drawing/2014/main" id="{1D95880C-8174-44EC-990D-E87EEEE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28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PDF / OCR / 表格抽取</a:t>
            </a:r>
          </a:p>
        </p:txBody>
      </p:sp>
      <p:sp>
        <p:nvSpPr>
          <p:cNvPr id="19" name="cap-事件抽取">
            <a:extLst xmlns:a="http://schemas.openxmlformats.org/drawingml/2006/main">
              <a:ext uri="{FF2B5EF4-FFF2-40B4-BE49-F238E27FC236}">
                <a16:creationId xmlns:a16="http://schemas.microsoft.com/office/drawing/2014/main" id="{8A3770A0-85CF-4B66-85AC-F680FEE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57575"/>
            <a:ext cx="2381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cap-accent-事件抽取">
            <a:extLst xmlns:a="http://schemas.openxmlformats.org/drawingml/2006/main">
              <a:ext uri="{FF2B5EF4-FFF2-40B4-BE49-F238E27FC236}">
                <a16:creationId xmlns:a16="http://schemas.microsoft.com/office/drawing/2014/main" id="{0888CD40-8C5D-4A4C-91BD-2DDFF72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5757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1" name="cap-title-事件抽取">
            <a:extLst xmlns:a="http://schemas.openxmlformats.org/drawingml/2006/main">
              <a:ext uri="{FF2B5EF4-FFF2-40B4-BE49-F238E27FC236}">
                <a16:creationId xmlns:a16="http://schemas.microsoft.com/office/drawing/2014/main" id="{60B38F0F-CA6E-493A-9762-EB0A453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718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事件抽取</a:t>
            </a:r>
          </a:p>
        </p:txBody>
      </p:sp>
      <p:sp>
        <p:nvSpPr>
          <p:cNvPr id="22" name="cap-note-事件抽取">
            <a:extLst xmlns:a="http://schemas.openxmlformats.org/drawingml/2006/main">
              <a:ext uri="{FF2B5EF4-FFF2-40B4-BE49-F238E27FC236}">
                <a16:creationId xmlns:a16="http://schemas.microsoft.com/office/drawing/2014/main" id="{D13DDDDB-4C87-4A95-95C2-FA1F45F8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819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交易、持仓、权益事件</a:t>
            </a:r>
          </a:p>
        </p:txBody>
      </p:sp>
      <p:sp>
        <p:nvSpPr>
          <p:cNvPr id="23" name="cap-证据链留痕">
            <a:extLst xmlns:a="http://schemas.openxmlformats.org/drawingml/2006/main">
              <a:ext uri="{FF2B5EF4-FFF2-40B4-BE49-F238E27FC236}">
                <a16:creationId xmlns:a16="http://schemas.microsoft.com/office/drawing/2014/main" id="{8F0E2C22-955B-4CDC-901D-BBA1154F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48150"/>
            <a:ext cx="2381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4" name="cap-accent-证据链留痕">
            <a:extLst xmlns:a="http://schemas.openxmlformats.org/drawingml/2006/main">
              <a:ext uri="{FF2B5EF4-FFF2-40B4-BE49-F238E27FC236}">
                <a16:creationId xmlns:a16="http://schemas.microsoft.com/office/drawing/2014/main" id="{4B2ED106-E2A6-4843-AAB6-23F3178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48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5" name="cap-title-证据链留痕">
            <a:extLst xmlns:a="http://schemas.openxmlformats.org/drawingml/2006/main">
              <a:ext uri="{FF2B5EF4-FFF2-40B4-BE49-F238E27FC236}">
                <a16:creationId xmlns:a16="http://schemas.microsoft.com/office/drawing/2014/main" id="{18229665-DDA3-4498-B793-023F4860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362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证据链留痕</a:t>
            </a:r>
          </a:p>
        </p:txBody>
      </p:sp>
      <p:sp>
        <p:nvSpPr>
          <p:cNvPr id="26" name="cap-note-证据链留痕">
            <a:extLst xmlns:a="http://schemas.openxmlformats.org/drawingml/2006/main">
              <a:ext uri="{FF2B5EF4-FFF2-40B4-BE49-F238E27FC236}">
                <a16:creationId xmlns:a16="http://schemas.microsoft.com/office/drawing/2014/main" id="{59B3D6E4-3661-4BD4-80A3-2531875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10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来源文件、页码、字段依据</a:t>
            </a:r>
          </a:p>
        </p:txBody>
      </p:sp>
      <p:sp>
        <p:nvSpPr>
          <p:cNvPr id="27" name="limit-note">
            <a:extLst xmlns:a="http://schemas.openxmlformats.org/drawingml/2006/main">
              <a:ext uri="{FF2B5EF4-FFF2-40B4-BE49-F238E27FC236}">
                <a16:creationId xmlns:a16="http://schemas.microsoft.com/office/drawing/2014/main" id="{AFD21E30-9E86-41D5-9D85-E582219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0150"/>
            <a:ext cx="238125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28" name="limit-note-text">
            <a:extLst xmlns:a="http://schemas.openxmlformats.org/drawingml/2006/main">
              <a:ext uri="{FF2B5EF4-FFF2-40B4-BE49-F238E27FC236}">
                <a16:creationId xmlns:a16="http://schemas.microsoft.com/office/drawing/2014/main" id="{7B85CB6C-3A6F-4CB0-BD3C-467A43C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95875"/>
            <a:ext cx="2247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边界：规则判断还缺少对照数据</a:t>
            </a:r>
          </a:p>
        </p:txBody>
      </p:sp>
      <p:sp>
        <p:nvSpPr>
          <p:cNvPr id="29" name="section-可优化规则示例：从“能抽取”到“能校验”">
            <a:extLst xmlns:a="http://schemas.openxmlformats.org/drawingml/2006/main">
              <a:ext uri="{FF2B5EF4-FFF2-40B4-BE49-F238E27FC236}">
                <a16:creationId xmlns:a16="http://schemas.microsoft.com/office/drawing/2014/main" id="{6A2827B1-5FA0-436C-8DCD-5DB898A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567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可优化规则示例：从“能抽取”到“能校验”</a:t>
            </a:r>
          </a:p>
        </p:txBody>
      </p:sp>
      <p:sp>
        <p:nvSpPr>
          <p:cNvPr id="30" name="section-rule-可优化规则示例：从“能抽取”到“能校验”">
            <a:extLst xmlns:a="http://schemas.openxmlformats.org/drawingml/2006/main">
              <a:ext uri="{FF2B5EF4-FFF2-40B4-BE49-F238E27FC236}">
                <a16:creationId xmlns:a16="http://schemas.microsoft.com/office/drawing/2014/main" id="{4F7670FF-DF46-4117-B641-45B5833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907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1" name="table-panel">
            <a:extLst xmlns:a="http://schemas.openxmlformats.org/drawingml/2006/main">
              <a:ext uri="{FF2B5EF4-FFF2-40B4-BE49-F238E27FC236}">
                <a16:creationId xmlns:a16="http://schemas.microsoft.com/office/drawing/2014/main" id="{E2F3E1FE-A4E9-4D34-B3F6-9744996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567690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2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D3638EC9-47CC-4D86-8ACF-D5570D3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33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78143987-B493-451C-87F1-594FD1C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34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DDD782A1-E055-420C-8F15-86210FCB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35" name="head-1">
            <a:extLst xmlns:a="http://schemas.openxmlformats.org/drawingml/2006/main">
              <a:ext uri="{FF2B5EF4-FFF2-40B4-BE49-F238E27FC236}">
                <a16:creationId xmlns:a16="http://schemas.microsoft.com/office/drawing/2014/main" id="{85EC8608-43A2-4FB3-BD1E-B415C1A2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62225"/>
            <a:ext cx="1466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审核规则</a:t>
            </a:r>
          </a:p>
        </p:txBody>
      </p:sp>
      <p:sp>
        <p:nvSpPr>
          <p:cNvPr id="36" name="head-2">
            <a:extLst xmlns:a="http://schemas.openxmlformats.org/drawingml/2006/main">
              <a:ext uri="{FF2B5EF4-FFF2-40B4-BE49-F238E27FC236}">
                <a16:creationId xmlns:a16="http://schemas.microsoft.com/office/drawing/2014/main" id="{3C69EAB6-672F-4AF6-8F7D-7645871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62225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需要补齐的数据</a:t>
            </a:r>
          </a:p>
        </p:txBody>
      </p:sp>
      <p:sp>
        <p:nvSpPr>
          <p:cNvPr id="37" name="head-3">
            <a:extLst xmlns:a="http://schemas.openxmlformats.org/drawingml/2006/main">
              <a:ext uri="{FF2B5EF4-FFF2-40B4-BE49-F238E27FC236}">
                <a16:creationId xmlns:a16="http://schemas.microsoft.com/office/drawing/2014/main" id="{9F19F3F9-CE25-4B1A-A383-3F91616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1676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增强后的校验结果</a:t>
            </a:r>
          </a:p>
        </p:txBody>
      </p:sp>
      <p:sp>
        <p:nvSpPr>
          <p:cNvPr id="38" name="rule-row-294-0">
            <a:extLst xmlns:a="http://schemas.openxmlformats.org/drawingml/2006/main">
              <a:ext uri="{FF2B5EF4-FFF2-40B4-BE49-F238E27FC236}">
                <a16:creationId xmlns:a16="http://schemas.microsoft.com/office/drawing/2014/main" id="{7E51FA94-CEC5-4660-8CFD-9478BD4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39" name="rule-text-294-0">
            <a:extLst xmlns:a="http://schemas.openxmlformats.org/drawingml/2006/main">
              <a:ext uri="{FF2B5EF4-FFF2-40B4-BE49-F238E27FC236}">
                <a16:creationId xmlns:a16="http://schemas.microsoft.com/office/drawing/2014/main" id="{484A3C62-9C89-42DD-94F5-3081CFDD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860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3个月持有期限制</a:t>
            </a:r>
          </a:p>
        </p:txBody>
      </p:sp>
      <p:sp>
        <p:nvSpPr>
          <p:cNvPr id="40" name="rule-row-294-1">
            <a:extLst xmlns:a="http://schemas.openxmlformats.org/drawingml/2006/main">
              <a:ext uri="{FF2B5EF4-FFF2-40B4-BE49-F238E27FC236}">
                <a16:creationId xmlns:a16="http://schemas.microsoft.com/office/drawing/2014/main" id="{3119F9DC-9072-4F52-9AA0-D4D0A84C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1" name="rule-text-294-1">
            <a:extLst xmlns:a="http://schemas.openxmlformats.org/drawingml/2006/main">
              <a:ext uri="{FF2B5EF4-FFF2-40B4-BE49-F238E27FC236}">
                <a16:creationId xmlns:a16="http://schemas.microsoft.com/office/drawing/2014/main" id="{F1DBEC55-9488-46F0-B3A9-12F986F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860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历史持仓、交易日期、持有起算日</a:t>
            </a:r>
          </a:p>
        </p:txBody>
      </p:sp>
      <p:sp>
        <p:nvSpPr>
          <p:cNvPr id="42" name="rule-row-294-2">
            <a:extLst xmlns:a="http://schemas.openxmlformats.org/drawingml/2006/main">
              <a:ext uri="{FF2B5EF4-FFF2-40B4-BE49-F238E27FC236}">
                <a16:creationId xmlns:a16="http://schemas.microsoft.com/office/drawing/2014/main" id="{E417442A-7814-44A2-BBE4-A8DDA23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3" name="rule-text-294-2">
            <a:extLst xmlns:a="http://schemas.openxmlformats.org/drawingml/2006/main">
              <a:ext uri="{FF2B5EF4-FFF2-40B4-BE49-F238E27FC236}">
                <a16:creationId xmlns:a16="http://schemas.microsoft.com/office/drawing/2014/main" id="{DC5CD1C6-62A2-48FD-AB06-429AFA5F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860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识别短期交易风险</a:t>
            </a:r>
          </a:p>
        </p:txBody>
      </p:sp>
      <p:sp>
        <p:nvSpPr>
          <p:cNvPr id="44" name="rule-row-338-0">
            <a:extLst xmlns:a="http://schemas.openxmlformats.org/drawingml/2006/main">
              <a:ext uri="{FF2B5EF4-FFF2-40B4-BE49-F238E27FC236}">
                <a16:creationId xmlns:a16="http://schemas.microsoft.com/office/drawing/2014/main" id="{EDB1FF85-1349-478B-8CEF-A66402D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5" name="rule-text-338-0">
            <a:extLst xmlns:a="http://schemas.openxmlformats.org/drawingml/2006/main">
              <a:ext uri="{FF2B5EF4-FFF2-40B4-BE49-F238E27FC236}">
                <a16:creationId xmlns:a16="http://schemas.microsoft.com/office/drawing/2014/main" id="{6D024C03-5DE0-4C2B-B401-99AA3ECB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051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是否在指定券商交易</a:t>
            </a:r>
          </a:p>
        </p:txBody>
      </p:sp>
      <p:sp>
        <p:nvSpPr>
          <p:cNvPr id="46" name="rule-row-338-1">
            <a:extLst xmlns:a="http://schemas.openxmlformats.org/drawingml/2006/main">
              <a:ext uri="{FF2B5EF4-FFF2-40B4-BE49-F238E27FC236}">
                <a16:creationId xmlns:a16="http://schemas.microsoft.com/office/drawing/2014/main" id="{E2FC1666-BC2E-4E09-AF96-073B372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7" name="rule-text-338-1">
            <a:extLst xmlns:a="http://schemas.openxmlformats.org/drawingml/2006/main">
              <a:ext uri="{FF2B5EF4-FFF2-40B4-BE49-F238E27FC236}">
                <a16:creationId xmlns:a16="http://schemas.microsoft.com/office/drawing/2014/main" id="{75515C25-2F01-4EA8-BF90-5F576BD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指定券商名单、开户券商、账户映射</a:t>
            </a:r>
          </a:p>
        </p:txBody>
      </p:sp>
      <p:sp>
        <p:nvSpPr>
          <p:cNvPr id="48" name="rule-row-338-2">
            <a:extLst xmlns:a="http://schemas.openxmlformats.org/drawingml/2006/main">
              <a:ext uri="{FF2B5EF4-FFF2-40B4-BE49-F238E27FC236}">
                <a16:creationId xmlns:a16="http://schemas.microsoft.com/office/drawing/2014/main" id="{6E6021A0-8F60-4E70-9B7F-DBB4C26C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9" name="rule-text-338-2">
            <a:extLst xmlns:a="http://schemas.openxmlformats.org/drawingml/2006/main">
              <a:ext uri="{FF2B5EF4-FFF2-40B4-BE49-F238E27FC236}">
                <a16:creationId xmlns:a16="http://schemas.microsoft.com/office/drawing/2014/main" id="{5C8ACA02-D997-468B-A928-ACD3FEE5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判断非指定券商交易</a:t>
            </a:r>
          </a:p>
        </p:txBody>
      </p:sp>
      <p:sp>
        <p:nvSpPr>
          <p:cNvPr id="50" name="rule-row-382-0">
            <a:extLst xmlns:a="http://schemas.openxmlformats.org/drawingml/2006/main">
              <a:ext uri="{FF2B5EF4-FFF2-40B4-BE49-F238E27FC236}">
                <a16:creationId xmlns:a16="http://schemas.microsoft.com/office/drawing/2014/main" id="{CD5B2B3A-16ED-462F-92E2-B856061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1" name="rule-text-382-0">
            <a:extLst xmlns:a="http://schemas.openxmlformats.org/drawingml/2006/main">
              <a:ext uri="{FF2B5EF4-FFF2-40B4-BE49-F238E27FC236}">
                <a16:creationId xmlns:a16="http://schemas.microsoft.com/office/drawing/2014/main" id="{12401360-DCC8-4E92-BF2E-8D80D6C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24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是否按时事前申报</a:t>
            </a:r>
          </a:p>
        </p:txBody>
      </p:sp>
      <p:sp>
        <p:nvSpPr>
          <p:cNvPr id="52" name="rule-row-382-1">
            <a:extLst xmlns:a="http://schemas.openxmlformats.org/drawingml/2006/main">
              <a:ext uri="{FF2B5EF4-FFF2-40B4-BE49-F238E27FC236}">
                <a16:creationId xmlns:a16="http://schemas.microsoft.com/office/drawing/2014/main" id="{786AF8AF-0E86-4C24-959C-5956D5A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3" name="rule-text-382-1">
            <a:extLst xmlns:a="http://schemas.openxmlformats.org/drawingml/2006/main">
              <a:ext uri="{FF2B5EF4-FFF2-40B4-BE49-F238E27FC236}">
                <a16:creationId xmlns:a16="http://schemas.microsoft.com/office/drawing/2014/main" id="{465A6646-15C2-447E-B66A-90117AFB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事前申报记录、审批时间、交易时间</a:t>
            </a:r>
          </a:p>
        </p:txBody>
      </p:sp>
      <p:sp>
        <p:nvSpPr>
          <p:cNvPr id="54" name="rule-row-382-2">
            <a:extLst xmlns:a="http://schemas.openxmlformats.org/drawingml/2006/main">
              <a:ext uri="{FF2B5EF4-FFF2-40B4-BE49-F238E27FC236}">
                <a16:creationId xmlns:a16="http://schemas.microsoft.com/office/drawing/2014/main" id="{5827E4EA-31BA-441F-9F74-88DC6CF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5" name="rule-text-382-2">
            <a:extLst xmlns:a="http://schemas.openxmlformats.org/drawingml/2006/main">
              <a:ext uri="{FF2B5EF4-FFF2-40B4-BE49-F238E27FC236}">
                <a16:creationId xmlns:a16="http://schemas.microsoft.com/office/drawing/2014/main" id="{8C15BC1C-940B-4114-8712-DA2D70F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242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识别未申报或迟报交易</a:t>
            </a:r>
          </a:p>
        </p:txBody>
      </p:sp>
      <p:sp>
        <p:nvSpPr>
          <p:cNvPr id="56" name="rule-row-426-0">
            <a:extLst xmlns:a="http://schemas.openxmlformats.org/drawingml/2006/main">
              <a:ext uri="{FF2B5EF4-FFF2-40B4-BE49-F238E27FC236}">
                <a16:creationId xmlns:a16="http://schemas.microsoft.com/office/drawing/2014/main" id="{08784A8C-229E-4A26-94EE-09BBA393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7" name="rule-text-426-0">
            <a:extLst xmlns:a="http://schemas.openxmlformats.org/drawingml/2006/main">
              <a:ext uri="{FF2B5EF4-FFF2-40B4-BE49-F238E27FC236}">
                <a16:creationId xmlns:a16="http://schemas.microsoft.com/office/drawing/2014/main" id="{5000D6B4-5FE9-4361-B2D7-19F39FF3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433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证明材料与申报一致</a:t>
            </a:r>
          </a:p>
        </p:txBody>
      </p:sp>
      <p:sp>
        <p:nvSpPr>
          <p:cNvPr id="58" name="rule-row-426-1">
            <a:extLst xmlns:a="http://schemas.openxmlformats.org/drawingml/2006/main">
              <a:ext uri="{FF2B5EF4-FFF2-40B4-BE49-F238E27FC236}">
                <a16:creationId xmlns:a16="http://schemas.microsoft.com/office/drawing/2014/main" id="{C3BB5964-E47A-4735-9E0A-16D29FC4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9" name="rule-text-426-1">
            <a:extLst xmlns:a="http://schemas.openxmlformats.org/drawingml/2006/main">
              <a:ext uri="{FF2B5EF4-FFF2-40B4-BE49-F238E27FC236}">
                <a16:creationId xmlns:a16="http://schemas.microsoft.com/office/drawing/2014/main" id="{0E5AF05B-E17B-49B1-998E-109BECB1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433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申报字段、材料抽取字段、证据来源</a:t>
            </a:r>
          </a:p>
        </p:txBody>
      </p:sp>
      <p:sp>
        <p:nvSpPr>
          <p:cNvPr id="60" name="rule-row-426-2">
            <a:extLst xmlns:a="http://schemas.openxmlformats.org/drawingml/2006/main">
              <a:ext uri="{FF2B5EF4-FFF2-40B4-BE49-F238E27FC236}">
                <a16:creationId xmlns:a16="http://schemas.microsoft.com/office/drawing/2014/main" id="{1729615D-D262-40D9-81CD-01BB2A5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1" name="rule-text-426-2">
            <a:extLst xmlns:a="http://schemas.openxmlformats.org/drawingml/2006/main">
              <a:ext uri="{FF2B5EF4-FFF2-40B4-BE49-F238E27FC236}">
                <a16:creationId xmlns:a16="http://schemas.microsoft.com/office/drawing/2014/main" id="{9D61D608-4404-4323-8DAA-E7CBF73E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定位申报与材料差异</a:t>
            </a:r>
          </a:p>
        </p:txBody>
      </p:sp>
      <p:sp>
        <p:nvSpPr>
          <p:cNvPr id="62" name="rule-row-470-0">
            <a:extLst xmlns:a="http://schemas.openxmlformats.org/drawingml/2006/main">
              <a:ext uri="{FF2B5EF4-FFF2-40B4-BE49-F238E27FC236}">
                <a16:creationId xmlns:a16="http://schemas.microsoft.com/office/drawing/2014/main" id="{44BB91E7-09F9-4331-BFF8-71911162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3" name="rule-text-470-0">
            <a:extLst xmlns:a="http://schemas.openxmlformats.org/drawingml/2006/main">
              <a:ext uri="{FF2B5EF4-FFF2-40B4-BE49-F238E27FC236}">
                <a16:creationId xmlns:a16="http://schemas.microsoft.com/office/drawing/2014/main" id="{7852ED48-1944-494C-A0F3-F8706B8B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持仓交易勾稽关系</a:t>
            </a:r>
          </a:p>
        </p:txBody>
      </p:sp>
      <p:sp>
        <p:nvSpPr>
          <p:cNvPr id="64" name="rule-row-470-1">
            <a:extLst xmlns:a="http://schemas.openxmlformats.org/drawingml/2006/main">
              <a:ext uri="{FF2B5EF4-FFF2-40B4-BE49-F238E27FC236}">
                <a16:creationId xmlns:a16="http://schemas.microsoft.com/office/drawing/2014/main" id="{31F43DF6-29DC-4BE1-AE23-C4FF614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767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5" name="rule-text-470-1">
            <a:extLst xmlns:a="http://schemas.openxmlformats.org/drawingml/2006/main">
              <a:ext uri="{FF2B5EF4-FFF2-40B4-BE49-F238E27FC236}">
                <a16:creationId xmlns:a16="http://schemas.microsoft.com/office/drawing/2014/main" id="{196349F8-DE8F-4DE3-9DC4-B69A09E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624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上期持仓、本期交易、本期持仓</a:t>
            </a:r>
          </a:p>
        </p:txBody>
      </p:sp>
      <p:sp>
        <p:nvSpPr>
          <p:cNvPr id="66" name="rule-row-470-2">
            <a:extLst xmlns:a="http://schemas.openxmlformats.org/drawingml/2006/main">
              <a:ext uri="{FF2B5EF4-FFF2-40B4-BE49-F238E27FC236}">
                <a16:creationId xmlns:a16="http://schemas.microsoft.com/office/drawing/2014/main" id="{185B7928-244A-4AA6-BF5E-A494D12D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7" name="rule-text-470-2">
            <a:extLst xmlns:a="http://schemas.openxmlformats.org/drawingml/2006/main">
              <a:ext uri="{FF2B5EF4-FFF2-40B4-BE49-F238E27FC236}">
                <a16:creationId xmlns:a16="http://schemas.microsoft.com/office/drawing/2014/main" id="{982FB567-ABAC-478B-B6B2-2FC3E7A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校验持仓变动逻辑</a:t>
            </a:r>
          </a:p>
        </p:txBody>
      </p:sp>
      <p:sp>
        <p:nvSpPr>
          <p:cNvPr id="68" name="rule-row-514-0">
            <a:extLst xmlns:a="http://schemas.openxmlformats.org/drawingml/2006/main">
              <a:ext uri="{FF2B5EF4-FFF2-40B4-BE49-F238E27FC236}">
                <a16:creationId xmlns:a16="http://schemas.microsoft.com/office/drawing/2014/main" id="{37E72054-BC7E-408F-A2A6-A0E3C291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95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9" name="rule-text-514-0">
            <a:extLst xmlns:a="http://schemas.openxmlformats.org/drawingml/2006/main">
              <a:ext uri="{FF2B5EF4-FFF2-40B4-BE49-F238E27FC236}">
                <a16:creationId xmlns:a16="http://schemas.microsoft.com/office/drawing/2014/main" id="{BFB5FEAF-9E71-463E-8A77-E3B74A82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815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3456"/>
                </a:solidFill>
              </a:defRPr>
            </a:pPr>
            <a:r>
              <a:rPr sz="825" b="1">
                <a:solidFill>
                  <a:srgbClr val="063456"/>
                </a:solidFill>
              </a:rPr>
              <a:t>账户与关系人完整性</a:t>
            </a:r>
          </a:p>
        </p:txBody>
      </p:sp>
      <p:sp>
        <p:nvSpPr>
          <p:cNvPr id="70" name="rule-row-514-1">
            <a:extLst xmlns:a="http://schemas.openxmlformats.org/drawingml/2006/main">
              <a:ext uri="{FF2B5EF4-FFF2-40B4-BE49-F238E27FC236}">
                <a16:creationId xmlns:a16="http://schemas.microsoft.com/office/drawing/2014/main" id="{F6470C8A-42A8-426C-8EDC-300030D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958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1" name="rule-text-514-1">
            <a:extLst xmlns:a="http://schemas.openxmlformats.org/drawingml/2006/main">
              <a:ext uri="{FF2B5EF4-FFF2-40B4-BE49-F238E27FC236}">
                <a16:creationId xmlns:a16="http://schemas.microsoft.com/office/drawing/2014/main" id="{08DABC27-AD9F-42CF-839A-0557450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815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员工关系、利害关系人、账户清单</a:t>
            </a:r>
          </a:p>
        </p:txBody>
      </p:sp>
      <p:sp>
        <p:nvSpPr>
          <p:cNvPr id="72" name="rule-row-514-2">
            <a:extLst xmlns:a="http://schemas.openxmlformats.org/drawingml/2006/main">
              <a:ext uri="{FF2B5EF4-FFF2-40B4-BE49-F238E27FC236}">
                <a16:creationId xmlns:a16="http://schemas.microsoft.com/office/drawing/2014/main" id="{A410703B-6E02-4599-A9B9-8EE266D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3" name="rule-text-514-2">
            <a:extLst xmlns:a="http://schemas.openxmlformats.org/drawingml/2006/main">
              <a:ext uri="{FF2B5EF4-FFF2-40B4-BE49-F238E27FC236}">
                <a16:creationId xmlns:a16="http://schemas.microsoft.com/office/drawing/2014/main" id="{C024E67A-7C9E-4132-BE28-8AA95C9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815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识别漏报账户或关系变更</a:t>
            </a:r>
          </a:p>
        </p:txBody>
      </p:sp>
      <p:sp>
        <p:nvSpPr>
          <p:cNvPr id="74" name="section-后续数据闭环">
            <a:extLst xmlns:a="http://schemas.openxmlformats.org/drawingml/2006/main">
              <a:ext uri="{FF2B5EF4-FFF2-40B4-BE49-F238E27FC236}">
                <a16:creationId xmlns:a16="http://schemas.microsoft.com/office/drawing/2014/main" id="{A89DB8E4-3B7C-4F8C-A637-D3111703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后续数据闭环</a:t>
            </a:r>
          </a:p>
        </p:txBody>
      </p:sp>
      <p:sp>
        <p:nvSpPr>
          <p:cNvPr id="75" name="section-rule-后续数据闭环">
            <a:extLst xmlns:a="http://schemas.openxmlformats.org/drawingml/2006/main">
              <a:ext uri="{FF2B5EF4-FFF2-40B4-BE49-F238E27FC236}">
                <a16:creationId xmlns:a16="http://schemas.microsoft.com/office/drawing/2014/main" id="{C1718CD9-18BC-4E20-B046-9A2FC20D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907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76" name="right-panel">
            <a:extLst xmlns:a="http://schemas.openxmlformats.org/drawingml/2006/main">
              <a:ext uri="{FF2B5EF4-FFF2-40B4-BE49-F238E27FC236}">
                <a16:creationId xmlns:a16="http://schemas.microsoft.com/office/drawing/2014/main" id="{92B4DA4D-2B59-4921-899B-C0D6F014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1066800" cy="2952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7" name="data-pill-事前申报">
            <a:extLst xmlns:a="http://schemas.openxmlformats.org/drawingml/2006/main">
              <a:ext uri="{FF2B5EF4-FFF2-40B4-BE49-F238E27FC236}">
                <a16:creationId xmlns:a16="http://schemas.microsoft.com/office/drawing/2014/main" id="{2FFFFE83-D6B0-45F0-947B-40566EA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86050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78" name="data-pill-text-事前申报">
            <a:extLst xmlns:a="http://schemas.openxmlformats.org/drawingml/2006/main">
              <a:ext uri="{FF2B5EF4-FFF2-40B4-BE49-F238E27FC236}">
                <a16:creationId xmlns:a16="http://schemas.microsoft.com/office/drawing/2014/main" id="{CD0F3B1D-90B2-4E34-BB60-D6AF2697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771775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事前申报</a:t>
            </a:r>
          </a:p>
        </p:txBody>
      </p:sp>
      <p:sp>
        <p:nvSpPr>
          <p:cNvPr id="79" name="data-pill-审批记录">
            <a:extLst xmlns:a="http://schemas.openxmlformats.org/drawingml/2006/main">
              <a:ext uri="{FF2B5EF4-FFF2-40B4-BE49-F238E27FC236}">
                <a16:creationId xmlns:a16="http://schemas.microsoft.com/office/drawing/2014/main" id="{DD989938-490F-4E16-821B-B974F56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76575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80" name="data-pill-text-审批记录">
            <a:extLst xmlns:a="http://schemas.openxmlformats.org/drawingml/2006/main">
              <a:ext uri="{FF2B5EF4-FFF2-40B4-BE49-F238E27FC236}">
                <a16:creationId xmlns:a16="http://schemas.microsoft.com/office/drawing/2014/main" id="{BD77FFDD-7282-45A1-B513-FE9BFA1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162300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审批记录</a:t>
            </a:r>
          </a:p>
        </p:txBody>
      </p:sp>
      <p:sp>
        <p:nvSpPr>
          <p:cNvPr id="81" name="data-pill-指定券商">
            <a:extLst xmlns:a="http://schemas.openxmlformats.org/drawingml/2006/main">
              <a:ext uri="{FF2B5EF4-FFF2-40B4-BE49-F238E27FC236}">
                <a16:creationId xmlns:a16="http://schemas.microsoft.com/office/drawing/2014/main" id="{3BD0A350-D65C-4FA2-918A-98A49AA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67100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82" name="data-pill-text-指定券商">
            <a:extLst xmlns:a="http://schemas.openxmlformats.org/drawingml/2006/main">
              <a:ext uri="{FF2B5EF4-FFF2-40B4-BE49-F238E27FC236}">
                <a16:creationId xmlns:a16="http://schemas.microsoft.com/office/drawing/2014/main" id="{AD3802CF-2060-4565-A9A2-75F94B7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552825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指定券商</a:t>
            </a:r>
          </a:p>
        </p:txBody>
      </p:sp>
      <p:sp>
        <p:nvSpPr>
          <p:cNvPr id="83" name="data-pill-关系人信息">
            <a:extLst xmlns:a="http://schemas.openxmlformats.org/drawingml/2006/main">
              <a:ext uri="{FF2B5EF4-FFF2-40B4-BE49-F238E27FC236}">
                <a16:creationId xmlns:a16="http://schemas.microsoft.com/office/drawing/2014/main" id="{2067C68C-E4F4-42D3-90DC-0F91508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57625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84" name="data-pill-text-关系人信息">
            <a:extLst xmlns:a="http://schemas.openxmlformats.org/drawingml/2006/main">
              <a:ext uri="{FF2B5EF4-FFF2-40B4-BE49-F238E27FC236}">
                <a16:creationId xmlns:a16="http://schemas.microsoft.com/office/drawing/2014/main" id="{49B2F42A-D2CB-404F-BD74-7994A16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43350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关系人信息</a:t>
            </a:r>
          </a:p>
        </p:txBody>
      </p:sp>
      <p:sp>
        <p:nvSpPr>
          <p:cNvPr id="85" name="data-pill-历史持仓">
            <a:extLst xmlns:a="http://schemas.openxmlformats.org/drawingml/2006/main">
              <a:ext uri="{FF2B5EF4-FFF2-40B4-BE49-F238E27FC236}">
                <a16:creationId xmlns:a16="http://schemas.microsoft.com/office/drawing/2014/main" id="{EFF157F9-9F94-4972-AEF1-73AFB0E5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48150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86" name="data-pill-text-历史持仓">
            <a:extLst xmlns:a="http://schemas.openxmlformats.org/drawingml/2006/main">
              <a:ext uri="{FF2B5EF4-FFF2-40B4-BE49-F238E27FC236}">
                <a16:creationId xmlns:a16="http://schemas.microsoft.com/office/drawing/2014/main" id="{CEB45C86-D0A2-4398-947E-BD5ABF3F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333875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历史持仓</a:t>
            </a:r>
          </a:p>
        </p:txBody>
      </p:sp>
      <p:sp>
        <p:nvSpPr>
          <p:cNvPr id="87" name="data-pill-账户清单">
            <a:extLst xmlns:a="http://schemas.openxmlformats.org/drawingml/2006/main">
              <a:ext uri="{FF2B5EF4-FFF2-40B4-BE49-F238E27FC236}">
                <a16:creationId xmlns:a16="http://schemas.microsoft.com/office/drawing/2014/main" id="{A62275EC-D1F3-4862-8833-A734800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38675"/>
            <a:ext cx="838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88" name="data-pill-text-账户清单">
            <a:extLst xmlns:a="http://schemas.openxmlformats.org/drawingml/2006/main">
              <a:ext uri="{FF2B5EF4-FFF2-40B4-BE49-F238E27FC236}">
                <a16:creationId xmlns:a16="http://schemas.microsoft.com/office/drawing/2014/main" id="{F0A13D7E-E998-42D6-A9A3-C4CBF2B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724400"/>
            <a:ext cx="704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账户清单</a:t>
            </a:r>
          </a:p>
        </p:txBody>
      </p:sp>
      <p:sp>
        <p:nvSpPr>
          <p:cNvPr id="89" name="data-note">
            <a:extLst xmlns:a="http://schemas.openxmlformats.org/drawingml/2006/main">
              <a:ext uri="{FF2B5EF4-FFF2-40B4-BE49-F238E27FC236}">
                <a16:creationId xmlns:a16="http://schemas.microsoft.com/office/drawing/2014/main" id="{02B62400-9D6E-4262-BF3F-E39C6121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048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57987"/>
                </a:solidFill>
              </a:defRPr>
            </a:pPr>
            <a:r>
              <a:rPr sz="675" b="0">
                <a:solidFill>
                  <a:srgbClr val="657987"/>
                </a:solidFill>
              </a:rPr>
              <a:t>接入后可覆盖社会关系变更、数据异常与多源矛盾校验</a:t>
            </a:r>
          </a:p>
        </p:txBody>
      </p:sp>
      <p:sp>
        <p:nvSpPr>
          <p:cNvPr id="90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0CAA10F3-2EE2-4121-8DD4-9377619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91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28181763-F1BC-4A3F-BEE4-77C0430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92" name="bottom-text">
            <a:extLst xmlns:a="http://schemas.openxmlformats.org/drawingml/2006/main">
              <a:ext uri="{FF2B5EF4-FFF2-40B4-BE49-F238E27FC236}">
                <a16:creationId xmlns:a16="http://schemas.microsoft.com/office/drawing/2014/main" id="{8A8AD21E-B470-45EC-8C86-BDED5A7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76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可拓展点：补齐内部管理数据后，系统可从“材料抽取与整理”进一步升级为“自动规则校验 + 异常问题清单”。</a:t>
            </a:r>
          </a:p>
        </p:txBody>
      </p:sp>
      <p:sp>
        <p:nvSpPr>
          <p:cNvPr id="9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A9EEB70-417B-4F20-8449-F9CAE1F6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9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246F492-A793-4B8F-A708-C93E7953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9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F8C197-F129-4A90-8E12-82D462D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合规规则校验增强 / 可拓展</a:t>
            </a:r>
          </a:p>
        </p:txBody>
      </p:sp>
    </p:spTree>
    <p:extLst>
      <p:ext uri="{BB962C8B-B14F-4D97-AF65-F5344CB8AC3E}">
        <p14:creationId xmlns:p14="http://schemas.microsoft.com/office/powerpoint/2010/main" val="843536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2026-06-24T12:27:32.6520000Z</dcterms:created>
  <dcterms:modified xsi:type="dcterms:W3CDTF">2026-06-24T12:27:32.6520000Z</dcterms:modified>
</coreProperties>
</file>