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281923e9824960" /><Relationship Type="http://schemas.openxmlformats.org/officeDocument/2006/relationships/extended-properties" Target="/docProps/app.xml" Id="R039888e1aa0a491b" /><Relationship Type="http://schemas.openxmlformats.org/officeDocument/2006/relationships/officeDocument" Target="/ppt/presentation.xml" Id="R0ec4f3e3f1b9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8b720b0d74d00"/>
  </p:sldMasterIdLst>
  <p:notesMasterIdLst>
    <p:notesMasterId xmlns:r="http://schemas.openxmlformats.org/officeDocument/2006/relationships" r:id="R88b5706630824fa9"/>
  </p:notesMasterIdLst>
  <p:sldIdLst>
    <p:sldId xmlns:r="http://schemas.openxmlformats.org/officeDocument/2006/relationships" id="256" r:id="R6dfa2ad1546a45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7946784a1f46c3" /><Relationship Type="http://schemas.openxmlformats.org/officeDocument/2006/relationships/slideMaster" Target="/ppt/slideMasters/slideMaster1.xml" Id="Reaa8b720b0d74d00" /><Relationship Type="http://schemas.openxmlformats.org/officeDocument/2006/relationships/notesMaster" Target="/ppt/notesMasters/notesMaster1.xml" Id="R88b5706630824fa9" /><Relationship Type="http://schemas.openxmlformats.org/officeDocument/2006/relationships/presProps" Target="/ppt/presProps.xml" Id="Refa5059884814987" /><Relationship Type="http://schemas.openxmlformats.org/officeDocument/2006/relationships/tableStyles" Target="/ppt/tableStyles.xml" Id="R6abe48da97354de2" /><Relationship Type="http://schemas.openxmlformats.org/officeDocument/2006/relationships/slide" Target="/ppt/slides/slide1.xml" Id="R6dfa2ad1546a45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15d269995d42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59eaf1272948ee" /><Relationship Type="http://schemas.openxmlformats.org/officeDocument/2006/relationships/notesMaster" Target="/ppt/notesMasters/notesMaster1.xml" Id="R5c5ee22ed27d4b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97c26fe2a4f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d400b945d4cc9" /><Relationship Type="http://schemas.openxmlformats.org/officeDocument/2006/relationships/slideLayout" Target="/ppt/slideLayouts/slideLayout1.xml" Id="R3bf03dd69ca5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f03dd69ca5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052eb099f497c" /><Relationship Type="http://schemas.openxmlformats.org/officeDocument/2006/relationships/notesSlide" Target="/ppt/notesSlides/notesSlide1.xml" Id="Rf7166add35ca49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08DC176B-B1C6-44DE-8E3D-E0B76880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6CA18E13-01C8-4DB4-9749-A7CD958C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30E8F53-DC75-4D89-A12B-00A3487F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008946-5837-4214-9ED4-5516D546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3A8AA749-A0FC-48C9-B583-0B727D33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23811-677E-4A3F-BB0D-A3A5A5AA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DBD82-82E5-40CC-A788-D254E0A4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总结｜项目价值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9C20B-F962-456C-8B39-34A28E7D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项目价值：AI 技术与规则业务理解共同发力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BABD72BA-D50E-4C6E-8197-D14D9DA5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E3F9F8CC-9C5B-45ED-B8F9-BC88D023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57F2A-6413-45FA-A91C-8E99332A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17A22"/>
                </a:solidFill>
              </a:defRPr>
            </a:pPr>
            <a:r>
              <a:rPr sz="1013" b="1">
                <a:solidFill>
                  <a:srgbClr val="E17A22"/>
                </a:solidFill>
              </a:rPr>
              <a:t>技术 × 规则 × 业务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7A7DD45-C098-4D8E-994F-580B247F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1BC18-9E02-4179-8EE0-BF6F519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0920B-27FE-4721-92D3-3D1109BD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865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项目价值母稿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EB6904C7-F06D-4263-9456-5F0CF7C1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84723C9C-3F14-43B9-B9B0-B9BFB536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39509-20CF-474E-8FA0-38F065CF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063456"/>
                </a:solidFill>
              </a:defRPr>
            </a:pPr>
            <a:r>
              <a:rPr sz="1185" b="1">
                <a:solidFill>
                  <a:srgbClr val="063456"/>
                </a:solidFill>
              </a:rPr>
              <a:t>项目价值不只是把材料“识别出来”，而是把 AI 处理能力、工程链路、法规要求和证券业务判断固化到同一套可复核流程中。</a:t>
            </a:r>
          </a:p>
        </p:txBody>
      </p:sp>
      <p:sp>
        <p:nvSpPr>
          <p:cNvPr id="18" name="value-column">
            <a:extLst xmlns:a="http://schemas.openxmlformats.org/drawingml/2006/main">
              <a:ext uri="{FF2B5EF4-FFF2-40B4-BE49-F238E27FC236}">
                <a16:creationId xmlns:a16="http://schemas.microsoft.com/office/drawing/2014/main" id="{ED781FFE-D1D7-427D-9D24-7ED0EEBC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column-top">
            <a:extLst xmlns:a="http://schemas.openxmlformats.org/drawingml/2006/main">
              <a:ext uri="{FF2B5EF4-FFF2-40B4-BE49-F238E27FC236}">
                <a16:creationId xmlns:a16="http://schemas.microsoft.com/office/drawing/2014/main" id="{140F694F-A2B5-4A56-B07E-CE4EF60D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0" name="column-label-bg">
            <a:extLst xmlns:a="http://schemas.openxmlformats.org/drawingml/2006/main">
              <a:ext uri="{FF2B5EF4-FFF2-40B4-BE49-F238E27FC236}">
                <a16:creationId xmlns:a16="http://schemas.microsoft.com/office/drawing/2014/main" id="{58A3F4FE-992D-4F54-87CE-651A869C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336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lumn-label-accent">
            <a:extLst xmlns:a="http://schemas.openxmlformats.org/drawingml/2006/main">
              <a:ext uri="{FF2B5EF4-FFF2-40B4-BE49-F238E27FC236}">
                <a16:creationId xmlns:a16="http://schemas.microsoft.com/office/drawing/2014/main" id="{BF17ACFD-EC88-4B63-9F96-0DA07163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336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2F647-F0FB-43DF-9489-0929C50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0032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B5CF"/>
                </a:solidFill>
              </a:defRPr>
            </a:pPr>
            <a:r>
              <a:rPr sz="900" b="1">
                <a:solidFill>
                  <a:srgbClr val="00B5CF"/>
                </a:solidFill>
              </a:rPr>
              <a:t>AI + 技术应用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C2641-0EDC-4F1D-8B49-29B9FB3C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99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456"/>
                </a:solidFill>
              </a:defRPr>
            </a:pPr>
            <a:r>
              <a:rPr sz="1425" b="1">
                <a:solidFill>
                  <a:srgbClr val="063456"/>
                </a:solidFill>
              </a:rPr>
              <a:t>把非结构化材料转成可处理数据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7A24C-B824-4736-AD50-2909E4F7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4343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OCR / PDF / Table 解析统一接入不同来源材料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Chunk、Embedding、Graph RAG 提升长材料召回与关联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Schema 输出、规则校验、并行处理控制稳定性和效率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证据链挂接到文件、页码、表格区域和原始字段</a:t>
            </a:r>
          </a:p>
        </p:txBody>
      </p:sp>
      <p:sp>
        <p:nvSpPr>
          <p:cNvPr id="25" name="value-column">
            <a:extLst xmlns:a="http://schemas.openxmlformats.org/drawingml/2006/main">
              <a:ext uri="{FF2B5EF4-FFF2-40B4-BE49-F238E27FC236}">
                <a16:creationId xmlns:a16="http://schemas.microsoft.com/office/drawing/2014/main" id="{E428B63E-3FE5-4139-AEBD-6E1C233F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6" name="column-top">
            <a:extLst xmlns:a="http://schemas.openxmlformats.org/drawingml/2006/main">
              <a:ext uri="{FF2B5EF4-FFF2-40B4-BE49-F238E27FC236}">
                <a16:creationId xmlns:a16="http://schemas.microsoft.com/office/drawing/2014/main" id="{1CD88C0E-6681-46B3-A48C-D6B08666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7" name="column-label-bg">
            <a:extLst xmlns:a="http://schemas.openxmlformats.org/drawingml/2006/main">
              <a:ext uri="{FF2B5EF4-FFF2-40B4-BE49-F238E27FC236}">
                <a16:creationId xmlns:a16="http://schemas.microsoft.com/office/drawing/2014/main" id="{9946ECBC-48EC-4D0C-BBB5-DA92EC7C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lumn-label-accent">
            <a:extLst xmlns:a="http://schemas.openxmlformats.org/drawingml/2006/main">
              <a:ext uri="{FF2B5EF4-FFF2-40B4-BE49-F238E27FC236}">
                <a16:creationId xmlns:a16="http://schemas.microsoft.com/office/drawing/2014/main" id="{2FEFD8FC-D27C-4CBC-8245-E1E6D43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7BF04-74F3-45CA-8E9E-BA9B5EE0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032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7A22"/>
                </a:solidFill>
              </a:defRPr>
            </a:pPr>
            <a:r>
              <a:rPr sz="900" b="1">
                <a:solidFill>
                  <a:srgbClr val="E17A22"/>
                </a:solidFill>
              </a:rPr>
              <a:t>规则 + 业务理解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A6EB67-DA46-4C2E-A138-FE8585C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456"/>
                </a:solidFill>
              </a:defRPr>
            </a:pPr>
            <a:r>
              <a:rPr sz="1425" b="1">
                <a:solidFill>
                  <a:srgbClr val="063456"/>
                </a:solidFill>
              </a:rPr>
              <a:t>判断哪些结果真正服务合规申报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3FBA4-DC8F-4360-ACE9-F9DD33E9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4343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理解基金从业人员证券投资申报、登记、复核和留痕要求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区分申报交易、权益事件、持仓信息和非申报资金流水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把账户、交易、持仓、材料来源之间的印证关系纳入判断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将不确定、冲突、缺证据的结果转化为人工复核问题</a:t>
            </a:r>
          </a:p>
        </p:txBody>
      </p:sp>
      <p:sp>
        <p:nvSpPr>
          <p:cNvPr id="32" name="capability-band">
            <a:extLst xmlns:a="http://schemas.openxmlformats.org/drawingml/2006/main">
              <a:ext uri="{FF2B5EF4-FFF2-40B4-BE49-F238E27FC236}">
                <a16:creationId xmlns:a16="http://schemas.microsoft.com/office/drawing/2014/main" id="{761677BB-2DB2-49F3-9222-D208A47E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1002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3" name="capability-accent">
            <a:extLst xmlns:a="http://schemas.openxmlformats.org/drawingml/2006/main">
              <a:ext uri="{FF2B5EF4-FFF2-40B4-BE49-F238E27FC236}">
                <a16:creationId xmlns:a16="http://schemas.microsoft.com/office/drawing/2014/main" id="{8122ADD0-38D5-4019-8B42-FBF621A9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3E3589-48AC-4B18-BBE9-EDAA44F8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00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材料处理能力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7E747-E4BD-482B-886F-304747B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006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57987"/>
                </a:solidFill>
              </a:defRPr>
            </a:pPr>
            <a:r>
              <a:rPr sz="788" b="1">
                <a:solidFill>
                  <a:srgbClr val="657987"/>
                </a:solidFill>
              </a:rPr>
              <a:t>AI 与工程链路</a:t>
            </a:r>
          </a:p>
        </p:txBody>
      </p:sp>
      <p:sp>
        <p:nvSpPr>
          <p:cNvPr id="36" name="band-line">
            <a:extLst xmlns:a="http://schemas.openxmlformats.org/drawingml/2006/main">
              <a:ext uri="{FF2B5EF4-FFF2-40B4-BE49-F238E27FC236}">
                <a16:creationId xmlns:a16="http://schemas.microsoft.com/office/drawing/2014/main" id="{7A175C35-A91E-426D-9143-0AF6E19C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43475"/>
            <a:ext cx="800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CFB211-5B32-408B-886E-739E4289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482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550A8-D8FD-4688-B427-CEACC69E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00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业务判断能力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9E889D-E20D-4E0C-A53C-AAB6AFC8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57987"/>
                </a:solidFill>
              </a:defRPr>
            </a:pPr>
            <a:r>
              <a:rPr sz="788" b="1">
                <a:solidFill>
                  <a:srgbClr val="657987"/>
                </a:solidFill>
              </a:rPr>
              <a:t>法规要求与证券业务</a:t>
            </a:r>
          </a:p>
        </p:txBody>
      </p:sp>
      <p:sp>
        <p:nvSpPr>
          <p:cNvPr id="40" name="band-line">
            <a:extLst xmlns:a="http://schemas.openxmlformats.org/drawingml/2006/main">
              <a:ext uri="{FF2B5EF4-FFF2-40B4-BE49-F238E27FC236}">
                <a16:creationId xmlns:a16="http://schemas.microsoft.com/office/drawing/2014/main" id="{BE984FB9-2F11-464D-8709-AFE7DB13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43475"/>
            <a:ext cx="800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90AB0F-C0DA-4AED-B47A-8DD488B1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482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033805-2FFB-4EFC-A1EB-1B0D82DB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合规复核结果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E68AC1-5696-4D4E-A983-BB41072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57987"/>
                </a:solidFill>
              </a:defRPr>
            </a:pPr>
            <a:r>
              <a:rPr sz="788" b="1">
                <a:solidFill>
                  <a:srgbClr val="657987"/>
                </a:solidFill>
              </a:rPr>
              <a:t>可追溯、可复核、可导出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EF3114-9315-491F-9EEE-72AEEC1D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72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最终实现的效果</a:t>
            </a:r>
          </a:p>
        </p:txBody>
      </p:sp>
      <p:sp>
        <p:nvSpPr>
          <p:cNvPr id="45" name="outcome-rule">
            <a:extLst xmlns:a="http://schemas.openxmlformats.org/drawingml/2006/main">
              <a:ext uri="{FF2B5EF4-FFF2-40B4-BE49-F238E27FC236}">
                <a16:creationId xmlns:a16="http://schemas.microsoft.com/office/drawing/2014/main" id="{5375D657-1373-4130-B59F-12EE9DA8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48325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6" name="outcome-cell">
            <a:extLst xmlns:a="http://schemas.openxmlformats.org/drawingml/2006/main">
              <a:ext uri="{FF2B5EF4-FFF2-40B4-BE49-F238E27FC236}">
                <a16:creationId xmlns:a16="http://schemas.microsoft.com/office/drawing/2014/main" id="{5D94383C-6B8E-4946-BAF1-B42F79DD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C0A14C97-1E4A-4E31-8DC3-0279E14C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934A27-F2B8-48DB-BF3A-B29E84BA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材料处理自动化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56C9A9-1B08-432D-82C3-BCDD3B18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096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486171"/>
                </a:solidFill>
              </a:defRPr>
            </a:pPr>
            <a:r>
              <a:rPr sz="810" b="1">
                <a:solidFill>
                  <a:srgbClr val="486171"/>
                </a:solidFill>
              </a:rPr>
              <a:t>从逐页翻材料，变为自动解析、抽取、分类和合并</a:t>
            </a:r>
          </a:p>
        </p:txBody>
      </p:sp>
      <p:sp>
        <p:nvSpPr>
          <p:cNvPr id="50" name="outcome-cell">
            <a:extLst xmlns:a="http://schemas.openxmlformats.org/drawingml/2006/main">
              <a:ext uri="{FF2B5EF4-FFF2-40B4-BE49-F238E27FC236}">
                <a16:creationId xmlns:a16="http://schemas.microsoft.com/office/drawing/2014/main" id="{854B04E0-313F-4D28-85CC-BD57CCF1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531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E2353319-8B3D-4665-9A75-E457C061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531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8FF704-B161-4430-B190-AED593D7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申报判断结构化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A88066-A037-48CB-9FD1-085EA826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96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486171"/>
                </a:solidFill>
              </a:defRPr>
            </a:pPr>
            <a:r>
              <a:rPr sz="810" b="1">
                <a:solidFill>
                  <a:srgbClr val="486171"/>
                </a:solidFill>
              </a:rPr>
              <a:t>把交易类型、账户关系和持仓印证固化成可检查规则</a:t>
            </a:r>
          </a:p>
        </p:txBody>
      </p:sp>
      <p:sp>
        <p:nvSpPr>
          <p:cNvPr id="54" name="outcome-cell">
            <a:extLst xmlns:a="http://schemas.openxmlformats.org/drawingml/2006/main">
              <a:ext uri="{FF2B5EF4-FFF2-40B4-BE49-F238E27FC236}">
                <a16:creationId xmlns:a16="http://schemas.microsoft.com/office/drawing/2014/main" id="{5D629FDF-E2AE-4608-A5F4-031692B3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531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33C7FFD2-A9F7-428F-BD83-204A9961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531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D4F7F6-CC7A-4024-8679-8BF479CC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复核过程可追溯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D7977E-7C10-4D9F-BE9D-C86681C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096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486171"/>
                </a:solidFill>
              </a:defRPr>
            </a:pPr>
            <a:r>
              <a:rPr sz="810" b="1">
                <a:solidFill>
                  <a:srgbClr val="486171"/>
                </a:solidFill>
              </a:rPr>
              <a:t>每个字段回到材料来源，异常进入问题清单</a:t>
            </a:r>
          </a:p>
        </p:txBody>
      </p:sp>
      <p:sp>
        <p:nvSpPr>
          <p:cNvPr id="58" name="outcome-cell">
            <a:extLst xmlns:a="http://schemas.openxmlformats.org/drawingml/2006/main">
              <a:ext uri="{FF2B5EF4-FFF2-40B4-BE49-F238E27FC236}">
                <a16:creationId xmlns:a16="http://schemas.microsoft.com/office/drawing/2014/main" id="{7A685CDE-67CD-46EF-A5C3-68F3E893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531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47A44AFE-8E27-4CC7-9427-DC67B632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531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7F307C-AF4A-4C4F-8B5B-62308199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结果可落地复用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80D52C-BA58-44AA-AB6D-72D58C03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096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486171"/>
                </a:solidFill>
              </a:defRPr>
            </a:pPr>
            <a:r>
              <a:rPr sz="810" b="1">
                <a:solidFill>
                  <a:srgbClr val="486171"/>
                </a:solidFill>
              </a:rPr>
              <a:t>输出可编辑、可下载、可留痕的申报结果和完整表</a:t>
            </a:r>
          </a:p>
        </p:txBody>
      </p:sp>
    </p:spTree>
    <p:extLst>
      <p:ext uri="{BB962C8B-B14F-4D97-AF65-F5344CB8AC3E}">
        <p14:creationId xmlns:p14="http://schemas.microsoft.com/office/powerpoint/2010/main" val="506262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2026-06-23T13:34:20.1820000Z</dcterms:created>
  <dcterms:modified xsi:type="dcterms:W3CDTF">2026-06-23T13:34:20.1820000Z</dcterms:modified>
</coreProperties>
</file>