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1c4c08a32f4d7a" /><Relationship Type="http://schemas.openxmlformats.org/officeDocument/2006/relationships/extended-properties" Target="/docProps/app.xml" Id="R6c0b5d4eb68440b4" /><Relationship Type="http://schemas.openxmlformats.org/officeDocument/2006/relationships/officeDocument" Target="/ppt/presentation.xml" Id="Reeb8dbbf057b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1fe121299f4a3f"/>
  </p:sldMasterIdLst>
  <p:notesMasterIdLst>
    <p:notesMasterId xmlns:r="http://schemas.openxmlformats.org/officeDocument/2006/relationships" r:id="R9e9db70cb86349ed"/>
  </p:notesMasterIdLst>
  <p:sldIdLst>
    <p:sldId xmlns:r="http://schemas.openxmlformats.org/officeDocument/2006/relationships" id="256" r:id="Rcdc70624de9a42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bc7779fbdf4ba4" /><Relationship Type="http://schemas.openxmlformats.org/officeDocument/2006/relationships/slideMaster" Target="/ppt/slideMasters/slideMaster1.xml" Id="Rac1fe121299f4a3f" /><Relationship Type="http://schemas.openxmlformats.org/officeDocument/2006/relationships/notesMaster" Target="/ppt/notesMasters/notesMaster1.xml" Id="R9e9db70cb86349ed" /><Relationship Type="http://schemas.openxmlformats.org/officeDocument/2006/relationships/presProps" Target="/ppt/presProps.xml" Id="R9276ae0eb8f244b1" /><Relationship Type="http://schemas.openxmlformats.org/officeDocument/2006/relationships/tableStyles" Target="/ppt/tableStyles.xml" Id="Rcde991e6ffa54b0d" /><Relationship Type="http://schemas.openxmlformats.org/officeDocument/2006/relationships/slide" Target="/ppt/slides/slide1.xml" Id="Rcdc70624de9a42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06722933134b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b7951f2774c05" /><Relationship Type="http://schemas.openxmlformats.org/officeDocument/2006/relationships/notesMaster" Target="/ppt/notesMasters/notesMaster1.xml" Id="R9b2e18c116a84f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9f999684f42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5b40b9851949ff" /><Relationship Type="http://schemas.openxmlformats.org/officeDocument/2006/relationships/slideLayout" Target="/ppt/slideLayouts/slideLayout1.xml" Id="R87e9f66e49fe4c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e9f66e49fe4c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2f16069354077" /><Relationship Type="http://schemas.openxmlformats.org/officeDocument/2006/relationships/notesSlide" Target="/ppt/notesSlides/notesSlide1.xml" Id="Rbda197b39e904c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46A4F114-B78A-451E-B711-FEAC5AC0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D3C3F7EB-D7A8-487C-B8F0-3ED49D4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981D215A-6740-4C7A-8D47-585D09F2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4B7BC082-8D82-47C0-A280-80130FB2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FF2AB0B-5703-467E-8883-0652BFF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项目可拓展性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3AAC160-E0A5-4888-99CE-B3912FF3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3456"/>
                </a:solidFill>
              </a:defRPr>
            </a:pPr>
            <a:r>
              <a:rPr sz="2400" b="1">
                <a:solidFill>
                  <a:srgbClr val="063456"/>
                </a:solidFill>
              </a:rPr>
              <a:t>问小易增强：知识库问答助手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1507FF45-1B58-4AE3-83A8-ED37EE63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" name="badge">
            <a:extLst xmlns:a="http://schemas.openxmlformats.org/drawingml/2006/main">
              <a:ext uri="{FF2B5EF4-FFF2-40B4-BE49-F238E27FC236}">
                <a16:creationId xmlns:a16="http://schemas.microsoft.com/office/drawing/2014/main" id="{C6CF56B9-8D1A-4B49-BCC1-5B1BFCD2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9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87A74B68-B9EC-4F7A-8E7E-219BF23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0" name="badge-text">
            <a:extLst xmlns:a="http://schemas.openxmlformats.org/drawingml/2006/main">
              <a:ext uri="{FF2B5EF4-FFF2-40B4-BE49-F238E27FC236}">
                <a16:creationId xmlns:a16="http://schemas.microsoft.com/office/drawing/2014/main" id="{E5279138-1C18-4052-A930-1BDDE7BD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08F"/>
                </a:solidFill>
              </a:defRPr>
            </a:pPr>
            <a:r>
              <a:rPr sz="975" b="1">
                <a:solidFill>
                  <a:srgbClr val="00508F"/>
                </a:solidFill>
              </a:rPr>
              <a:t>知识库问答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F53E20E6-3CED-4969-9379-096083B8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3446"/>
                </a:solidFill>
              </a:defRPr>
            </a:pPr>
            <a:r>
              <a:rPr sz="1500" b="1">
                <a:solidFill>
                  <a:srgbClr val="1A3446"/>
                </a:solidFill>
              </a:rPr>
              <a:t>把制度、规则和材料口径沉淀成知识库，让复核人员更快找到可信答案。</a:t>
            </a:r>
          </a:p>
        </p:txBody>
      </p:sp>
      <p:sp>
        <p:nvSpPr>
          <p:cNvPr id="12" name="pillar-1">
            <a:extLst xmlns:a="http://schemas.openxmlformats.org/drawingml/2006/main">
              <a:ext uri="{FF2B5EF4-FFF2-40B4-BE49-F238E27FC236}">
                <a16:creationId xmlns:a16="http://schemas.microsoft.com/office/drawing/2014/main" id="{4A11AED4-A259-4FDE-9D7D-6B656522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30480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3" name="pillar-head-1">
            <a:extLst xmlns:a="http://schemas.openxmlformats.org/drawingml/2006/main">
              <a:ext uri="{FF2B5EF4-FFF2-40B4-BE49-F238E27FC236}">
                <a16:creationId xmlns:a16="http://schemas.microsoft.com/office/drawing/2014/main" id="{4249087F-B543-487D-9C7F-EC69792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14" name="pillar-no-1">
            <a:extLst xmlns:a="http://schemas.openxmlformats.org/drawingml/2006/main">
              <a:ext uri="{FF2B5EF4-FFF2-40B4-BE49-F238E27FC236}">
                <a16:creationId xmlns:a16="http://schemas.microsoft.com/office/drawing/2014/main" id="{BCFB1FC4-0DA3-4D4C-A967-BECE2B9A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7177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08F"/>
                </a:solidFill>
              </a:defRPr>
            </a:pPr>
            <a:r>
              <a:rPr sz="1050" b="1">
                <a:solidFill>
                  <a:srgbClr val="00508F"/>
                </a:solidFill>
              </a:rPr>
              <a:t>01</a:t>
            </a:r>
          </a:p>
        </p:txBody>
      </p:sp>
      <p:sp>
        <p:nvSpPr>
          <p:cNvPr id="15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478EA34F-A3C2-4043-8972-2E79232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527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知识来源</a:t>
            </a:r>
          </a:p>
        </p:txBody>
      </p:sp>
      <p:sp>
        <p:nvSpPr>
          <p:cNvPr id="16" name="pillar-main-1">
            <a:extLst xmlns:a="http://schemas.openxmlformats.org/drawingml/2006/main">
              <a:ext uri="{FF2B5EF4-FFF2-40B4-BE49-F238E27FC236}">
                <a16:creationId xmlns:a16="http://schemas.microsoft.com/office/drawing/2014/main" id="{ECFA18FA-D998-439E-BD92-8267913E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508F"/>
                </a:solidFill>
              </a:defRPr>
            </a:pPr>
            <a:r>
              <a:rPr sz="2025" b="1">
                <a:solidFill>
                  <a:srgbClr val="00508F"/>
                </a:solidFill>
              </a:rPr>
              <a:t>制度 / 规则 / 口径</a:t>
            </a:r>
          </a:p>
        </p:txBody>
      </p:sp>
      <p:sp>
        <p:nvSpPr>
          <p:cNvPr id="17" name="pillar-sub-1">
            <a:extLst xmlns:a="http://schemas.openxmlformats.org/drawingml/2006/main">
              <a:ext uri="{FF2B5EF4-FFF2-40B4-BE49-F238E27FC236}">
                <a16:creationId xmlns:a16="http://schemas.microsoft.com/office/drawing/2014/main" id="{7DD9FCAB-A3ED-442A-A23F-EF101FD7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91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987"/>
                </a:solidFill>
              </a:defRPr>
            </a:pPr>
            <a:r>
              <a:rPr sz="1050" b="0">
                <a:solidFill>
                  <a:srgbClr val="657987"/>
                </a:solidFill>
              </a:rPr>
              <a:t>法规制度、项目规则、材料样例</a:t>
            </a:r>
          </a:p>
        </p:txBody>
      </p:sp>
      <p:sp>
        <p:nvSpPr>
          <p:cNvPr id="18" name="pillar-2">
            <a:extLst xmlns:a="http://schemas.openxmlformats.org/drawingml/2006/main">
              <a:ext uri="{FF2B5EF4-FFF2-40B4-BE49-F238E27FC236}">
                <a16:creationId xmlns:a16="http://schemas.microsoft.com/office/drawing/2014/main" id="{C2394027-54A1-4161-AE48-10A57CC9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30480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pillar-head-2">
            <a:extLst xmlns:a="http://schemas.openxmlformats.org/drawingml/2006/main">
              <a:ext uri="{FF2B5EF4-FFF2-40B4-BE49-F238E27FC236}">
                <a16:creationId xmlns:a16="http://schemas.microsoft.com/office/drawing/2014/main" id="{FA681DFD-D3F4-4FC1-8D62-778ADB32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0" name="pillar-no-2">
            <a:extLst xmlns:a="http://schemas.openxmlformats.org/drawingml/2006/main">
              <a:ext uri="{FF2B5EF4-FFF2-40B4-BE49-F238E27FC236}">
                <a16:creationId xmlns:a16="http://schemas.microsoft.com/office/drawing/2014/main" id="{8D636033-6C0F-43F2-9FD8-FCC00EA6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7177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8B57"/>
                </a:solidFill>
              </a:defRPr>
            </a:pPr>
            <a:r>
              <a:rPr sz="1050" b="1">
                <a:solidFill>
                  <a:srgbClr val="2E8B57"/>
                </a:solidFill>
              </a:rPr>
              <a:t>02</a:t>
            </a:r>
          </a:p>
        </p:txBody>
      </p:sp>
      <p:sp>
        <p:nvSpPr>
          <p:cNvPr id="21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BFFA7580-D968-4E0D-A260-E49733F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527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问答能力</a:t>
            </a:r>
          </a:p>
        </p:txBody>
      </p:sp>
      <p:sp>
        <p:nvSpPr>
          <p:cNvPr id="22" name="pillar-main-2">
            <a:extLst xmlns:a="http://schemas.openxmlformats.org/drawingml/2006/main">
              <a:ext uri="{FF2B5EF4-FFF2-40B4-BE49-F238E27FC236}">
                <a16:creationId xmlns:a16="http://schemas.microsoft.com/office/drawing/2014/main" id="{5D83CDA5-E33D-49BB-82B6-1B5FA594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1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8B57"/>
                </a:solidFill>
              </a:defRPr>
            </a:pPr>
            <a:r>
              <a:rPr sz="2025" b="1">
                <a:solidFill>
                  <a:srgbClr val="2E8B57"/>
                </a:solidFill>
              </a:rPr>
              <a:t>问规则 / 查材料 / 找依据</a:t>
            </a:r>
          </a:p>
        </p:txBody>
      </p:sp>
      <p:sp>
        <p:nvSpPr>
          <p:cNvPr id="23" name="pillar-sub-2">
            <a:extLst xmlns:a="http://schemas.openxmlformats.org/drawingml/2006/main">
              <a:ext uri="{FF2B5EF4-FFF2-40B4-BE49-F238E27FC236}">
                <a16:creationId xmlns:a16="http://schemas.microsoft.com/office/drawing/2014/main" id="{977A069B-130C-4F05-BFB1-55AC54A2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987"/>
                </a:solidFill>
              </a:defRPr>
            </a:pPr>
            <a:r>
              <a:rPr sz="1050" b="0">
                <a:solidFill>
                  <a:srgbClr val="657987"/>
                </a:solidFill>
              </a:rPr>
              <a:t>围绕申报复核场景回答问题</a:t>
            </a:r>
          </a:p>
        </p:txBody>
      </p:sp>
      <p:sp>
        <p:nvSpPr>
          <p:cNvPr id="24" name="pillar-3">
            <a:extLst xmlns:a="http://schemas.openxmlformats.org/drawingml/2006/main">
              <a:ext uri="{FF2B5EF4-FFF2-40B4-BE49-F238E27FC236}">
                <a16:creationId xmlns:a16="http://schemas.microsoft.com/office/drawing/2014/main" id="{1990330C-58F0-4B14-8371-03EB5F9D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09850"/>
            <a:ext cx="35052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5" name="pillar-head-3">
            <a:extLst xmlns:a="http://schemas.openxmlformats.org/drawingml/2006/main">
              <a:ext uri="{FF2B5EF4-FFF2-40B4-BE49-F238E27FC236}">
                <a16:creationId xmlns:a16="http://schemas.microsoft.com/office/drawing/2014/main" id="{56E77024-F676-480C-A1F9-906EF9C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09850"/>
            <a:ext cx="3505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26" name="pillar-no-3">
            <a:extLst xmlns:a="http://schemas.openxmlformats.org/drawingml/2006/main">
              <a:ext uri="{FF2B5EF4-FFF2-40B4-BE49-F238E27FC236}">
                <a16:creationId xmlns:a16="http://schemas.microsoft.com/office/drawing/2014/main" id="{6304A942-B1B9-40CF-81FD-A7ADCF57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7177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17A22"/>
                </a:solidFill>
              </a:defRPr>
            </a:pPr>
            <a:r>
              <a:rPr sz="1050" b="1">
                <a:solidFill>
                  <a:srgbClr val="E17A22"/>
                </a:solidFill>
              </a:rPr>
              <a:t>03</a:t>
            </a:r>
          </a:p>
        </p:txBody>
      </p:sp>
      <p:sp>
        <p:nvSpPr>
          <p:cNvPr id="27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23C8D696-2A17-4B10-B252-A9872598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527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回答要求</a:t>
            </a:r>
          </a:p>
        </p:txBody>
      </p:sp>
      <p:sp>
        <p:nvSpPr>
          <p:cNvPr id="28" name="pillar-main-3">
            <a:extLst xmlns:a="http://schemas.openxmlformats.org/drawingml/2006/main">
              <a:ext uri="{FF2B5EF4-FFF2-40B4-BE49-F238E27FC236}">
                <a16:creationId xmlns:a16="http://schemas.microsoft.com/office/drawing/2014/main" id="{73C590E4-9287-4201-8DD8-E5DAF668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17A22"/>
                </a:solidFill>
              </a:defRPr>
            </a:pPr>
            <a:r>
              <a:rPr sz="2025" b="1">
                <a:solidFill>
                  <a:srgbClr val="E17A22"/>
                </a:solidFill>
              </a:rPr>
              <a:t>简明 / 有依据 / 可追溯</a:t>
            </a:r>
          </a:p>
        </p:txBody>
      </p:sp>
      <p:sp>
        <p:nvSpPr>
          <p:cNvPr id="29" name="pillar-sub-3">
            <a:extLst xmlns:a="http://schemas.openxmlformats.org/drawingml/2006/main">
              <a:ext uri="{FF2B5EF4-FFF2-40B4-BE49-F238E27FC236}">
                <a16:creationId xmlns:a16="http://schemas.microsoft.com/office/drawing/2014/main" id="{C0E82333-02DF-4AAB-9A2A-7D367C6C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987"/>
                </a:solidFill>
              </a:defRPr>
            </a:pPr>
            <a:r>
              <a:rPr sz="1050" b="0">
                <a:solidFill>
                  <a:srgbClr val="657987"/>
                </a:solidFill>
              </a:rPr>
              <a:t>答案附来源，口径可维护</a:t>
            </a:r>
          </a:p>
        </p:txBody>
      </p:sp>
      <p:sp>
        <p:nvSpPr>
          <p:cNvPr id="30" name="bottom-callout">
            <a:extLst xmlns:a="http://schemas.openxmlformats.org/drawingml/2006/main">
              <a:ext uri="{FF2B5EF4-FFF2-40B4-BE49-F238E27FC236}">
                <a16:creationId xmlns:a16="http://schemas.microsoft.com/office/drawing/2014/main" id="{34078938-C60E-49FC-891E-F7FE8F61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43550"/>
            <a:ext cx="100203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1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FF0AFEBC-E89B-4BE4-9E5F-4BF666B8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435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32" name="bottom-text">
            <a:extLst xmlns:a="http://schemas.openxmlformats.org/drawingml/2006/main">
              <a:ext uri="{FF2B5EF4-FFF2-40B4-BE49-F238E27FC236}">
                <a16:creationId xmlns:a16="http://schemas.microsoft.com/office/drawing/2014/main" id="{53844D28-81A1-457A-9590-C3F1F47F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72452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3456"/>
                </a:solidFill>
              </a:defRPr>
            </a:pPr>
            <a:r>
              <a:rPr sz="1650" b="1">
                <a:solidFill>
                  <a:srgbClr val="063456"/>
                </a:solidFill>
              </a:rPr>
              <a:t>目标：少翻制度，少问口径，快速得到可核验的回答。</a:t>
            </a:r>
          </a:p>
        </p:txBody>
      </p:sp>
      <p:sp>
        <p:nvSpPr>
          <p:cNvPr id="3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4235631-87DE-46EA-886F-C9C51586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6E8E75-0EAF-4B69-965E-D020135E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易方达基金 · 内部交流，请勿外传</a:t>
            </a:r>
          </a:p>
        </p:txBody>
      </p:sp>
      <p:sp>
        <p:nvSpPr>
          <p:cNvPr id="3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8241928-4C64-4C4D-9731-EADE3EA7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问小易增强 / 简洁版</a:t>
            </a:r>
          </a:p>
        </p:txBody>
      </p:sp>
    </p:spTree>
    <p:extLst>
      <p:ext uri="{BB962C8B-B14F-4D97-AF65-F5344CB8AC3E}">
        <p14:creationId xmlns:p14="http://schemas.microsoft.com/office/powerpoint/2010/main" val="707663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2026-06-25T03:25:58.8230000Z</dcterms:created>
  <dcterms:modified xsi:type="dcterms:W3CDTF">2026-06-25T03:25:58.8230000Z</dcterms:modified>
</coreProperties>
</file>