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db0cec51e94723" /><Relationship Type="http://schemas.openxmlformats.org/officeDocument/2006/relationships/extended-properties" Target="/docProps/app.xml" Id="R451d1f2912fd4d35" /><Relationship Type="http://schemas.openxmlformats.org/officeDocument/2006/relationships/officeDocument" Target="/ppt/presentation.xml" Id="Rb27a1a47293b44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20d938b844450b"/>
  </p:sldMasterIdLst>
  <p:notesMasterIdLst>
    <p:notesMasterId xmlns:r="http://schemas.openxmlformats.org/officeDocument/2006/relationships" r:id="R2df6512c61b7494b"/>
  </p:notesMasterIdLst>
  <p:sldIdLst>
    <p:sldId xmlns:r="http://schemas.openxmlformats.org/officeDocument/2006/relationships" id="256" r:id="Rc896bf730ebf46a8"/>
    <p:sldId xmlns:r="http://schemas.openxmlformats.org/officeDocument/2006/relationships" id="257" r:id="R3345eeb23b1b4aad"/>
    <p:sldId xmlns:r="http://schemas.openxmlformats.org/officeDocument/2006/relationships" id="258" r:id="R0b97b92ce47d4b9f"/>
    <p:sldId xmlns:r="http://schemas.openxmlformats.org/officeDocument/2006/relationships" id="259" r:id="Rcb800252f42f4be4"/>
    <p:sldId xmlns:r="http://schemas.openxmlformats.org/officeDocument/2006/relationships" id="260" r:id="R56bd95d9e0114e9c"/>
    <p:sldId xmlns:r="http://schemas.openxmlformats.org/officeDocument/2006/relationships" id="261" r:id="R9ca82ba5c9be442b"/>
    <p:sldId xmlns:r="http://schemas.openxmlformats.org/officeDocument/2006/relationships" id="262" r:id="R0179a16a9a50477f"/>
    <p:sldId xmlns:r="http://schemas.openxmlformats.org/officeDocument/2006/relationships" id="263" r:id="Reed841fd7ee64230"/>
    <p:sldId xmlns:r="http://schemas.openxmlformats.org/officeDocument/2006/relationships" id="264" r:id="R24e9c407c48043a0"/>
    <p:sldId xmlns:r="http://schemas.openxmlformats.org/officeDocument/2006/relationships" id="265" r:id="R2c6b87fb060e415e"/>
    <p:sldId xmlns:r="http://schemas.openxmlformats.org/officeDocument/2006/relationships" id="266" r:id="R736c2afd5d2341b0"/>
    <p:sldId xmlns:r="http://schemas.openxmlformats.org/officeDocument/2006/relationships" id="267" r:id="R2ac30c478845454c"/>
    <p:sldId xmlns:r="http://schemas.openxmlformats.org/officeDocument/2006/relationships" id="268" r:id="R09983cda41b74165"/>
    <p:sldId xmlns:r="http://schemas.openxmlformats.org/officeDocument/2006/relationships" id="269" r:id="Rf98693b2e6f042dd"/>
    <p:sldId xmlns:r="http://schemas.openxmlformats.org/officeDocument/2006/relationships" id="270" r:id="R404811348c44439f"/>
    <p:sldId xmlns:r="http://schemas.openxmlformats.org/officeDocument/2006/relationships" id="271" r:id="R0ff00235ae844f34"/>
    <p:sldId xmlns:r="http://schemas.openxmlformats.org/officeDocument/2006/relationships" id="272" r:id="Rc3a359de402440f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3e098b6eac4620" /><Relationship Type="http://schemas.openxmlformats.org/officeDocument/2006/relationships/slideMaster" Target="/ppt/slideMasters/slideMaster1.xml" Id="Ra120d938b844450b" /><Relationship Type="http://schemas.openxmlformats.org/officeDocument/2006/relationships/notesMaster" Target="/ppt/notesMasters/notesMaster1.xml" Id="R2df6512c61b7494b" /><Relationship Type="http://schemas.openxmlformats.org/officeDocument/2006/relationships/presProps" Target="/ppt/presProps.xml" Id="Rfb8d035321954f3e" /><Relationship Type="http://schemas.openxmlformats.org/officeDocument/2006/relationships/tableStyles" Target="/ppt/tableStyles.xml" Id="Rbd8a66ff04634eca" /><Relationship Type="http://schemas.openxmlformats.org/officeDocument/2006/relationships/slide" Target="/ppt/slides/slide1.xml" Id="Rc896bf730ebf46a8" /><Relationship Type="http://schemas.openxmlformats.org/officeDocument/2006/relationships/slide" Target="/ppt/slides/slide2.xml" Id="R3345eeb23b1b4aad" /><Relationship Type="http://schemas.openxmlformats.org/officeDocument/2006/relationships/slide" Target="/ppt/slides/slide3.xml" Id="R0b97b92ce47d4b9f" /><Relationship Type="http://schemas.openxmlformats.org/officeDocument/2006/relationships/slide" Target="/ppt/slides/slide4.xml" Id="Rcb800252f42f4be4" /><Relationship Type="http://schemas.openxmlformats.org/officeDocument/2006/relationships/slide" Target="/ppt/slides/slide5.xml" Id="R56bd95d9e0114e9c" /><Relationship Type="http://schemas.openxmlformats.org/officeDocument/2006/relationships/slide" Target="/ppt/slides/slide6.xml" Id="R9ca82ba5c9be442b" /><Relationship Type="http://schemas.openxmlformats.org/officeDocument/2006/relationships/slide" Target="/ppt/slides/slide7.xml" Id="R0179a16a9a50477f" /><Relationship Type="http://schemas.openxmlformats.org/officeDocument/2006/relationships/slide" Target="/ppt/slides/slide8.xml" Id="Reed841fd7ee64230" /><Relationship Type="http://schemas.openxmlformats.org/officeDocument/2006/relationships/slide" Target="/ppt/slides/slide9.xml" Id="R24e9c407c48043a0" /><Relationship Type="http://schemas.openxmlformats.org/officeDocument/2006/relationships/slide" Target="/ppt/slides/slide10.xml" Id="R2c6b87fb060e415e" /><Relationship Type="http://schemas.openxmlformats.org/officeDocument/2006/relationships/slide" Target="/ppt/slides/slide11.xml" Id="R736c2afd5d2341b0" /><Relationship Type="http://schemas.openxmlformats.org/officeDocument/2006/relationships/slide" Target="/ppt/slides/slide12.xml" Id="R2ac30c478845454c" /><Relationship Type="http://schemas.openxmlformats.org/officeDocument/2006/relationships/slide" Target="/ppt/slides/slide13.xml" Id="R09983cda41b74165" /><Relationship Type="http://schemas.openxmlformats.org/officeDocument/2006/relationships/slide" Target="/ppt/slides/slide14.xml" Id="Rf98693b2e6f042dd" /><Relationship Type="http://schemas.openxmlformats.org/officeDocument/2006/relationships/slide" Target="/ppt/slides/slide15.xml" Id="R404811348c44439f" /><Relationship Type="http://schemas.openxmlformats.org/officeDocument/2006/relationships/slide" Target="/ppt/slides/slide16.xml" Id="R0ff00235ae844f34" /><Relationship Type="http://schemas.openxmlformats.org/officeDocument/2006/relationships/slide" Target="/ppt/slides/slide17.xml" Id="Rc3a359de402440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7df41e98ad40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6a91c1429c4ecd" /><Relationship Type="http://schemas.openxmlformats.org/officeDocument/2006/relationships/notesMaster" Target="/ppt/notesMasters/notesMaster1.xml" Id="Rdafe46bed5f043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5861427e5e47ef" /><Relationship Type="http://schemas.openxmlformats.org/officeDocument/2006/relationships/notesMaster" Target="/ppt/notesMasters/notesMaster1.xml" Id="R9c588ca2ac104a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fa0e8f382c4ed9" /><Relationship Type="http://schemas.openxmlformats.org/officeDocument/2006/relationships/notesMaster" Target="/ppt/notesMasters/notesMaster1.xml" Id="R15b91fa2db954e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99d643b7d540cf" /><Relationship Type="http://schemas.openxmlformats.org/officeDocument/2006/relationships/notesMaster" Target="/ppt/notesMasters/notesMaster1.xml" Id="R1c31142088c547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2226416ac74096" /><Relationship Type="http://schemas.openxmlformats.org/officeDocument/2006/relationships/notesMaster" Target="/ppt/notesMasters/notesMaster1.xml" Id="R3b745c26e5e64ab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a6dce36a7e43f8" /><Relationship Type="http://schemas.openxmlformats.org/officeDocument/2006/relationships/notesMaster" Target="/ppt/notesMasters/notesMaster1.xml" Id="Raa3f240d8c8b403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ab071c70203411f" /><Relationship Type="http://schemas.openxmlformats.org/officeDocument/2006/relationships/notesMaster" Target="/ppt/notesMasters/notesMaster1.xml" Id="R0220de2b4196414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92c967655614a01" /><Relationship Type="http://schemas.openxmlformats.org/officeDocument/2006/relationships/notesMaster" Target="/ppt/notesMasters/notesMaster1.xml" Id="R026ef9204d5a4c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32386dc1804af8" /><Relationship Type="http://schemas.openxmlformats.org/officeDocument/2006/relationships/notesMaster" Target="/ppt/notesMasters/notesMaster1.xml" Id="R6ef066c55c7143a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099bcf4442b4611" /><Relationship Type="http://schemas.openxmlformats.org/officeDocument/2006/relationships/notesMaster" Target="/ppt/notesMasters/notesMaster1.xml" Id="R66cebc7060124c3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a6fb189a55547b2" /><Relationship Type="http://schemas.openxmlformats.org/officeDocument/2006/relationships/notesMaster" Target="/ppt/notesMasters/notesMaster1.xml" Id="R07cc40d8a94d41c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2917c1c1bac4a50" /><Relationship Type="http://schemas.openxmlformats.org/officeDocument/2006/relationships/notesMaster" Target="/ppt/notesMasters/notesMaster1.xml" Id="Rd792996ad151424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8a442dab9d84563" /><Relationship Type="http://schemas.openxmlformats.org/officeDocument/2006/relationships/notesMaster" Target="/ppt/notesMasters/notesMaster1.xml" Id="Rbc661039e87e4bd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76795a5ef8b4cf2" /><Relationship Type="http://schemas.openxmlformats.org/officeDocument/2006/relationships/notesMaster" Target="/ppt/notesMasters/notesMaster1.xml" Id="R2437cacf34664c0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2254fc71b59453e" /><Relationship Type="http://schemas.openxmlformats.org/officeDocument/2006/relationships/notesMaster" Target="/ppt/notesMasters/notesMaster1.xml" Id="Re0aa83388542478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5d4402daa974eb4" /><Relationship Type="http://schemas.openxmlformats.org/officeDocument/2006/relationships/notesMaster" Target="/ppt/notesMasters/notesMaster1.xml" Id="Rd3faea9bc82642a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48a9b07cd684b49" /><Relationship Type="http://schemas.openxmlformats.org/officeDocument/2006/relationships/notesMaster" Target="/ppt/notesMasters/notesMaster1.xml" Id="Rd6161fdd2fc049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9930f097dd4e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e2d39df013435f" /><Relationship Type="http://schemas.openxmlformats.org/officeDocument/2006/relationships/slideLayout" Target="/ppt/slideLayouts/slideLayout1.xml" Id="R56322119555945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322119555945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88956010c9473a" /><Relationship Type="http://schemas.openxmlformats.org/officeDocument/2006/relationships/notesSlide" Target="/ppt/notesSlides/notesSlide1.xml" Id="Rffcd8460ba554d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553c5447904f03" /><Relationship Type="http://schemas.openxmlformats.org/officeDocument/2006/relationships/notesSlide" Target="/ppt/notesSlides/notesSlide2.xml" Id="R89ffe8a7098a47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356e7866134e34" /><Relationship Type="http://schemas.openxmlformats.org/officeDocument/2006/relationships/notesSlide" Target="/ppt/notesSlides/notesSlide3.xml" Id="R0adcb8bb546d4f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68f9f3bcd94abf" /><Relationship Type="http://schemas.openxmlformats.org/officeDocument/2006/relationships/notesSlide" Target="/ppt/notesSlides/notesSlide4.xml" Id="R1f0c450e68e441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f21f8e799e456e" /><Relationship Type="http://schemas.openxmlformats.org/officeDocument/2006/relationships/notesSlide" Target="/ppt/notesSlides/notesSlide5.xml" Id="Rb05207fe8e314b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8b0e9f3ce4449e" /><Relationship Type="http://schemas.openxmlformats.org/officeDocument/2006/relationships/notesSlide" Target="/ppt/notesSlides/notesSlide6.xml" Id="R59d3fb67e87942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5cb23f9a546a9" /><Relationship Type="http://schemas.openxmlformats.org/officeDocument/2006/relationships/notesSlide" Target="/ppt/notesSlides/notesSlide7.xml" Id="R9cab6cbec9f74e0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ef61e3fe264571" /><Relationship Type="http://schemas.openxmlformats.org/officeDocument/2006/relationships/notesSlide" Target="/ppt/notesSlides/notesSlide8.xml" Id="R47e4c1b2ca5b412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7bbbf2807e4dc1" /><Relationship Type="http://schemas.openxmlformats.org/officeDocument/2006/relationships/notesSlide" Target="/ppt/notesSlides/notesSlide9.xml" Id="R8ca802f4c0c04ef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e32e4af87b4dcc" /><Relationship Type="http://schemas.openxmlformats.org/officeDocument/2006/relationships/notesSlide" Target="/ppt/notesSlides/notesSlide10.xml" Id="R3f46c6873c1d478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f6cbabe3bf44b9" /><Relationship Type="http://schemas.openxmlformats.org/officeDocument/2006/relationships/notesSlide" Target="/ppt/notesSlides/notesSlide11.xml" Id="Ra87be8bf422645b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1d73e7b0e644a1" /><Relationship Type="http://schemas.openxmlformats.org/officeDocument/2006/relationships/notesSlide" Target="/ppt/notesSlides/notesSlide12.xml" Id="Ra1384df77f3e40c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29330ad47427d" /><Relationship Type="http://schemas.openxmlformats.org/officeDocument/2006/relationships/notesSlide" Target="/ppt/notesSlides/notesSlide13.xml" Id="Rae0ab3e877ed4ad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2750e2b7fa4a8c" /><Relationship Type="http://schemas.openxmlformats.org/officeDocument/2006/relationships/notesSlide" Target="/ppt/notesSlides/notesSlide14.xml" Id="R1e0ae30ea1354dc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27235e5108426f" /><Relationship Type="http://schemas.openxmlformats.org/officeDocument/2006/relationships/notesSlide" Target="/ppt/notesSlides/notesSlide15.xml" Id="R638c06f6275d408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e8226b8484971" /><Relationship Type="http://schemas.openxmlformats.org/officeDocument/2006/relationships/notesSlide" Target="/ppt/notesSlides/notesSlide16.xml" Id="Rda48341487d74a0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a3b87daa444398" /><Relationship Type="http://schemas.openxmlformats.org/officeDocument/2006/relationships/notesSlide" Target="/ppt/notesSlides/notesSlide17.xml" Id="Rb32c6c8c6c8c460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497C14-B9A5-41EC-AC92-CD41C129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5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5780C4-A37A-46EE-994C-B801A8AE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5725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71F000-83F1-41DD-81E2-AE2EB816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 FUND 易方达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1E9C99-C832-4D3F-9C1B-BECFEE78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9075"/>
            <a:ext cx="223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DCE7F4"/>
                </a:solidFill>
              </a:defRPr>
            </a:pPr>
            <a:r>
              <a:rPr sz="1050" b="1">
                <a:solidFill>
                  <a:srgbClr val="DCE7F4"/>
                </a:solidFill>
              </a:rPr>
              <a:t>项目背景 · 提升价值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C94DA9-A8E1-4EBC-96E7-F2BFF7B1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FE7F59-D48A-4D81-A1E9-323F1421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F93AA"/>
                </a:solidFill>
              </a:defRPr>
            </a:pPr>
            <a:r>
              <a:rPr sz="750" b="1">
                <a:solidFill>
                  <a:srgbClr val="7F93AA"/>
                </a:solidFill>
              </a:rPr>
              <a:t>易方达基金 · 内部交流，请勿外传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991C3B-411C-49EF-ABAD-6D394B30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7225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F93AA"/>
                </a:solidFill>
              </a:defRPr>
            </a:pPr>
            <a:r>
              <a:rPr sz="900" b="1">
                <a:solidFill>
                  <a:srgbClr val="7F93AA"/>
                </a:solidFill>
              </a:rPr>
              <a:t>01 / 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0E44A7-8A93-41F2-BCD4-7FC9265C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3A78"/>
                </a:solidFill>
              </a:defRPr>
            </a:pPr>
            <a:r>
              <a:rPr sz="1200" b="1">
                <a:solidFill>
                  <a:srgbClr val="073A78"/>
                </a:solidFill>
              </a:rPr>
              <a:t>背景一 | 合规流程链路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022B84-677E-44D2-966F-7D7DE9A3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62B58"/>
                </a:solidFill>
              </a:defRPr>
            </a:pPr>
            <a:r>
              <a:rPr sz="2700" b="1">
                <a:solidFill>
                  <a:srgbClr val="062B58"/>
                </a:solidFill>
              </a:rPr>
              <a:t>证券投资行为合规管理流程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8B40F7-46B1-451C-A7B5-B93FE99F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876300"/>
            <a:ext cx="26289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DD736A-7DFF-4A59-89A2-8DB07444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971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FB6632-D3B8-4334-AD89-30151FEC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0763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549D"/>
                </a:solidFill>
              </a:defRPr>
            </a:pPr>
            <a:r>
              <a:rPr sz="1275" b="1">
                <a:solidFill>
                  <a:srgbClr val="07549D"/>
                </a:solidFill>
              </a:rPr>
              <a:t>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33F28D-5506-4288-9901-55F3C636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9620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2B58"/>
                </a:solidFill>
              </a:defRPr>
            </a:pPr>
            <a:r>
              <a:rPr sz="1125" b="1">
                <a:solidFill>
                  <a:srgbClr val="062B58"/>
                </a:solidFill>
              </a:rPr>
              <a:t>项目目标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3A9A52-0FEA-422E-9774-49D47CAD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181100"/>
            <a:ext cx="1790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647E"/>
                </a:solidFill>
              </a:defRPr>
            </a:pPr>
            <a:r>
              <a:rPr sz="750" b="0">
                <a:solidFill>
                  <a:srgbClr val="4B647E"/>
                </a:solidFill>
              </a:rPr>
              <a:t>结构化、可追溯、可编辑、可导出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172389-36AA-48C9-938A-E71C4D40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B2C5EA-20FA-4D0A-BA14-ED9991B1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573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3906F3-4BA4-4202-9C1F-19B79D29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549D"/>
                </a:solidFill>
              </a:defRPr>
            </a:pPr>
            <a:r>
              <a:rPr sz="1125" b="1">
                <a:solidFill>
                  <a:srgbClr val="07549D"/>
                </a:solidFill>
              </a:rPr>
              <a:t>Q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F570F3-81ED-4F36-9C0D-7BFCD76C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943100"/>
            <a:ext cx="965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963"/>
                </a:solidFill>
              </a:defRPr>
            </a:pPr>
            <a:r>
              <a:rPr sz="1200" b="1">
                <a:solidFill>
                  <a:srgbClr val="163963"/>
                </a:solidFill>
              </a:rPr>
              <a:t>围绕员工及相关人员证券投资材料，形成从申报登记到复核判断的可追溯链路。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2A90AE-3CE3-45C6-A64D-4560D145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2614613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CB6BE8-01BE-4D43-BCC5-535741DA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261461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13578B-D903-4978-9856-3D771D71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38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F823FA-5F8F-4135-B4DE-115108A82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432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549D"/>
                </a:solidFill>
              </a:defRPr>
            </a:pPr>
            <a:r>
              <a:rPr sz="1050" b="1">
                <a:solidFill>
                  <a:srgbClr val="07549D"/>
                </a:solidFill>
              </a:rPr>
              <a:t>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9BBCC8-B830-436C-B1A5-1CC20AA9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38450"/>
            <a:ext cx="168116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2B58"/>
                </a:solidFill>
              </a:defRPr>
            </a:pPr>
            <a:r>
              <a:rPr sz="1350" b="1">
                <a:solidFill>
                  <a:srgbClr val="062B58"/>
                </a:solidFill>
              </a:rPr>
              <a:t>合规需求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47B2FA-58C9-41ED-A29D-4E6AD048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16811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4A73"/>
                </a:solidFill>
              </a:defRPr>
            </a:pPr>
            <a:r>
              <a:rPr sz="900" b="1">
                <a:solidFill>
                  <a:srgbClr val="244A73"/>
                </a:solidFill>
              </a:rPr>
              <a:t>申报 / 登记 / 复核 / 留痕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CB45E4-E60C-457E-896D-9F07FF79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2157413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3B64"/>
                </a:solidFill>
              </a:defRPr>
            </a:pPr>
            <a:r>
              <a:rPr sz="938" b="1">
                <a:solidFill>
                  <a:srgbClr val="173B64"/>
                </a:solidFill>
              </a:rPr>
              <a:t>• 基金公司员工及其利害关系人证券投资</a:t>
            </a:r>
          </a:p>
          <a:p xmlns:a="http://schemas.openxmlformats.org/drawingml/2006/main">
            <a:pPr algn="l">
              <a:defRPr sz="938" b="1">
                <a:solidFill>
                  <a:srgbClr val="173B64"/>
                </a:solidFill>
              </a:defRPr>
            </a:pPr>
            <a:r>
              <a:rPr sz="938" b="1">
                <a:solidFill>
                  <a:srgbClr val="173B64"/>
                </a:solidFill>
              </a:rPr>
              <a:t>• 根据规定进行事前申报、定期申报等</a:t>
            </a:r>
          </a:p>
          <a:p xmlns:a="http://schemas.openxmlformats.org/drawingml/2006/main">
            <a:pPr algn="l">
              <a:defRPr sz="938" b="1">
                <a:solidFill>
                  <a:srgbClr val="173B64"/>
                </a:solidFill>
              </a:defRPr>
            </a:pPr>
            <a:r>
              <a:rPr sz="938" b="1">
                <a:solidFill>
                  <a:srgbClr val="173B64"/>
                </a:solidFill>
              </a:rPr>
              <a:t>• 明确谁申报、何时申报、申报什么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13D0DE-AFAE-4B68-BF0F-6B521E19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2609850"/>
            <a:ext cx="2614613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02E5E4-9957-4635-98EC-DA4C8D43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2609850"/>
            <a:ext cx="261461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BE4933-3B6D-4B41-9902-CCF06169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838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E8063B-C5CB-41E3-B09F-6AB82D07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9432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549D"/>
                </a:solidFill>
              </a:defRPr>
            </a:pPr>
            <a:r>
              <a:rPr sz="1050" b="1">
                <a:solidFill>
                  <a:srgbClr val="07549D"/>
                </a:solidFill>
              </a:rPr>
              <a:t>02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FD6083-6B26-4560-8813-964302E6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2838450"/>
            <a:ext cx="168116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2B58"/>
                </a:solidFill>
              </a:defRPr>
            </a:pPr>
            <a:r>
              <a:rPr sz="1350" b="1">
                <a:solidFill>
                  <a:srgbClr val="062B58"/>
                </a:solidFill>
              </a:rPr>
              <a:t>复核判断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32857A-118A-4904-9167-32692AD8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3105150"/>
            <a:ext cx="16811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4A73"/>
                </a:solidFill>
              </a:defRPr>
            </a:pPr>
            <a:r>
              <a:rPr sz="900" b="1">
                <a:solidFill>
                  <a:srgbClr val="244A73"/>
                </a:solidFill>
              </a:rPr>
              <a:t>主体 / 交易 / 完整性 / 合规性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395705-C21D-4BB2-BAF7-669FA564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4263" y="3486150"/>
            <a:ext cx="2157413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3B64"/>
                </a:solidFill>
              </a:defRPr>
            </a:pPr>
            <a:r>
              <a:rPr sz="938" b="1">
                <a:solidFill>
                  <a:srgbClr val="173B64"/>
                </a:solidFill>
              </a:rPr>
              <a:t>• 确定申报主体</a:t>
            </a:r>
          </a:p>
          <a:p xmlns:a="http://schemas.openxmlformats.org/drawingml/2006/main">
            <a:pPr algn="l">
              <a:defRPr sz="938" b="1">
                <a:solidFill>
                  <a:srgbClr val="173B64"/>
                </a:solidFill>
              </a:defRPr>
            </a:pPr>
            <a:r>
              <a:rPr sz="938" b="1">
                <a:solidFill>
                  <a:srgbClr val="173B64"/>
                </a:solidFill>
              </a:rPr>
              <a:t>• 确定需申报的交易项目</a:t>
            </a:r>
          </a:p>
          <a:p xmlns:a="http://schemas.openxmlformats.org/drawingml/2006/main">
            <a:pPr algn="l">
              <a:defRPr sz="938" b="1">
                <a:solidFill>
                  <a:srgbClr val="173B64"/>
                </a:solidFill>
              </a:defRPr>
            </a:pPr>
            <a:r>
              <a:rPr sz="938" b="1">
                <a:solidFill>
                  <a:srgbClr val="173B64"/>
                </a:solidFill>
              </a:rPr>
              <a:t>• 已申报交易是否有材料支撑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100BC3-8289-4BED-A97A-F5F02141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609850"/>
            <a:ext cx="2614613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4DBE97-C8C5-4CB3-A142-30916CE0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609850"/>
            <a:ext cx="261461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91785E-E907-4979-BD08-3549ABA4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838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6CCEA4-757E-4299-91B5-4EDB8427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9432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549D"/>
                </a:solidFill>
              </a:defRPr>
            </a:pPr>
            <a:r>
              <a:rPr sz="1050" b="1">
                <a:solidFill>
                  <a:srgbClr val="07549D"/>
                </a:solidFill>
              </a:rPr>
              <a:t>03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42879E-BF31-43E6-A237-E7EC1C75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838450"/>
            <a:ext cx="168116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2B58"/>
                </a:solidFill>
              </a:defRPr>
            </a:pPr>
            <a:r>
              <a:rPr sz="1350" b="1">
                <a:solidFill>
                  <a:srgbClr val="062B58"/>
                </a:solidFill>
              </a:rPr>
              <a:t>人工痛点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9CE17D-AAFF-4476-88E6-BBD899BC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05150"/>
            <a:ext cx="16811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4A73"/>
                </a:solidFill>
              </a:defRPr>
            </a:pPr>
            <a:r>
              <a:rPr sz="900" b="1">
                <a:solidFill>
                  <a:srgbClr val="244A73"/>
                </a:solidFill>
              </a:rPr>
              <a:t>翻阅 / 填写 / 异常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FB50E5E-E8C9-4E7A-B43F-57B2AC81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486150"/>
            <a:ext cx="2157413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3B64"/>
                </a:solidFill>
              </a:defRPr>
            </a:pPr>
            <a:r>
              <a:rPr sz="938" b="1">
                <a:solidFill>
                  <a:srgbClr val="173B64"/>
                </a:solidFill>
              </a:rPr>
              <a:t>• 逐页翻阅材料</a:t>
            </a:r>
          </a:p>
          <a:p xmlns:a="http://schemas.openxmlformats.org/drawingml/2006/main">
            <a:pPr algn="l">
              <a:defRPr sz="938" b="1">
                <a:solidFill>
                  <a:srgbClr val="173B64"/>
                </a:solidFill>
              </a:defRPr>
            </a:pPr>
            <a:r>
              <a:rPr sz="938" b="1">
                <a:solidFill>
                  <a:srgbClr val="173B64"/>
                </a:solidFill>
              </a:rPr>
              <a:t>• 手工填写字段</a:t>
            </a:r>
          </a:p>
          <a:p xmlns:a="http://schemas.openxmlformats.org/drawingml/2006/main">
            <a:pPr algn="l">
              <a:defRPr sz="938" b="1">
                <a:solidFill>
                  <a:srgbClr val="173B64"/>
                </a:solidFill>
              </a:defRPr>
            </a:pPr>
            <a:r>
              <a:rPr sz="938" b="1">
                <a:solidFill>
                  <a:srgbClr val="173B64"/>
                </a:solidFill>
              </a:rPr>
              <a:t>• 人工判断异常，效率和一致性受限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F1B3C13-25A6-48AA-9039-7497BF2C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2609850"/>
            <a:ext cx="2614613" cy="1828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EEB015C-0D20-44CF-B8F5-0B4A4FD1D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2609850"/>
            <a:ext cx="261461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8D5800E-67DF-4E54-B153-BE73AFCD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2838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6E69C56-8D42-4DA0-B7C9-974E871D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29432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549D"/>
                </a:solidFill>
              </a:defRPr>
            </a:pPr>
            <a:r>
              <a:rPr sz="1050" b="1">
                <a:solidFill>
                  <a:srgbClr val="07549D"/>
                </a:solidFill>
              </a:rPr>
              <a:t>04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8F278C6-4168-4D63-B3FA-336D2EAA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1688" y="2838450"/>
            <a:ext cx="168116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2B58"/>
                </a:solidFill>
              </a:defRPr>
            </a:pPr>
            <a:r>
              <a:rPr sz="1350" b="1">
                <a:solidFill>
                  <a:srgbClr val="062B58"/>
                </a:solidFill>
              </a:rPr>
              <a:t>项目目标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87EACE1-F687-4A6B-9171-A297FDC1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1688" y="3105150"/>
            <a:ext cx="1681163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4A73"/>
                </a:solidFill>
              </a:defRPr>
            </a:pPr>
            <a:r>
              <a:rPr sz="900" b="1">
                <a:solidFill>
                  <a:srgbClr val="244A73"/>
                </a:solidFill>
              </a:rPr>
              <a:t>结构化 / 可追溯 / 可导出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A3646F3-EC14-4CA6-B960-5574586B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6388" y="3486150"/>
            <a:ext cx="2157413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3B64"/>
                </a:solidFill>
              </a:defRPr>
            </a:pPr>
            <a:r>
              <a:rPr sz="938" b="1">
                <a:solidFill>
                  <a:srgbClr val="173B64"/>
                </a:solidFill>
              </a:rPr>
              <a:t>• 把非结构化材料转为可复核结果</a:t>
            </a:r>
          </a:p>
          <a:p xmlns:a="http://schemas.openxmlformats.org/drawingml/2006/main">
            <a:pPr algn="l">
              <a:defRPr sz="938" b="1">
                <a:solidFill>
                  <a:srgbClr val="173B64"/>
                </a:solidFill>
              </a:defRPr>
            </a:pPr>
            <a:r>
              <a:rPr sz="938" b="1">
                <a:solidFill>
                  <a:srgbClr val="173B64"/>
                </a:solidFill>
              </a:rPr>
              <a:t>• 形成证据链和问题清单</a:t>
            </a:r>
          </a:p>
          <a:p xmlns:a="http://schemas.openxmlformats.org/drawingml/2006/main">
            <a:pPr algn="l">
              <a:defRPr sz="938" b="1">
                <a:solidFill>
                  <a:srgbClr val="173B64"/>
                </a:solidFill>
              </a:defRPr>
            </a:pPr>
            <a:r>
              <a:rPr sz="938" b="1">
                <a:solidFill>
                  <a:srgbClr val="173B64"/>
                </a:solidFill>
              </a:rPr>
              <a:t>• 支持导出与回传留痕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57B95CC-7F74-4198-90B4-0733E808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2486025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73A78"/>
          </a:solidFill>
          <a:ln xmlns:a="http://schemas.openxmlformats.org/drawingml/2006/main" w="9525">
            <a:solidFill>
              <a:srgbClr val="073A7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2A6C36B-3597-4D77-BE0C-8152E3F9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2371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合规需求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18ABDF8-A829-4C94-A793-F675891C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6769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758BA5"/>
                </a:solidFill>
              </a:defRPr>
            </a:pPr>
            <a:r>
              <a:rPr sz="1725" b="0">
                <a:solidFill>
                  <a:srgbClr val="758BA5"/>
                </a:solidFill>
              </a:rPr>
              <a:t>→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11A470E-7AC1-444E-842A-95157259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5619750"/>
            <a:ext cx="2486025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73A78"/>
          </a:solidFill>
          <a:ln xmlns:a="http://schemas.openxmlformats.org/drawingml/2006/main" w="9525">
            <a:solidFill>
              <a:srgbClr val="073A7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946326E-1862-476D-B348-9722D5DB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5715000"/>
            <a:ext cx="2371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复核判断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3A20896-4C5D-4093-A571-CF1A8751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56769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758BA5"/>
                </a:solidFill>
              </a:defRPr>
            </a:pPr>
            <a:r>
              <a:rPr sz="1725" b="0">
                <a:solidFill>
                  <a:srgbClr val="758BA5"/>
                </a:solidFill>
              </a:rPr>
              <a:t>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246DEE2-94EF-4E13-B5B5-77C2F71B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619750"/>
            <a:ext cx="2486025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73A78"/>
          </a:solidFill>
          <a:ln xmlns:a="http://schemas.openxmlformats.org/drawingml/2006/main" w="9525">
            <a:solidFill>
              <a:srgbClr val="073A7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9B7B7E3-CF58-4EFC-8480-61C04144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715000"/>
            <a:ext cx="2371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人工痛点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A6A42BD-44CB-4B2F-98FD-AA676E24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6769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758BA5"/>
                </a:solidFill>
              </a:defRPr>
            </a:pPr>
            <a:r>
              <a:rPr sz="1725" b="0">
                <a:solidFill>
                  <a:srgbClr val="758BA5"/>
                </a:solidFill>
              </a:rPr>
              <a:t>→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45C3F5C-326F-49BB-9EA4-ABBC8F3C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619750"/>
            <a:ext cx="2486025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73A78"/>
          </a:solidFill>
          <a:ln xmlns:a="http://schemas.openxmlformats.org/drawingml/2006/main" w="9525">
            <a:solidFill>
              <a:srgbClr val="073A7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A5A08AB-B231-46AC-8FC2-AD808CD0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715000"/>
            <a:ext cx="2371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项目目标</a:t>
            </a:r>
          </a:p>
        </p:txBody>
      </p:sp>
    </p:spTree>
    <p:extLst>
      <p:ext uri="{BB962C8B-B14F-4D97-AF65-F5344CB8AC3E}">
        <p14:creationId xmlns:p14="http://schemas.microsoft.com/office/powerpoint/2010/main" val="9367594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3E11BE-F32E-4253-8744-47FCAF0E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5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154C1D-BED6-4F32-9B9D-7DF4F94D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5725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01FC34-B178-4986-A0DE-6C071ED4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 FUND 易方达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28B0A1-00DF-4729-BC03-AF52032A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9075"/>
            <a:ext cx="223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DCE7F4"/>
                </a:solidFill>
              </a:defRPr>
            </a:pPr>
            <a:r>
              <a:rPr sz="1050" b="1">
                <a:solidFill>
                  <a:srgbClr val="DCE7F4"/>
                </a:solidFill>
              </a:rPr>
              <a:t>规则明确 · 提升价值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554EE4-8F64-4F4D-BCDA-112169A1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D5F6D7-9E75-45E5-9117-D65D8D48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F93AA"/>
                </a:solidFill>
              </a:defRPr>
            </a:pPr>
            <a:r>
              <a:rPr sz="750" b="1">
                <a:solidFill>
                  <a:srgbClr val="7F93AA"/>
                </a:solidFill>
              </a:rPr>
              <a:t>易方达基金 · 内部交流，请勿外传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1CA2B1-32AB-404B-B97F-0278DE66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7225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F93AA"/>
                </a:solidFill>
              </a:defRPr>
            </a:pPr>
            <a:r>
              <a:rPr sz="900" b="1">
                <a:solidFill>
                  <a:srgbClr val="7F93AA"/>
                </a:solidFill>
              </a:rPr>
              <a:t>02 / 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831261-EB6C-4A46-8D64-A24B49C8E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3A78"/>
                </a:solidFill>
              </a:defRPr>
            </a:pPr>
            <a:r>
              <a:rPr sz="1200" b="1">
                <a:solidFill>
                  <a:srgbClr val="073A78"/>
                </a:solidFill>
              </a:rPr>
              <a:t>规则一 | 主体、流程与字段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44FC2D-8FC3-499C-84AD-741812A5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62B58"/>
                </a:solidFill>
              </a:defRPr>
            </a:pPr>
            <a:r>
              <a:rPr sz="2700" b="1">
                <a:solidFill>
                  <a:srgbClr val="062B58"/>
                </a:solidFill>
              </a:rPr>
              <a:t>证券投资申报规则梳理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076EA6-5922-4C86-BB80-D9B28AC0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876300"/>
            <a:ext cx="26289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7590EB-CCED-4888-B9AF-7116A8AA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971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C12CA5-A762-4D25-918D-20E7F02B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0763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549D"/>
                </a:solidFill>
              </a:defRPr>
            </a:pPr>
            <a:r>
              <a:rPr sz="1275" b="1">
                <a:solidFill>
                  <a:srgbClr val="07549D"/>
                </a:solidFill>
              </a:rPr>
              <a:t>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EF99E6-B9F6-4270-B9EA-77388472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9620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2B58"/>
                </a:solidFill>
              </a:defRPr>
            </a:pPr>
            <a:r>
              <a:rPr sz="1125" b="1">
                <a:solidFill>
                  <a:srgbClr val="062B58"/>
                </a:solidFill>
              </a:rPr>
              <a:t>规则前置理解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CD0129-78D4-4635-9D78-8D2CCB7B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181100"/>
            <a:ext cx="1790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647E"/>
                </a:solidFill>
              </a:defRPr>
            </a:pPr>
            <a:r>
              <a:rPr sz="750" b="0">
                <a:solidFill>
                  <a:srgbClr val="4B647E"/>
                </a:solidFill>
              </a:rPr>
              <a:t>把制度文本转化为抽取字段、人员范围和复核问题清单。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A03FD1-B073-4050-BA07-B4045801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9ACF44-0746-4F44-B033-EEB493D9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573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3A8273-7C11-4ED3-8C6E-F1DC95C4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549D"/>
                </a:solidFill>
              </a:defRPr>
            </a:pPr>
            <a:r>
              <a:rPr sz="1125" b="1">
                <a:solidFill>
                  <a:srgbClr val="07549D"/>
                </a:solidFill>
              </a:rPr>
              <a:t>Q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3B5CFB-83F5-41FC-9901-BAA9FF22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943100"/>
            <a:ext cx="965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963"/>
                </a:solidFill>
              </a:defRPr>
            </a:pPr>
            <a:r>
              <a:rPr sz="1200" b="1">
                <a:solidFill>
                  <a:srgbClr val="163963"/>
                </a:solidFill>
              </a:rPr>
              <a:t>前期重点研究《基金从业人员证券投资管理指引（试行）》等规则，将大量法条压缩为项目需要落地的三个问题：谁要申报、何时申报、申报什么。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38574C-3399-41DB-8D93-16CC2589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35433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1244B2-3B21-45D4-8535-42189E26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3543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19D23C-48C2-466B-8A78-70C04379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38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D5DDF8-F54A-4870-A45F-6BC5BDA9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432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549D"/>
                </a:solidFill>
              </a:defRPr>
            </a:pPr>
            <a:r>
              <a:rPr sz="1050" b="1">
                <a:solidFill>
                  <a:srgbClr val="07549D"/>
                </a:solidFill>
              </a:rPr>
              <a:t>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3FB8E2-E63D-44BC-8FEE-E9B22764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38450"/>
            <a:ext cx="2609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2B58"/>
                </a:solidFill>
              </a:defRPr>
            </a:pPr>
            <a:r>
              <a:rPr sz="1350" b="1">
                <a:solidFill>
                  <a:srgbClr val="062B58"/>
                </a:solidFill>
              </a:rPr>
              <a:t>申报主体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148DCD-68EF-4EDF-99E1-38F64668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4A73"/>
                </a:solidFill>
              </a:defRPr>
            </a:pPr>
            <a:r>
              <a:rPr sz="900" b="1">
                <a:solidFill>
                  <a:srgbClr val="244A73"/>
                </a:solidFill>
              </a:rPr>
              <a:t>覆盖本人、配偶及相关账户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1EBE7C-904C-4309-8DD2-279AEABE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3086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3B64"/>
                </a:solidFill>
              </a:defRPr>
            </a:pPr>
            <a:r>
              <a:rPr sz="938" b="1">
                <a:solidFill>
                  <a:srgbClr val="173B64"/>
                </a:solidFill>
              </a:rPr>
              <a:t>• 基金从业人员包括董监高和相关业务人员</a:t>
            </a:r>
          </a:p>
          <a:p xmlns:a="http://schemas.openxmlformats.org/drawingml/2006/main">
            <a:pPr algn="l">
              <a:defRPr sz="938" b="1">
                <a:solidFill>
                  <a:srgbClr val="173B64"/>
                </a:solidFill>
              </a:defRPr>
            </a:pPr>
            <a:r>
              <a:rPr sz="938" b="1">
                <a:solidFill>
                  <a:srgbClr val="173B64"/>
                </a:solidFill>
              </a:rPr>
              <a:t>• 申报范围覆盖配偶、利害关系人及制度要求账户</a:t>
            </a:r>
          </a:p>
          <a:p xmlns:a="http://schemas.openxmlformats.org/drawingml/2006/main">
            <a:pPr algn="l">
              <a:defRPr sz="938" b="1">
                <a:solidFill>
                  <a:srgbClr val="173B64"/>
                </a:solidFill>
              </a:defRPr>
            </a:pPr>
            <a:r>
              <a:rPr sz="938" b="1">
                <a:solidFill>
                  <a:srgbClr val="173B64"/>
                </a:solidFill>
              </a:rPr>
              <a:t>• 重点岗位适用更严格审批和交易限制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D6CF30-6FE3-41E1-8EAC-ABA424DB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09850"/>
            <a:ext cx="35433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37B0CB-721A-4935-893D-F6E4A558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09850"/>
            <a:ext cx="3543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664CD8-D8F3-4F71-BD7B-CCFE8495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38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C7AB04-CA4B-43FF-AFBF-F31FAFDF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432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549D"/>
                </a:solidFill>
              </a:defRPr>
            </a:pPr>
            <a:r>
              <a:rPr sz="1050" b="1">
                <a:solidFill>
                  <a:srgbClr val="07549D"/>
                </a:solidFill>
              </a:rPr>
              <a:t>02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3174FD-14D3-4BF1-B1A0-20194297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38450"/>
            <a:ext cx="2609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2B58"/>
                </a:solidFill>
              </a:defRPr>
            </a:pPr>
            <a:r>
              <a:rPr sz="1350" b="1">
                <a:solidFill>
                  <a:srgbClr val="062B58"/>
                </a:solidFill>
              </a:rPr>
              <a:t>申报方式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0F2347-73DE-49BC-87B9-E2DA1F4C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0515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4A73"/>
                </a:solidFill>
              </a:defRPr>
            </a:pPr>
            <a:r>
              <a:rPr sz="900" b="1">
                <a:solidFill>
                  <a:srgbClr val="244A73"/>
                </a:solidFill>
              </a:rPr>
              <a:t>覆盖入职、事前、定期和变更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9C6F89-5878-4D9D-87C2-87CB075A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86150"/>
            <a:ext cx="3086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3B64"/>
                </a:solidFill>
              </a:defRPr>
            </a:pPr>
            <a:r>
              <a:rPr sz="938" b="1">
                <a:solidFill>
                  <a:srgbClr val="173B64"/>
                </a:solidFill>
              </a:rPr>
              <a:t>• 贯穿入职申报、交易前申报或审批</a:t>
            </a:r>
          </a:p>
          <a:p xmlns:a="http://schemas.openxmlformats.org/drawingml/2006/main">
            <a:pPr algn="l">
              <a:defRPr sz="938" b="1">
                <a:solidFill>
                  <a:srgbClr val="173B64"/>
                </a:solidFill>
              </a:defRPr>
            </a:pPr>
            <a:r>
              <a:rPr sz="938" b="1">
                <a:solidFill>
                  <a:srgbClr val="173B64"/>
                </a:solidFill>
              </a:rPr>
              <a:t>• 包含批准有效期、计划变更、定期报告</a:t>
            </a:r>
          </a:p>
          <a:p xmlns:a="http://schemas.openxmlformats.org/drawingml/2006/main">
            <a:pPr algn="l">
              <a:defRPr sz="938" b="1">
                <a:solidFill>
                  <a:srgbClr val="173B64"/>
                </a:solidFill>
              </a:defRPr>
            </a:pPr>
            <a:r>
              <a:rPr sz="938" b="1">
                <a:solidFill>
                  <a:srgbClr val="173B64"/>
                </a:solidFill>
              </a:rPr>
              <a:t>• 不同岗位可差异化管理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0132FC-DBAA-4C7F-BFCF-65D91B63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09850"/>
            <a:ext cx="35433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9FCDC4-7A7D-4AC4-A4D1-258A2DE8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09850"/>
            <a:ext cx="3543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0660FD-FAB4-4F78-8965-85B4765F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38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FD01C9D-E7FF-43EC-A921-21F182E0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432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549D"/>
                </a:solidFill>
              </a:defRPr>
            </a:pPr>
            <a:r>
              <a:rPr sz="1050" b="1">
                <a:solidFill>
                  <a:srgbClr val="07549D"/>
                </a:solidFill>
              </a:rPr>
              <a:t>03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2F9E5E-2A04-4839-9071-BDF1307F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38450"/>
            <a:ext cx="2609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2B58"/>
                </a:solidFill>
              </a:defRPr>
            </a:pPr>
            <a:r>
              <a:rPr sz="1350" b="1">
                <a:solidFill>
                  <a:srgbClr val="062B58"/>
                </a:solidFill>
              </a:rPr>
              <a:t>申报内容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98A2A9-F20A-4663-90B2-E00FD9AE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0515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4A73"/>
                </a:solidFill>
              </a:defRPr>
            </a:pPr>
            <a:r>
              <a:rPr sz="900" b="1">
                <a:solidFill>
                  <a:srgbClr val="244A73"/>
                </a:solidFill>
              </a:rPr>
              <a:t>账户、持仓、交易、关系信息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7BB6E58-8CB5-4FA1-BA49-7CB26188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86150"/>
            <a:ext cx="3086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3B64"/>
                </a:solidFill>
              </a:defRPr>
            </a:pPr>
            <a:r>
              <a:rPr sz="938" b="1">
                <a:solidFill>
                  <a:srgbClr val="173B64"/>
                </a:solidFill>
              </a:rPr>
              <a:t>• 账户类：身份、关系、证券/资金账户、券商</a:t>
            </a:r>
          </a:p>
          <a:p xmlns:a="http://schemas.openxmlformats.org/drawingml/2006/main">
            <a:pPr algn="l">
              <a:defRPr sz="938" b="1">
                <a:solidFill>
                  <a:srgbClr val="173B64"/>
                </a:solidFill>
              </a:defRPr>
            </a:pPr>
            <a:r>
              <a:rPr sz="938" b="1">
                <a:solidFill>
                  <a:srgbClr val="173B64"/>
                </a:solidFill>
              </a:rPr>
              <a:t>• 持仓类：证券名称、代码、数量、市值、期限</a:t>
            </a:r>
          </a:p>
          <a:p xmlns:a="http://schemas.openxmlformats.org/drawingml/2006/main">
            <a:pPr algn="l">
              <a:defRPr sz="938" b="1">
                <a:solidFill>
                  <a:srgbClr val="173B64"/>
                </a:solidFill>
              </a:defRPr>
            </a:pPr>
            <a:r>
              <a:rPr sz="938" b="1">
                <a:solidFill>
                  <a:srgbClr val="173B64"/>
                </a:solidFill>
              </a:rPr>
              <a:t>• 交易类：方向、金额、时间、理由及利益冲突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52E2EF1-0889-48A3-A8C8-E1EB6C16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2B58"/>
                </a:solidFill>
              </a:defRPr>
            </a:pPr>
            <a:r>
              <a:rPr sz="1350" b="1">
                <a:solidFill>
                  <a:srgbClr val="062B58"/>
                </a:solidFill>
              </a:rPr>
              <a:t>目标效果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BD5957A-3257-4729-A7B7-50BC55CA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53129E3-23A1-484A-9D1F-0A0024F3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95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81AB48F-FD8E-466D-B108-B4BE1053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007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549D"/>
                </a:solidFill>
              </a:defRPr>
            </a:pPr>
            <a:r>
              <a:rPr sz="1125" b="1">
                <a:solidFill>
                  <a:srgbClr val="07549D"/>
                </a:solidFill>
              </a:rPr>
              <a:t>✓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1CF90DD-E124-40D4-BA15-D81F6847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715000"/>
            <a:ext cx="2933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2B58"/>
                </a:solidFill>
              </a:defRPr>
            </a:pPr>
            <a:r>
              <a:rPr sz="1125" b="1">
                <a:solidFill>
                  <a:srgbClr val="062B58"/>
                </a:solidFill>
              </a:rPr>
              <a:t>人员范围判断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09EED21-413B-4265-AAC2-41C9A1E6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96265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4B647E"/>
                </a:solidFill>
              </a:defRPr>
            </a:pPr>
            <a:r>
              <a:rPr sz="863" b="1">
                <a:solidFill>
                  <a:srgbClr val="4B647E"/>
                </a:solidFill>
              </a:rPr>
              <a:t>识别员工、配偶、利害关系人及需纳入管理的亲属账户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7BAA3EC-4603-4020-9941-02320D06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65785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67FFD5A-F4B7-491D-BBC4-6BA6E836B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695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F95ED94-F880-4B92-B4C4-E63F5D481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8007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549D"/>
                </a:solidFill>
              </a:defRPr>
            </a:pPr>
            <a:r>
              <a:rPr sz="1125" b="1">
                <a:solidFill>
                  <a:srgbClr val="07549D"/>
                </a:solidFill>
              </a:rPr>
              <a:t>✓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967EF58-6127-4BE5-80B1-4EA31ABA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15000"/>
            <a:ext cx="2933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2B58"/>
                </a:solidFill>
              </a:defRPr>
            </a:pPr>
            <a:r>
              <a:rPr sz="1125" b="1">
                <a:solidFill>
                  <a:srgbClr val="062B58"/>
                </a:solidFill>
              </a:rPr>
              <a:t>字段抽取框架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EF64AF4-E990-41D5-8F79-51D319EA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96265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4B647E"/>
                </a:solidFill>
              </a:defRPr>
            </a:pPr>
            <a:r>
              <a:rPr sz="863" b="1">
                <a:solidFill>
                  <a:srgbClr val="4B647E"/>
                </a:solidFill>
              </a:rPr>
              <a:t>围绕账户、持仓、交易、关系四类字段设计抽取结构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C2AE9BE-5586-49C1-B4C7-662E5E0D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65785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093E973-3870-4E7C-ABF5-3E53404D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695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EF7A0FA-B205-460B-BBA4-48AA36D9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80072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549D"/>
                </a:solidFill>
              </a:defRPr>
            </a:pPr>
            <a:r>
              <a:rPr sz="1125" b="1">
                <a:solidFill>
                  <a:srgbClr val="07549D"/>
                </a:solidFill>
              </a:rPr>
              <a:t>✓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E49B7A6-29A9-4491-8464-0EF0109C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715000"/>
            <a:ext cx="2933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2B58"/>
                </a:solidFill>
              </a:defRPr>
            </a:pPr>
            <a:r>
              <a:rPr sz="1125" b="1">
                <a:solidFill>
                  <a:srgbClr val="062B58"/>
                </a:solidFill>
              </a:rPr>
              <a:t>复核问题清单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6A41244-F8AA-400C-BFCB-03A135F8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96265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4B647E"/>
                </a:solidFill>
              </a:defRPr>
            </a:pPr>
            <a:r>
              <a:rPr sz="863" b="1">
                <a:solidFill>
                  <a:srgbClr val="4B647E"/>
                </a:solidFill>
              </a:rPr>
              <a:t>缺材料、缺字段、关系不明或交易异常进入人工复核</a:t>
            </a:r>
          </a:p>
        </p:txBody>
      </p:sp>
    </p:spTree>
    <p:extLst>
      <p:ext uri="{BB962C8B-B14F-4D97-AF65-F5344CB8AC3E}">
        <p14:creationId xmlns:p14="http://schemas.microsoft.com/office/powerpoint/2010/main" val="2829744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4C729A-6929-4651-8258-EEF41CDD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5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E23851-3384-4998-81CC-C16E6B21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5725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6A122C-E355-4B37-BE0B-ED6BBBCC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 FUND 易方达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AC6C59-564C-4159-8E46-0F075434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9075"/>
            <a:ext cx="223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DCE7F4"/>
                </a:solidFill>
              </a:defRPr>
            </a:pPr>
            <a:r>
              <a:rPr sz="1050" b="1">
                <a:solidFill>
                  <a:srgbClr val="DCE7F4"/>
                </a:solidFill>
              </a:rPr>
              <a:t>项目介绍 · 提升价值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D1DABD-1C9C-4B6F-B6AF-46393184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1789DF-C952-467F-A7E0-6EA7980E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F93AA"/>
                </a:solidFill>
              </a:defRPr>
            </a:pPr>
            <a:r>
              <a:rPr sz="750" b="1">
                <a:solidFill>
                  <a:srgbClr val="7F93AA"/>
                </a:solidFill>
              </a:rPr>
              <a:t>易方达基金 · 内部交流，请勿外传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25F2E7-3653-4305-9BDE-8164E41E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7225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F93AA"/>
                </a:solidFill>
              </a:defRPr>
            </a:pPr>
            <a:r>
              <a:rPr sz="900" b="1">
                <a:solidFill>
                  <a:srgbClr val="7F93AA"/>
                </a:solidFill>
              </a:rPr>
              <a:t>03 / 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EC3D32-EDF1-40BB-A96F-5703339B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3A78"/>
                </a:solidFill>
              </a:defRPr>
            </a:pPr>
            <a:r>
              <a:rPr sz="1200" b="1">
                <a:solidFill>
                  <a:srgbClr val="073A78"/>
                </a:solidFill>
              </a:rPr>
              <a:t>流程一 | 核心业务链路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DAB806-73D9-4E8A-9848-34251053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62B58"/>
                </a:solidFill>
              </a:defRPr>
            </a:pPr>
            <a:r>
              <a:rPr sz="2700" b="1">
                <a:solidFill>
                  <a:srgbClr val="062B58"/>
                </a:solidFill>
              </a:rPr>
              <a:t>智能申报合规助手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E2DDAB-1564-4E26-A959-B1F25A4F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4B1EE1-B927-4FB0-95E8-6B8955B8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573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0932DF-BF7F-4B04-903D-3C5A232B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549D"/>
                </a:solidFill>
              </a:defRPr>
            </a:pPr>
            <a:r>
              <a:rPr sz="1125" b="1">
                <a:solidFill>
                  <a:srgbClr val="07549D"/>
                </a:solidFill>
              </a:rPr>
              <a:t>Q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2EA84A-225F-4F11-B0BA-7C5331A9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943100"/>
            <a:ext cx="965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963"/>
                </a:solidFill>
              </a:defRPr>
            </a:pPr>
            <a:r>
              <a:rPr sz="1200" b="1">
                <a:solidFill>
                  <a:srgbClr val="163963"/>
                </a:solidFill>
              </a:rPr>
              <a:t>面向复核人员的核心链路：先批量上传材料，由系统完成识别与结构化，再由人工围绕问题项修改核对，最后回传系统或导出 Excel 留痕。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B0171A-13E5-4270-AEE5-B88A815F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2643188" cy="264795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FB0D26-279A-432D-8A87-0FEDDB43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264318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7C8D1F-DC8C-4915-BF3F-E95AB4BF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38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FB7200-7CC2-44AA-A174-C1B231D9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432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549D"/>
                </a:solidFill>
              </a:defRPr>
            </a:pPr>
            <a:r>
              <a:rPr sz="1050" b="1">
                <a:solidFill>
                  <a:srgbClr val="07549D"/>
                </a:solidFill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11D534-79D4-483C-9604-CE0762F4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38450"/>
            <a:ext cx="1709738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2B58"/>
                </a:solidFill>
              </a:defRPr>
            </a:pPr>
            <a:r>
              <a:rPr sz="1350" b="1">
                <a:solidFill>
                  <a:srgbClr val="062B58"/>
                </a:solidFill>
              </a:rPr>
              <a:t>上传材料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B0CC72-C838-4E85-87C6-581537CE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170973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4A73"/>
                </a:solidFill>
              </a:defRPr>
            </a:pPr>
            <a:r>
              <a:rPr sz="900" b="1">
                <a:solidFill>
                  <a:srgbClr val="244A73"/>
                </a:solidFill>
              </a:rPr>
              <a:t>批量导入 PDF、图片、截图或压缩包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A53F4D-1C2F-4995-8D06-F87377E7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2338388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E4EEF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01AC66-C9FE-4894-A711-55E9F216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214788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7549D"/>
                </a:solidFill>
              </a:defRPr>
            </a:pPr>
            <a:r>
              <a:rPr sz="788" b="1">
                <a:solidFill>
                  <a:srgbClr val="07549D"/>
                </a:solidFill>
              </a:rPr>
              <a:t>系统处理</a:t>
            </a:r>
          </a:p>
          <a:p xmlns:a="http://schemas.openxmlformats.org/drawingml/2006/main">
            <a:pPr algn="l">
              <a:defRPr sz="788" b="1">
                <a:solidFill>
                  <a:srgbClr val="07549D"/>
                </a:solidFill>
              </a:defRPr>
            </a:pPr>
            <a:r>
              <a:rPr sz="788" b="1">
                <a:solidFill>
                  <a:srgbClr val="07549D"/>
                </a:solidFill>
              </a:rPr>
              <a:t>文件归档、生成任务编号、记录上传人和时间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FA63A4-CCC0-40FC-AE61-06A69330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2338388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4EEF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5F9859-135F-4714-9DE5-B6644F04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214788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62B58"/>
                </a:solidFill>
              </a:defRPr>
            </a:pPr>
            <a:r>
              <a:rPr sz="788" b="1">
                <a:solidFill>
                  <a:srgbClr val="062B58"/>
                </a:solidFill>
              </a:rPr>
              <a:t>人工动作</a:t>
            </a:r>
          </a:p>
          <a:p xmlns:a="http://schemas.openxmlformats.org/drawingml/2006/main">
            <a:pPr algn="l">
              <a:defRPr sz="788" b="1">
                <a:solidFill>
                  <a:srgbClr val="062B58"/>
                </a:solidFill>
              </a:defRPr>
            </a:pPr>
            <a:r>
              <a:rPr sz="788" b="1">
                <a:solidFill>
                  <a:srgbClr val="062B58"/>
                </a:solidFill>
              </a:rPr>
              <a:t>选择申报对象，确认材料范围和补充说明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5DB11D-35EF-46CD-9BC7-333B7F4F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609850"/>
            <a:ext cx="2643188" cy="264795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50B754-EAB7-433C-9D46-470695C3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609850"/>
            <a:ext cx="264318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6BD8BD-DA32-4347-B48E-09500BFD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2838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3169CE-7B01-4DC2-A6DF-65C1A2DC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29432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549D"/>
                </a:solidFill>
              </a:defRPr>
            </a:pPr>
            <a:r>
              <a:rPr sz="1050" b="1">
                <a:solidFill>
                  <a:srgbClr val="07549D"/>
                </a:solidFill>
              </a:rPr>
              <a:t>02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21CCAB-813E-4790-BB38-6D555AC5B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838450"/>
            <a:ext cx="1709738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2B58"/>
                </a:solidFill>
              </a:defRPr>
            </a:pPr>
            <a:r>
              <a:rPr sz="1350" b="1">
                <a:solidFill>
                  <a:srgbClr val="062B58"/>
                </a:solidFill>
              </a:rPr>
              <a:t>识别抽取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C11298-7B00-4B95-9B0A-9EAC0A94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3105150"/>
            <a:ext cx="170973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4A73"/>
                </a:solidFill>
              </a:defRPr>
            </a:pPr>
            <a:r>
              <a:rPr sz="900" b="1">
                <a:solidFill>
                  <a:srgbClr val="244A73"/>
                </a:solidFill>
              </a:rPr>
              <a:t>OCR / PDF / 表格解析后生成候选结果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B44A96-FD3A-4338-8345-4C251DA8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538" y="3619500"/>
            <a:ext cx="2338388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E4EEF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7EB313-7407-4056-B66D-10A6E9F3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3714750"/>
            <a:ext cx="214788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7549D"/>
                </a:solidFill>
              </a:defRPr>
            </a:pPr>
            <a:r>
              <a:rPr sz="788" b="1">
                <a:solidFill>
                  <a:srgbClr val="07549D"/>
                </a:solidFill>
              </a:rPr>
              <a:t>系统处理</a:t>
            </a:r>
          </a:p>
          <a:p xmlns:a="http://schemas.openxmlformats.org/drawingml/2006/main">
            <a:pPr algn="l">
              <a:defRPr sz="788" b="1">
                <a:solidFill>
                  <a:srgbClr val="07549D"/>
                </a:solidFill>
              </a:defRPr>
            </a:pPr>
            <a:r>
              <a:rPr sz="788" b="1">
                <a:solidFill>
                  <a:srgbClr val="07549D"/>
                </a:solidFill>
              </a:rPr>
              <a:t>识别身份、账户、持仓、交易与证明类材料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8F3238-6F78-4643-8AA7-74806EB0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538" y="4248150"/>
            <a:ext cx="2338388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4EEF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4425AD-B8C6-4A30-A23B-E523E348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4343400"/>
            <a:ext cx="214788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62B58"/>
                </a:solidFill>
              </a:defRPr>
            </a:pPr>
            <a:r>
              <a:rPr sz="788" b="1">
                <a:solidFill>
                  <a:srgbClr val="062B58"/>
                </a:solidFill>
              </a:rPr>
              <a:t>人工动作</a:t>
            </a:r>
          </a:p>
          <a:p xmlns:a="http://schemas.openxmlformats.org/drawingml/2006/main">
            <a:pPr algn="l">
              <a:defRPr sz="788" b="1">
                <a:solidFill>
                  <a:srgbClr val="062B58"/>
                </a:solidFill>
              </a:defRPr>
            </a:pPr>
            <a:r>
              <a:rPr sz="788" b="1">
                <a:solidFill>
                  <a:srgbClr val="062B58"/>
                </a:solidFill>
              </a:rPr>
              <a:t>查看识别状态，定位失败或需补充的文件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611D67-D2B2-46BC-87C7-97586CF1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609850"/>
            <a:ext cx="2643188" cy="264795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B539C0-4D82-4213-9C5F-32AEFD7C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609850"/>
            <a:ext cx="264318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921142-F49A-4ECE-857D-977C851E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38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5A6DC37-6457-4D86-A07B-58DB5941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432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549D"/>
                </a:solidFill>
              </a:defRPr>
            </a:pPr>
            <a:r>
              <a:rPr sz="1050" b="1">
                <a:solidFill>
                  <a:srgbClr val="07549D"/>
                </a:solidFill>
              </a:rPr>
              <a:t>03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2A1CF5-D1C6-4B27-BFF1-5EF31532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838450"/>
            <a:ext cx="1709738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2B58"/>
                </a:solidFill>
              </a:defRPr>
            </a:pPr>
            <a:r>
              <a:rPr sz="1350" b="1">
                <a:solidFill>
                  <a:srgbClr val="062B58"/>
                </a:solidFill>
              </a:rPr>
              <a:t>修改核对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27D8057-48CF-4ED4-9599-72D0E085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105150"/>
            <a:ext cx="170973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4A73"/>
                </a:solidFill>
              </a:defRPr>
            </a:pPr>
            <a:r>
              <a:rPr sz="900" b="1">
                <a:solidFill>
                  <a:srgbClr val="244A73"/>
                </a:solidFill>
              </a:rPr>
              <a:t>围绕合规结论、材料质量和证据链复核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366A41E-DFE6-405A-98FE-158BD687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619500"/>
            <a:ext cx="2338388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E4EEF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2ED3E85-7A12-4D2E-A4F1-6DC2ADA9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714750"/>
            <a:ext cx="214788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7549D"/>
                </a:solidFill>
              </a:defRPr>
            </a:pPr>
            <a:r>
              <a:rPr sz="788" b="1">
                <a:solidFill>
                  <a:srgbClr val="07549D"/>
                </a:solidFill>
              </a:rPr>
              <a:t>系统处理</a:t>
            </a:r>
          </a:p>
          <a:p xmlns:a="http://schemas.openxmlformats.org/drawingml/2006/main">
            <a:pPr algn="l">
              <a:defRPr sz="788" b="1">
                <a:solidFill>
                  <a:srgbClr val="07549D"/>
                </a:solidFill>
              </a:defRPr>
            </a:pPr>
            <a:r>
              <a:rPr sz="788" b="1">
                <a:solidFill>
                  <a:srgbClr val="07549D"/>
                </a:solidFill>
              </a:rPr>
              <a:t>输出规则判断，识别材料模糊、缺页或证据不足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5CA64F5-844F-42AE-9241-C4823065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248150"/>
            <a:ext cx="2338388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4EEF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96AF670-5B42-45DC-9B16-6C265325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343400"/>
            <a:ext cx="214788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62B58"/>
                </a:solidFill>
              </a:defRPr>
            </a:pPr>
            <a:r>
              <a:rPr sz="788" b="1">
                <a:solidFill>
                  <a:srgbClr val="062B58"/>
                </a:solidFill>
              </a:rPr>
              <a:t>人工动作</a:t>
            </a:r>
          </a:p>
          <a:p xmlns:a="http://schemas.openxmlformats.org/drawingml/2006/main">
            <a:pPr algn="l">
              <a:defRPr sz="788" b="1">
                <a:solidFill>
                  <a:srgbClr val="062B58"/>
                </a:solidFill>
              </a:defRPr>
            </a:pPr>
            <a:r>
              <a:rPr sz="788" b="1">
                <a:solidFill>
                  <a:srgbClr val="062B58"/>
                </a:solidFill>
              </a:rPr>
              <a:t>人工核对结论与证据，修正字段并确认准确性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2D0CDB8-DA15-4613-A398-B136B446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213" y="2609850"/>
            <a:ext cx="2643188" cy="264795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A9BB244-35F6-4A9E-96A4-EF7E59BF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213" y="2609850"/>
            <a:ext cx="264318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EB46280-06E7-45CD-BC9F-69CA673B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663" y="2838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5276F67-D4FF-48B6-B6FC-4E2A3001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663" y="29432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549D"/>
                </a:solidFill>
              </a:defRPr>
            </a:pPr>
            <a:r>
              <a:rPr sz="1050" b="1">
                <a:solidFill>
                  <a:srgbClr val="07549D"/>
                </a:solidFill>
              </a:rPr>
              <a:t>04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2D7A333-B809-4DE9-AFBC-889DAB4C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3113" y="2838450"/>
            <a:ext cx="1709738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2B58"/>
                </a:solidFill>
              </a:defRPr>
            </a:pPr>
            <a:r>
              <a:rPr sz="1350" b="1">
                <a:solidFill>
                  <a:srgbClr val="062B58"/>
                </a:solidFill>
              </a:rPr>
              <a:t>回传 / 导出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E24AA13-BE5B-42C1-91D5-59FB76C3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3113" y="3105150"/>
            <a:ext cx="170973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4A73"/>
                </a:solidFill>
              </a:defRPr>
            </a:pPr>
            <a:r>
              <a:rPr sz="900" b="1">
                <a:solidFill>
                  <a:srgbClr val="244A73"/>
                </a:solidFill>
              </a:rPr>
              <a:t>形成最终申报结果和留痕文件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70DE19F-C1C0-484C-BC53-942D85CB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3619500"/>
            <a:ext cx="2338388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E4EEF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3D04FE1-07CB-4E93-B350-3CF6EFF3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3714750"/>
            <a:ext cx="214788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7549D"/>
                </a:solidFill>
              </a:defRPr>
            </a:pPr>
            <a:r>
              <a:rPr sz="788" b="1">
                <a:solidFill>
                  <a:srgbClr val="07549D"/>
                </a:solidFill>
              </a:rPr>
              <a:t>系统处理</a:t>
            </a:r>
          </a:p>
          <a:p xmlns:a="http://schemas.openxmlformats.org/drawingml/2006/main">
            <a:pPr algn="l">
              <a:defRPr sz="788" b="1">
                <a:solidFill>
                  <a:srgbClr val="07549D"/>
                </a:solidFill>
              </a:defRPr>
            </a:pPr>
            <a:r>
              <a:rPr sz="788" b="1">
                <a:solidFill>
                  <a:srgbClr val="07549D"/>
                </a:solidFill>
              </a:rPr>
              <a:t>生成最终表、完整表、持仓表、核对清单和问题清单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0C9F236-6B14-4E4F-A738-9BD1FDA4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4248150"/>
            <a:ext cx="2338388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4EEF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1DF5C5A-A647-430C-9EAC-FBDD6BDD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4343400"/>
            <a:ext cx="214788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62B58"/>
                </a:solidFill>
              </a:defRPr>
            </a:pPr>
            <a:r>
              <a:rPr sz="788" b="1">
                <a:solidFill>
                  <a:srgbClr val="062B58"/>
                </a:solidFill>
              </a:rPr>
              <a:t>人工动作</a:t>
            </a:r>
          </a:p>
          <a:p xmlns:a="http://schemas.openxmlformats.org/drawingml/2006/main">
            <a:pPr algn="l">
              <a:defRPr sz="788" b="1">
                <a:solidFill>
                  <a:srgbClr val="062B58"/>
                </a:solidFill>
              </a:defRPr>
            </a:pPr>
            <a:r>
              <a:rPr sz="788" b="1">
                <a:solidFill>
                  <a:srgbClr val="062B58"/>
                </a:solidFill>
              </a:rPr>
              <a:t>确认后上传系统，或导出 Excel 用于归档与复核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703376D-45CC-4EAB-B55D-1839A28D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73A78"/>
          </a:solidFill>
          <a:ln xmlns:a="http://schemas.openxmlformats.org/drawingml/2006/main" w="9525">
            <a:solidFill>
              <a:srgbClr val="073A7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FD6EC59-6957-47BF-BACF-A72DAB7D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149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最终输出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DABC8BB-4F12-42DC-B134-036D7D7B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457825"/>
            <a:ext cx="13811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44F80"/>
          </a:solidFill>
          <a:ln xmlns:a="http://schemas.openxmlformats.org/drawingml/2006/main" w="9525">
            <a:solidFill>
              <a:srgbClr val="244F8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AB6EC97-51F5-456F-8FC4-6499680D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534025"/>
            <a:ext cx="12668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可编辑申报结果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4F52900-8068-406F-AB51-F38E3D4C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457825"/>
            <a:ext cx="13811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44F80"/>
          </a:solidFill>
          <a:ln xmlns:a="http://schemas.openxmlformats.org/drawingml/2006/main" w="9525">
            <a:solidFill>
              <a:srgbClr val="244F8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17286CC-0D6A-422F-9826-851DD03A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534025"/>
            <a:ext cx="12668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可追溯证据链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B78A8C5-6F21-4F2D-8A36-ABAC4514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457825"/>
            <a:ext cx="13811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44F80"/>
          </a:solidFill>
          <a:ln xmlns:a="http://schemas.openxmlformats.org/drawingml/2006/main" w="9525">
            <a:solidFill>
              <a:srgbClr val="244F8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7269F4E-9227-400A-9F43-AC53CBB9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534025"/>
            <a:ext cx="12668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Excel 导出文件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28A9F44-AA9B-4069-B365-E2139108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457825"/>
            <a:ext cx="13811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244F80"/>
          </a:solidFill>
          <a:ln xmlns:a="http://schemas.openxmlformats.org/drawingml/2006/main" w="9525">
            <a:solidFill>
              <a:srgbClr val="244F8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FD8A2BB-A7D4-4DA9-8F4E-57584553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534025"/>
            <a:ext cx="12668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系统回传记录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F6B4B39-EB86-45B1-845E-393B5C5B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0B67364-F973-46E7-B0F3-281C5712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29325"/>
            <a:ext cx="1028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062B58"/>
                </a:solidFill>
              </a:defRPr>
            </a:pPr>
            <a:r>
              <a:rPr sz="1013" b="1">
                <a:solidFill>
                  <a:srgbClr val="062B58"/>
                </a:solidFill>
              </a:rPr>
              <a:t>系统先把材料整理成可核对结果，人工只处理需要判断和确认的事项。</a:t>
            </a:r>
          </a:p>
        </p:txBody>
      </p:sp>
    </p:spTree>
    <p:extLst>
      <p:ext uri="{BB962C8B-B14F-4D97-AF65-F5344CB8AC3E}">
        <p14:creationId xmlns:p14="http://schemas.microsoft.com/office/powerpoint/2010/main" val="6356820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0A1C84-2889-4E0F-A1F6-AF1D5C7C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5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1A890A-35A9-4179-9619-5841E72F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5725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E167B6-AD79-4EDE-ADF9-441EAD47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 FUND 易方达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614CEB-ADB8-4EBF-BCB5-E75CA891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9075"/>
            <a:ext cx="223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DCE7F4"/>
                </a:solidFill>
              </a:defRPr>
            </a:pPr>
            <a:r>
              <a:rPr sz="1050" b="1">
                <a:solidFill>
                  <a:srgbClr val="DCE7F4"/>
                </a:solidFill>
              </a:rPr>
              <a:t>项目问题与解决 · 提升价值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8B3566-7AB3-45C3-AF30-7A1503DC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276481-8F8A-4228-859E-0E93CC5E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F93AA"/>
                </a:solidFill>
              </a:defRPr>
            </a:pPr>
            <a:r>
              <a:rPr sz="750" b="1">
                <a:solidFill>
                  <a:srgbClr val="7F93AA"/>
                </a:solidFill>
              </a:rPr>
              <a:t>易方达基金 · 内部交流，请勿外传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76EE75-145B-499C-9C30-5BA08CCB9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7225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F93AA"/>
                </a:solidFill>
              </a:defRPr>
            </a:pPr>
            <a:r>
              <a:rPr sz="900" b="1">
                <a:solidFill>
                  <a:srgbClr val="7F93AA"/>
                </a:solidFill>
              </a:rPr>
              <a:t>04 / 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072A2B-C99C-47D8-9FDF-EB75E9A4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3A78"/>
                </a:solidFill>
              </a:defRPr>
            </a:pPr>
            <a:r>
              <a:rPr sz="1200" b="1">
                <a:solidFill>
                  <a:srgbClr val="073A78"/>
                </a:solidFill>
              </a:rPr>
              <a:t>问题一 | 输入质量不可控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431EDC-5345-43D7-BDFA-7F987F569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62B58"/>
                </a:solidFill>
              </a:defRPr>
            </a:pPr>
            <a:r>
              <a:rPr sz="2700" b="1">
                <a:solidFill>
                  <a:srgbClr val="062B58"/>
                </a:solidFill>
              </a:rPr>
              <a:t>来源复杂，格式不一，输入质量不可控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995EF9-FE8C-4A56-8990-2D2E5E53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876300"/>
            <a:ext cx="26289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F26E69-6DFB-4C44-9ED1-73546380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971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E528A8-6DE1-4D3B-AC14-BC879519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076325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7549D"/>
                </a:solidFill>
              </a:defRPr>
            </a:pPr>
            <a:r>
              <a:rPr sz="1275" b="1">
                <a:solidFill>
                  <a:srgbClr val="07549D"/>
                </a:solidFill>
              </a:rPr>
              <a:t>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865EB3-A73B-45F5-B876-A969FD6A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9620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2B58"/>
                </a:solidFill>
              </a:defRPr>
            </a:pPr>
            <a:r>
              <a:rPr sz="1125" b="1">
                <a:solidFill>
                  <a:srgbClr val="062B58"/>
                </a:solidFill>
              </a:rPr>
              <a:t>风险 / 问题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1899BD-F8FD-4DB9-9AD8-C8D4A026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181100"/>
            <a:ext cx="1790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B647E"/>
                </a:solidFill>
              </a:defRPr>
            </a:pPr>
            <a:r>
              <a:rPr sz="750" b="0">
                <a:solidFill>
                  <a:srgbClr val="4B647E"/>
                </a:solidFill>
              </a:rPr>
              <a:t>材料来源多、版式差异大，输入质量决定后续抽取上限。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292211-866F-49E6-9A3B-A2247ED9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E3EE1E-2A90-4E60-9168-9FA7667C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573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61C5F4-67FB-4534-8D55-D8F71F08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549D"/>
                </a:solidFill>
              </a:defRPr>
            </a:pPr>
            <a:r>
              <a:rPr sz="1125" b="1">
                <a:solidFill>
                  <a:srgbClr val="07549D"/>
                </a:solidFill>
              </a:rPr>
              <a:t>Q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850310-8B4E-47DC-99C8-27E8EC67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943100"/>
            <a:ext cx="965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963"/>
                </a:solidFill>
              </a:defRPr>
            </a:pPr>
            <a:r>
              <a:rPr sz="1200" b="1">
                <a:solidFill>
                  <a:srgbClr val="163963"/>
                </a:solidFill>
              </a:rPr>
              <a:t>表格、分栏、流水记录和跨页信息直接交给 AI 容易出现识别不完整、字段错位和信息遗漏。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B9AA14-2850-49A5-9489-661B0C9E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539115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B0930B-2EAD-4B2A-BE33-DADD8D067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5391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694F17-20CE-430A-9008-DB513656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0A199E-DD8F-447D-8E90-EE2565D3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194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A8C8"/>
                </a:solidFill>
              </a:defRPr>
            </a:pPr>
            <a:r>
              <a:rPr sz="1050" b="1">
                <a:solidFill>
                  <a:srgbClr val="00A8C8"/>
                </a:solidFill>
              </a:rPr>
              <a:t>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E56E5F-3102-481E-9054-7BD88ADF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14650"/>
            <a:ext cx="4457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2B58"/>
                </a:solidFill>
              </a:defRPr>
            </a:pPr>
            <a:r>
              <a:rPr sz="1350" b="1">
                <a:solidFill>
                  <a:srgbClr val="062B58"/>
                </a:solidFill>
              </a:rPr>
              <a:t>主要材料来源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5327B3-6806-4944-8DB4-C13C1E54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4933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B64"/>
                </a:solidFill>
              </a:defRPr>
            </a:pPr>
            <a:r>
              <a:rPr sz="1050" b="1">
                <a:solidFill>
                  <a:srgbClr val="173B64"/>
                </a:solidFill>
              </a:rPr>
              <a:t>• 广发证券对账单</a:t>
            </a:r>
          </a:p>
          <a:p xmlns:a="http://schemas.openxmlformats.org/drawingml/2006/main">
            <a:pPr algn="l">
              <a:defRPr sz="1050" b="1">
                <a:solidFill>
                  <a:srgbClr val="173B64"/>
                </a:solidFill>
              </a:defRPr>
            </a:pPr>
            <a:r>
              <a:rPr sz="1050" b="1">
                <a:solidFill>
                  <a:srgbClr val="173B64"/>
                </a:solidFill>
              </a:rPr>
              <a:t>• 深市 / 沪市中证登材料</a:t>
            </a:r>
          </a:p>
          <a:p xmlns:a="http://schemas.openxmlformats.org/drawingml/2006/main">
            <a:pPr algn="l">
              <a:defRPr sz="1050" b="1">
                <a:solidFill>
                  <a:srgbClr val="173B64"/>
                </a:solidFill>
              </a:defRPr>
            </a:pPr>
            <a:r>
              <a:rPr sz="1050" b="1">
                <a:solidFill>
                  <a:srgbClr val="173B64"/>
                </a:solidFill>
              </a:rPr>
              <a:t>• 持仓截图、交易截图</a:t>
            </a:r>
          </a:p>
          <a:p xmlns:a="http://schemas.openxmlformats.org/drawingml/2006/main">
            <a:pPr algn="l">
              <a:defRPr sz="1050" b="1">
                <a:solidFill>
                  <a:srgbClr val="173B64"/>
                </a:solidFill>
              </a:defRPr>
            </a:pPr>
            <a:r>
              <a:rPr sz="1050" b="1">
                <a:solidFill>
                  <a:srgbClr val="173B64"/>
                </a:solidFill>
              </a:rPr>
              <a:t>• 身份证明材料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15F257-1E01-417B-8033-F5B80E7B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86050"/>
            <a:ext cx="539115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01F89B-B2E2-4ED6-BC50-0434734E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86050"/>
            <a:ext cx="5391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03F012-0989-4813-A3EE-46E72282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14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DF31B1-40CC-4598-AE9E-B03A27BA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194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A8C8"/>
                </a:solidFill>
              </a:defRPr>
            </a:pPr>
            <a:r>
              <a:rPr sz="1050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F495C7-2B08-4093-9D3A-7EF89483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14650"/>
            <a:ext cx="4457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2B58"/>
                </a:solidFill>
              </a:defRPr>
            </a:pPr>
            <a:r>
              <a:rPr sz="1350" b="1">
                <a:solidFill>
                  <a:srgbClr val="062B58"/>
                </a:solidFill>
              </a:rPr>
              <a:t>材料格式挑战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B03EDA-DFC6-40FC-8225-90590A19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62350"/>
            <a:ext cx="4933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B64"/>
                </a:solidFill>
              </a:defRPr>
            </a:pPr>
            <a:r>
              <a:rPr sz="1050" b="1">
                <a:solidFill>
                  <a:srgbClr val="173B64"/>
                </a:solidFill>
              </a:rPr>
              <a:t>• 可解析 PDF</a:t>
            </a:r>
          </a:p>
          <a:p xmlns:a="http://schemas.openxmlformats.org/drawingml/2006/main">
            <a:pPr algn="l">
              <a:defRPr sz="1050" b="1">
                <a:solidFill>
                  <a:srgbClr val="173B64"/>
                </a:solidFill>
              </a:defRPr>
            </a:pPr>
            <a:r>
              <a:rPr sz="1050" b="1">
                <a:solidFill>
                  <a:srgbClr val="173B64"/>
                </a:solidFill>
              </a:rPr>
              <a:t>• 扫描 PDF</a:t>
            </a:r>
          </a:p>
          <a:p xmlns:a="http://schemas.openxmlformats.org/drawingml/2006/main">
            <a:pPr algn="l">
              <a:defRPr sz="1050" b="1">
                <a:solidFill>
                  <a:srgbClr val="173B64"/>
                </a:solidFill>
              </a:defRPr>
            </a:pPr>
            <a:r>
              <a:rPr sz="1050" b="1">
                <a:solidFill>
                  <a:srgbClr val="173B64"/>
                </a:solidFill>
              </a:rPr>
              <a:t>• 图片截图</a:t>
            </a:r>
          </a:p>
          <a:p xmlns:a="http://schemas.openxmlformats.org/drawingml/2006/main">
            <a:pPr algn="l">
              <a:defRPr sz="1050" b="1">
                <a:solidFill>
                  <a:srgbClr val="173B64"/>
                </a:solidFill>
              </a:defRPr>
            </a:pPr>
            <a:r>
              <a:rPr sz="1050" b="1">
                <a:solidFill>
                  <a:srgbClr val="173B64"/>
                </a:solidFill>
              </a:rPr>
              <a:t>• 多页长表格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A521F3-626B-4D80-BB5C-3F181289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1A05E3-2BCA-45F2-B4E7-2689AAD7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530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C87DA3-A809-4E2A-B726-63FDB84B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578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87817"/>
                </a:solidFill>
              </a:defRPr>
            </a:pPr>
            <a:r>
              <a:rPr sz="1350" b="1">
                <a:solidFill>
                  <a:srgbClr val="E87817"/>
                </a:solidFill>
              </a:rPr>
              <a:t>!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F582E9-B4BF-4E42-B3FE-A6C1B816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238750"/>
            <a:ext cx="923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2B58"/>
                </a:solidFill>
              </a:defRPr>
            </a:pPr>
            <a:r>
              <a:rPr sz="1200" b="1">
                <a:solidFill>
                  <a:srgbClr val="062B58"/>
                </a:solidFill>
              </a:rPr>
              <a:t>表格形式的材料会导致结构化信息提取困难。</a:t>
            </a:r>
          </a:p>
        </p:txBody>
      </p:sp>
    </p:spTree>
    <p:extLst>
      <p:ext uri="{BB962C8B-B14F-4D97-AF65-F5344CB8AC3E}">
        <p14:creationId xmlns:p14="http://schemas.microsoft.com/office/powerpoint/2010/main" val="15966699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BCD32D-3CD9-4E6A-BB39-F7198CBE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5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C47270-1DEB-4225-9EC2-509A6723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5725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D22B4B-E868-4C7E-A010-E44AE2EF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 FUND 易方达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159E43-ED3B-42C5-B154-D2B22867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9075"/>
            <a:ext cx="223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DCE7F4"/>
                </a:solidFill>
              </a:defRPr>
            </a:pPr>
            <a:r>
              <a:rPr sz="1050" b="1">
                <a:solidFill>
                  <a:srgbClr val="DCE7F4"/>
                </a:solidFill>
              </a:rPr>
              <a:t>项目问题与解决 · 提升价值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B02386-6BFD-448E-B9D2-F72434F8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956D60-6809-44AF-BBA9-28A2376B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F93AA"/>
                </a:solidFill>
              </a:defRPr>
            </a:pPr>
            <a:r>
              <a:rPr sz="750" b="1">
                <a:solidFill>
                  <a:srgbClr val="7F93AA"/>
                </a:solidFill>
              </a:rPr>
              <a:t>易方达基金 · 内部交流，请勿外传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74C126-1E1B-4E2B-B810-75D9ED38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7225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F93AA"/>
                </a:solidFill>
              </a:defRPr>
            </a:pPr>
            <a:r>
              <a:rPr sz="900" b="1">
                <a:solidFill>
                  <a:srgbClr val="7F93AA"/>
                </a:solidFill>
              </a:rPr>
              <a:t>05 / 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6DBFEF-622D-4D45-ADF5-D39BAC21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3A78"/>
                </a:solidFill>
              </a:defRPr>
            </a:pPr>
            <a:r>
              <a:rPr sz="1200" b="1">
                <a:solidFill>
                  <a:srgbClr val="073A78"/>
                </a:solidFill>
              </a:rPr>
              <a:t>解决一 | 解析策略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F7107D-A47C-4E84-AF12-B5D5EB5E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62B58"/>
                </a:solidFill>
              </a:defRPr>
            </a:pPr>
            <a:r>
              <a:rPr sz="2700" b="1">
                <a:solidFill>
                  <a:srgbClr val="062B58"/>
                </a:solidFill>
              </a:rPr>
              <a:t>文件分流与多模态 + OCR 混合应用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E91905-62EB-4DF5-854D-7CC92F1F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07BCF6-5C8C-4BA4-AE20-C7B326C3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573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6D2C4F-541D-495E-B9C7-8324D3FD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549D"/>
                </a:solidFill>
              </a:defRPr>
            </a:pPr>
            <a:r>
              <a:rPr sz="1125" b="1">
                <a:solidFill>
                  <a:srgbClr val="07549D"/>
                </a:solidFill>
              </a:rPr>
              <a:t>Q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B513CF-65F6-498E-807C-390566DB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943100"/>
            <a:ext cx="965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963"/>
                </a:solidFill>
              </a:defRPr>
            </a:pPr>
            <a:r>
              <a:rPr sz="1200" b="1">
                <a:solidFill>
                  <a:srgbClr val="163963"/>
                </a:solidFill>
              </a:rPr>
              <a:t>系统不把不确定结果直接当成最终结论，而是将其转化为可处理的问题。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C0A56E-BC26-4F78-99E9-5F9A812C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53911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14359E-40A5-4DD0-8189-534172E4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5391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F515F0-B41A-4EB7-9A4C-6DD000D3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E2B6FA-C949-4D11-8561-688D9470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194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A8C8"/>
                </a:solidFill>
              </a:defRPr>
            </a:pPr>
            <a:r>
              <a:rPr sz="1050" b="1">
                <a:solidFill>
                  <a:srgbClr val="00A8C8"/>
                </a:solidFill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021391-0BF2-49A3-A56C-4A96A42C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14650"/>
            <a:ext cx="4457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2B58"/>
                </a:solidFill>
              </a:defRPr>
            </a:pPr>
            <a:r>
              <a:rPr sz="1350" b="1">
                <a:solidFill>
                  <a:srgbClr val="062B58"/>
                </a:solidFill>
              </a:rPr>
              <a:t>文件分流及信息结构化保存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7B6ECE-3819-4984-899E-27471844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81350"/>
            <a:ext cx="445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4A73"/>
                </a:solidFill>
              </a:defRPr>
            </a:pPr>
            <a:r>
              <a:rPr sz="900" b="1">
                <a:solidFill>
                  <a:srgbClr val="244A73"/>
                </a:solidFill>
              </a:rPr>
              <a:t>文件格式不同，处理方式不同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818482-FEEC-493D-B0C9-FFC8A160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49339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B64"/>
                </a:solidFill>
              </a:defRPr>
            </a:pPr>
            <a:r>
              <a:rPr sz="975" b="1">
                <a:solidFill>
                  <a:srgbClr val="173B64"/>
                </a:solidFill>
              </a:rPr>
              <a:t>• 尽可能结构化保存信息</a:t>
            </a:r>
          </a:p>
          <a:p xmlns:a="http://schemas.openxmlformats.org/drawingml/2006/main">
            <a:pPr algn="l">
              <a:defRPr sz="975" b="1">
                <a:solidFill>
                  <a:srgbClr val="173B64"/>
                </a:solidFill>
              </a:defRPr>
            </a:pPr>
            <a:r>
              <a:rPr sz="975" b="1">
                <a:solidFill>
                  <a:srgbClr val="173B64"/>
                </a:solidFill>
              </a:rPr>
              <a:t>• 提升信息的可读性和可理解性</a:t>
            </a:r>
          </a:p>
          <a:p xmlns:a="http://schemas.openxmlformats.org/drawingml/2006/main">
            <a:pPr algn="l">
              <a:defRPr sz="975" b="1">
                <a:solidFill>
                  <a:srgbClr val="173B64"/>
                </a:solidFill>
              </a:defRPr>
            </a:pPr>
            <a:r>
              <a:rPr sz="975" b="1">
                <a:solidFill>
                  <a:srgbClr val="173B64"/>
                </a:solidFill>
              </a:rPr>
              <a:t>• 保留项目原始字段并进行重标记</a:t>
            </a:r>
          </a:p>
          <a:p xmlns:a="http://schemas.openxmlformats.org/drawingml/2006/main">
            <a:pPr algn="l">
              <a:defRPr sz="975" b="1">
                <a:solidFill>
                  <a:srgbClr val="173B64"/>
                </a:solidFill>
              </a:defRPr>
            </a:pPr>
            <a:r>
              <a:rPr sz="975" b="1">
                <a:solidFill>
                  <a:srgbClr val="173B64"/>
                </a:solidFill>
              </a:rPr>
              <a:t>• 为复核与校验链形成做准备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BD4159-AE9E-484B-B374-D561448A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86050"/>
            <a:ext cx="539115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9D01BD-27DD-40D6-9350-A9D41013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86050"/>
            <a:ext cx="5391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F1BE00-E5BA-49F4-9ADB-2078C6F8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14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F977BC-703A-40A2-8712-301B35CF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194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A8C8"/>
                </a:solidFill>
              </a:defRPr>
            </a:pPr>
            <a:r>
              <a:rPr sz="1050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6CCD14-F9B1-4A69-9E6B-C7A9CDEF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14650"/>
            <a:ext cx="4457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2B58"/>
                </a:solidFill>
              </a:defRPr>
            </a:pPr>
            <a:r>
              <a:rPr sz="1350" b="1">
                <a:solidFill>
                  <a:srgbClr val="062B58"/>
                </a:solidFill>
              </a:rPr>
              <a:t>多模态 + OCR 混合应用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0FC3C0-4709-43D7-9AA2-FA547855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81350"/>
            <a:ext cx="445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4A73"/>
                </a:solidFill>
              </a:defRPr>
            </a:pPr>
            <a:r>
              <a:rPr sz="900" b="1">
                <a:solidFill>
                  <a:srgbClr val="244A73"/>
                </a:solidFill>
              </a:rPr>
              <a:t>速度提高，识别准确率提升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8B62C6-C334-4D37-AC4E-12EE9539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62350"/>
            <a:ext cx="49339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B64"/>
                </a:solidFill>
              </a:defRPr>
            </a:pPr>
            <a:r>
              <a:rPr sz="975" b="1">
                <a:solidFill>
                  <a:srgbClr val="173B64"/>
                </a:solidFill>
              </a:rPr>
              <a:t>• 不直接使用多模态处理全部材料</a:t>
            </a:r>
          </a:p>
          <a:p xmlns:a="http://schemas.openxmlformats.org/drawingml/2006/main">
            <a:pPr algn="l">
              <a:defRPr sz="975" b="1">
                <a:solidFill>
                  <a:srgbClr val="173B64"/>
                </a:solidFill>
              </a:defRPr>
            </a:pPr>
            <a:r>
              <a:rPr sz="975" b="1">
                <a:solidFill>
                  <a:srgbClr val="173B64"/>
                </a:solidFill>
              </a:rPr>
              <a:t>• OCR 提供文本，模型识别结构</a:t>
            </a:r>
          </a:p>
          <a:p xmlns:a="http://schemas.openxmlformats.org/drawingml/2006/main">
            <a:pPr algn="l">
              <a:defRPr sz="975" b="1">
                <a:solidFill>
                  <a:srgbClr val="173B64"/>
                </a:solidFill>
              </a:defRPr>
            </a:pPr>
            <a:r>
              <a:rPr sz="975" b="1">
                <a:solidFill>
                  <a:srgbClr val="173B64"/>
                </a:solidFill>
              </a:rPr>
              <a:t>• OCR 识别困难时引入多模态</a:t>
            </a:r>
          </a:p>
          <a:p xmlns:a="http://schemas.openxmlformats.org/drawingml/2006/main">
            <a:pPr algn="l">
              <a:defRPr sz="975" b="1">
                <a:solidFill>
                  <a:srgbClr val="173B64"/>
                </a:solidFill>
              </a:defRPr>
            </a:pPr>
            <a:r>
              <a:rPr sz="975" b="1">
                <a:solidFill>
                  <a:srgbClr val="173B64"/>
                </a:solidFill>
              </a:rPr>
              <a:t>• 密集表格场景降低幻觉风险</a:t>
            </a:r>
          </a:p>
        </p:txBody>
      </p:sp>
    </p:spTree>
    <p:extLst>
      <p:ext uri="{BB962C8B-B14F-4D97-AF65-F5344CB8AC3E}">
        <p14:creationId xmlns:p14="http://schemas.microsoft.com/office/powerpoint/2010/main" val="11213103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31B662-4831-4B27-AAC5-9D3DFA29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5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31CD7E-6115-4176-A0A8-DEFD3063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5725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63F348-B07F-4856-BE30-BC888A58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 FUND 易方达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3649DE-5966-4475-B48A-6D6B6F65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9075"/>
            <a:ext cx="223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DCE7F4"/>
                </a:solidFill>
              </a:defRPr>
            </a:pPr>
            <a:r>
              <a:rPr sz="1050" b="1">
                <a:solidFill>
                  <a:srgbClr val="DCE7F4"/>
                </a:solidFill>
              </a:rPr>
              <a:t>项目问题与解决 · 提升价值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2CF7A9-D04E-4770-83D9-99E71664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B3B0D0-BBF0-46E5-A3A9-215399FF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F93AA"/>
                </a:solidFill>
              </a:defRPr>
            </a:pPr>
            <a:r>
              <a:rPr sz="750" b="1">
                <a:solidFill>
                  <a:srgbClr val="7F93AA"/>
                </a:solidFill>
              </a:rPr>
              <a:t>易方达基金 · 内部交流，请勿外传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280326-7092-493E-9A1A-C49DF5E5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7225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F93AA"/>
                </a:solidFill>
              </a:defRPr>
            </a:pPr>
            <a:r>
              <a:rPr sz="900" b="1">
                <a:solidFill>
                  <a:srgbClr val="7F93AA"/>
                </a:solidFill>
              </a:rPr>
              <a:t>06 / 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F21EF2-F97A-4648-B238-511675FB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3A78"/>
                </a:solidFill>
              </a:defRPr>
            </a:pPr>
            <a:r>
              <a:rPr sz="1200" b="1">
                <a:solidFill>
                  <a:srgbClr val="073A78"/>
                </a:solidFill>
              </a:rPr>
              <a:t>问题二 | 业务类型复杂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B75E40-BDE3-47BA-AF8C-5980FF4B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62B58"/>
                </a:solidFill>
              </a:defRPr>
            </a:pPr>
            <a:r>
              <a:rPr sz="2700" b="1">
                <a:solidFill>
                  <a:srgbClr val="062B58"/>
                </a:solidFill>
              </a:rPr>
              <a:t>同一材料中可能同时存在交易、持仓与多笔业务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2F9053-C614-4189-BDD2-04E7DFB2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014BB0-C6B8-4412-AE87-E25B1F21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573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AE2C2C-E392-4525-B9EF-65ACCC81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549D"/>
                </a:solidFill>
              </a:defRPr>
            </a:pPr>
            <a:r>
              <a:rPr sz="1125" b="1">
                <a:solidFill>
                  <a:srgbClr val="07549D"/>
                </a:solidFill>
              </a:rPr>
              <a:t>Q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C456CB-E913-4486-843A-7E8C5195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943100"/>
            <a:ext cx="965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963"/>
                </a:solidFill>
              </a:defRPr>
            </a:pPr>
            <a:r>
              <a:rPr sz="1200" b="1">
                <a:solidFill>
                  <a:srgbClr val="163963"/>
                </a:solidFill>
              </a:rPr>
              <a:t>系统不仅要抽取数据，还要理解数据背后的交易类型。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6250AC-E1D0-4703-921B-B6DF6EDC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2628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7549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FC355A-7ACA-448E-844D-ADD18B50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62B58"/>
                </a:solidFill>
              </a:defRPr>
            </a:pPr>
            <a:r>
              <a:rPr sz="1013" b="1">
                <a:solidFill>
                  <a:srgbClr val="062B58"/>
                </a:solidFill>
              </a:rPr>
              <a:t>买入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4C33FE-82DD-4C05-B3F6-F9384509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67000"/>
            <a:ext cx="2628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C6B3B2-8491-40BE-9E7E-095A022F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813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62B58"/>
                </a:solidFill>
              </a:defRPr>
            </a:pPr>
            <a:r>
              <a:rPr sz="1013" b="1">
                <a:solidFill>
                  <a:srgbClr val="062B58"/>
                </a:solidFill>
              </a:rPr>
              <a:t>卖出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955060-4DF2-4DA4-92DD-88A6C3BB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67000"/>
            <a:ext cx="2628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3EB52A-3C47-4231-860D-DB19A533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813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62B58"/>
                </a:solidFill>
              </a:defRPr>
            </a:pPr>
            <a:r>
              <a:rPr sz="1013" b="1">
                <a:solidFill>
                  <a:srgbClr val="062B58"/>
                </a:solidFill>
              </a:rPr>
              <a:t>派息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BF7B68-8102-4E6B-B5FE-196AE28D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67000"/>
            <a:ext cx="2628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7549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67BED7-04A0-473B-86EE-17997EBE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813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62B58"/>
                </a:solidFill>
              </a:defRPr>
            </a:pPr>
            <a:r>
              <a:rPr sz="1013" b="1">
                <a:solidFill>
                  <a:srgbClr val="062B58"/>
                </a:solidFill>
              </a:rPr>
              <a:t>利息归本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856749-9879-441B-8238-5913D5DA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2628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A30E29-CC50-43F1-B262-D8DAD8A2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62B58"/>
                </a:solidFill>
              </a:defRPr>
            </a:pPr>
            <a:r>
              <a:rPr sz="1013" b="1">
                <a:solidFill>
                  <a:srgbClr val="062B58"/>
                </a:solidFill>
              </a:rPr>
              <a:t>银行转证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360409-7FCE-4CE6-817F-78E7E8B9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219450"/>
            <a:ext cx="2628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0BE99F-D43F-4C01-8A7F-3008D2C6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33375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62B58"/>
                </a:solidFill>
              </a:defRPr>
            </a:pPr>
            <a:r>
              <a:rPr sz="1013" b="1">
                <a:solidFill>
                  <a:srgbClr val="062B58"/>
                </a:solidFill>
              </a:rPr>
              <a:t>股息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934D4F-BEDE-4503-AEFA-85480A89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19450"/>
            <a:ext cx="2628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7549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0E22A0-449F-4215-B271-956956F3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3375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62B58"/>
                </a:solidFill>
              </a:defRPr>
            </a:pPr>
            <a:r>
              <a:rPr sz="1013" b="1">
                <a:solidFill>
                  <a:srgbClr val="062B58"/>
                </a:solidFill>
              </a:rPr>
              <a:t>打新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5A19ED-6FBC-4A41-B65E-8290D80B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19450"/>
            <a:ext cx="2628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C69DBE-58BF-4DDA-AFF7-32660C94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33375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62B58"/>
                </a:solidFill>
              </a:defRPr>
            </a:pPr>
            <a:r>
              <a:rPr sz="1013" b="1">
                <a:solidFill>
                  <a:srgbClr val="062B58"/>
                </a:solidFill>
              </a:rPr>
              <a:t>送股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80B5F3-766E-4CC4-B8F5-CF5A9F3A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2628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3280C5-DB89-4C9B-8775-7AB479B7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62B58"/>
                </a:solidFill>
              </a:defRPr>
            </a:pPr>
            <a:r>
              <a:rPr sz="1013" b="1">
                <a:solidFill>
                  <a:srgbClr val="062B58"/>
                </a:solidFill>
              </a:rPr>
              <a:t>非申报交易或流水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2697D1-20BB-4BD7-B207-F4D7A8CD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771900"/>
            <a:ext cx="2628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7549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9D859C-0403-411C-91EB-A3B3D6CE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8862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62B58"/>
                </a:solidFill>
              </a:defRPr>
            </a:pPr>
            <a:r>
              <a:rPr sz="1013" b="1">
                <a:solidFill>
                  <a:srgbClr val="062B58"/>
                </a:solidFill>
              </a:rPr>
              <a:t>资金流水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78A2F2-8E68-4ECC-9F9A-A91EAC94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71900"/>
            <a:ext cx="26289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71E4C8-65B3-4065-BD10-02441FD8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86200"/>
            <a:ext cx="2476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62B58"/>
                </a:solidFill>
              </a:defRPr>
            </a:pPr>
            <a:r>
              <a:rPr sz="1013" b="1">
                <a:solidFill>
                  <a:srgbClr val="062B58"/>
                </a:solidFill>
              </a:rPr>
              <a:t>费用扣划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CF4C24-FA83-4B75-91D5-CA42FDD7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09728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333A290-B464-4CB0-A7AD-06CA53FE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01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465FC6-01C7-44B1-AB81-2462B1BD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149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549D"/>
                </a:solidFill>
              </a:defRPr>
            </a:pPr>
            <a:r>
              <a:rPr sz="1200" b="1">
                <a:solidFill>
                  <a:srgbClr val="07549D"/>
                </a:solidFill>
              </a:rPr>
              <a:t>✓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621CA87-E935-4603-B640-DAE91AC2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238750"/>
            <a:ext cx="923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2B58"/>
                </a:solidFill>
              </a:defRPr>
            </a:pPr>
            <a:r>
              <a:rPr sz="1125" b="1">
                <a:solidFill>
                  <a:srgbClr val="062B58"/>
                </a:solidFill>
              </a:rPr>
              <a:t>不同业务类型会影响是否进入申报筛选、是否保留上下文、是否只作为证明材料。</a:t>
            </a:r>
          </a:p>
        </p:txBody>
      </p:sp>
    </p:spTree>
    <p:extLst>
      <p:ext uri="{BB962C8B-B14F-4D97-AF65-F5344CB8AC3E}">
        <p14:creationId xmlns:p14="http://schemas.microsoft.com/office/powerpoint/2010/main" val="4691246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F66F16-303A-449A-932D-A660C4B4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5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2FAE04-0BBA-467C-BE33-DC52FF07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5725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02ABE2-52C5-48BE-814C-F6B36433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 FUND 易方达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F04475-0589-40E2-9C26-2645216A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9075"/>
            <a:ext cx="223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DCE7F4"/>
                </a:solidFill>
              </a:defRPr>
            </a:pPr>
            <a:r>
              <a:rPr sz="1050" b="1">
                <a:solidFill>
                  <a:srgbClr val="DCE7F4"/>
                </a:solidFill>
              </a:rPr>
              <a:t>项目问题与解决 · 提升价值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6B74EC-0F7A-4827-91D3-0CF19A007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D30DF9-A121-4C41-A3E4-1CF55D6E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F93AA"/>
                </a:solidFill>
              </a:defRPr>
            </a:pPr>
            <a:r>
              <a:rPr sz="750" b="1">
                <a:solidFill>
                  <a:srgbClr val="7F93AA"/>
                </a:solidFill>
              </a:rPr>
              <a:t>易方达基金 · 内部交流，请勿外传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72C045-8C5C-4763-AEE2-7CFA1732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7225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F93AA"/>
                </a:solidFill>
              </a:defRPr>
            </a:pPr>
            <a:r>
              <a:rPr sz="900" b="1">
                <a:solidFill>
                  <a:srgbClr val="7F93AA"/>
                </a:solidFill>
              </a:rPr>
              <a:t>07 / 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C272CB-BA03-46EC-957E-9440EAB3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3A78"/>
                </a:solidFill>
              </a:defRPr>
            </a:pPr>
            <a:r>
              <a:rPr sz="1200" b="1">
                <a:solidFill>
                  <a:srgbClr val="073A78"/>
                </a:solidFill>
              </a:rPr>
              <a:t>问题二 | 同类业务呈现不同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AC8E94-EB38-4532-8FD9-39C2F641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62B58"/>
                </a:solidFill>
              </a:defRPr>
            </a:pPr>
            <a:r>
              <a:rPr sz="2700" b="1">
                <a:solidFill>
                  <a:srgbClr val="062B58"/>
                </a:solidFill>
              </a:rPr>
              <a:t>同类业务在不同材料中的呈现不同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423939-E236-4324-BE25-8AA266D4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65AAC8-B55C-4178-A9A2-A56BE2C4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573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8B1281-94D7-412C-B98D-FE92D434D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549D"/>
                </a:solidFill>
              </a:defRPr>
            </a:pPr>
            <a:r>
              <a:rPr sz="1125" b="1">
                <a:solidFill>
                  <a:srgbClr val="07549D"/>
                </a:solidFill>
              </a:rPr>
              <a:t>Q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75A524-0D3A-4679-9AE0-DB7E0BF7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943100"/>
            <a:ext cx="965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963"/>
                </a:solidFill>
              </a:defRPr>
            </a:pPr>
            <a:r>
              <a:rPr sz="1200" b="1">
                <a:solidFill>
                  <a:srgbClr val="163963"/>
                </a:solidFill>
              </a:rPr>
              <a:t>不同券商或登记结算材料对同一业务的表格结构、字段名称和展示顺序并不一致。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9816F7-431B-40B0-B78C-B05567B0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35433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CE1176-8A34-424B-BC76-46280976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3543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A3F9E0-45B8-4249-8EF1-E2A760E6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38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9B5250-E0B3-4668-97C4-F67C4124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432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549D"/>
                </a:solidFill>
              </a:defRPr>
            </a:pPr>
            <a:r>
              <a:rPr sz="1050" b="1">
                <a:solidFill>
                  <a:srgbClr val="07549D"/>
                </a:solidFill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BD6528-8809-448F-965B-03DBD62C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38450"/>
            <a:ext cx="2609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2B58"/>
                </a:solidFill>
              </a:defRPr>
            </a:pPr>
            <a:r>
              <a:rPr sz="1350" b="1">
                <a:solidFill>
                  <a:srgbClr val="062B58"/>
                </a:solidFill>
              </a:rPr>
              <a:t>广发证券对账单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3B014C-4C00-441E-90B2-71A143EF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3086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3B64"/>
                </a:solidFill>
              </a:defRPr>
            </a:pPr>
            <a:r>
              <a:rPr sz="938" b="1">
                <a:solidFill>
                  <a:srgbClr val="173B64"/>
                </a:solidFill>
              </a:rPr>
              <a:t>• 账户、证券、交易流水同页呈现</a:t>
            </a:r>
          </a:p>
          <a:p xmlns:a="http://schemas.openxmlformats.org/drawingml/2006/main">
            <a:pPr algn="l">
              <a:defRPr sz="938" b="1">
                <a:solidFill>
                  <a:srgbClr val="173B64"/>
                </a:solidFill>
              </a:defRPr>
            </a:pPr>
            <a:r>
              <a:rPr sz="938" b="1">
                <a:solidFill>
                  <a:srgbClr val="173B64"/>
                </a:solidFill>
              </a:rPr>
              <a:t>• 日期与发生金额密集排列</a:t>
            </a:r>
          </a:p>
          <a:p xmlns:a="http://schemas.openxmlformats.org/drawingml/2006/main">
            <a:pPr algn="l">
              <a:defRPr sz="938" b="1">
                <a:solidFill>
                  <a:srgbClr val="173B64"/>
                </a:solidFill>
              </a:defRPr>
            </a:pPr>
            <a:r>
              <a:rPr sz="938" b="1">
                <a:solidFill>
                  <a:srgbClr val="173B64"/>
                </a:solidFill>
              </a:rPr>
              <a:t>• 存在摘要和业务名称差异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AB4291-F01B-4CD3-AE09-F79EBDD6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09850"/>
            <a:ext cx="35433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DCACBA-309E-4A49-B2A7-BD0A8AB4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09850"/>
            <a:ext cx="3543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39EF03-0BF8-4F96-9CA3-6A6583FD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38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ED4702-196D-4958-8A84-60031F3E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432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549D"/>
                </a:solidFill>
              </a:defRPr>
            </a:pPr>
            <a:r>
              <a:rPr sz="1050" b="1">
                <a:solidFill>
                  <a:srgbClr val="07549D"/>
                </a:solidFill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3984C8-9A92-405B-8427-C9B40F1C1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38450"/>
            <a:ext cx="2609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2B58"/>
                </a:solidFill>
              </a:defRPr>
            </a:pPr>
            <a:r>
              <a:rPr sz="1350" b="1">
                <a:solidFill>
                  <a:srgbClr val="062B58"/>
                </a:solidFill>
              </a:rPr>
              <a:t>中证登（沪市）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2E2A0D-10DD-4343-A86C-33F50FC0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86150"/>
            <a:ext cx="3086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3B64"/>
                </a:solidFill>
              </a:defRPr>
            </a:pPr>
            <a:r>
              <a:rPr sz="938" b="1">
                <a:solidFill>
                  <a:srgbClr val="173B64"/>
                </a:solidFill>
              </a:rPr>
              <a:t>• 持仓、权益、变动记录分区展示</a:t>
            </a:r>
          </a:p>
          <a:p xmlns:a="http://schemas.openxmlformats.org/drawingml/2006/main">
            <a:pPr algn="l">
              <a:defRPr sz="938" b="1">
                <a:solidFill>
                  <a:srgbClr val="173B64"/>
                </a:solidFill>
              </a:defRPr>
            </a:pPr>
            <a:r>
              <a:rPr sz="938" b="1">
                <a:solidFill>
                  <a:srgbClr val="173B64"/>
                </a:solidFill>
              </a:rPr>
              <a:t>• 部分字段跨行关联</a:t>
            </a:r>
          </a:p>
          <a:p xmlns:a="http://schemas.openxmlformats.org/drawingml/2006/main">
            <a:pPr algn="l">
              <a:defRPr sz="938" b="1">
                <a:solidFill>
                  <a:srgbClr val="173B64"/>
                </a:solidFill>
              </a:defRPr>
            </a:pPr>
            <a:r>
              <a:rPr sz="938" b="1">
                <a:solidFill>
                  <a:srgbClr val="173B64"/>
                </a:solidFill>
              </a:rPr>
              <a:t>• 业务口径需结合上下文判断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AF37D6-B5F0-428F-A5F7-CD0F2CAA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09850"/>
            <a:ext cx="35433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122E1D-F0A6-41C7-97D0-4F59ABEA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09850"/>
            <a:ext cx="3543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76D0E5-B93D-4FC0-86B6-C975EBDC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38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3F1D06-2DAD-464A-B1DD-8E5FAFC9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432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549D"/>
                </a:solidFill>
              </a:defRPr>
            </a:pPr>
            <a:r>
              <a:rPr sz="1050" b="1">
                <a:solidFill>
                  <a:srgbClr val="07549D"/>
                </a:solidFill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BE3601-D511-4297-B122-3CF893CE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38450"/>
            <a:ext cx="2609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2B58"/>
                </a:solidFill>
              </a:defRPr>
            </a:pPr>
            <a:r>
              <a:rPr sz="1350" b="1">
                <a:solidFill>
                  <a:srgbClr val="062B58"/>
                </a:solidFill>
              </a:rPr>
              <a:t>中证登（深市）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B074F2-837B-4EB7-B4B4-3ECF5F9C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86150"/>
            <a:ext cx="30861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3B64"/>
                </a:solidFill>
              </a:defRPr>
            </a:pPr>
            <a:r>
              <a:rPr sz="938" b="1">
                <a:solidFill>
                  <a:srgbClr val="173B64"/>
                </a:solidFill>
              </a:rPr>
              <a:t>• 证券代码、权益事件和流水混排</a:t>
            </a:r>
          </a:p>
          <a:p xmlns:a="http://schemas.openxmlformats.org/drawingml/2006/main">
            <a:pPr algn="l">
              <a:defRPr sz="938" b="1">
                <a:solidFill>
                  <a:srgbClr val="173B64"/>
                </a:solidFill>
              </a:defRPr>
            </a:pPr>
            <a:r>
              <a:rPr sz="938" b="1">
                <a:solidFill>
                  <a:srgbClr val="173B64"/>
                </a:solidFill>
              </a:rPr>
              <a:t>• 表格行列关系更依赖版面</a:t>
            </a:r>
          </a:p>
          <a:p xmlns:a="http://schemas.openxmlformats.org/drawingml/2006/main">
            <a:pPr algn="l">
              <a:defRPr sz="938" b="1">
                <a:solidFill>
                  <a:srgbClr val="173B64"/>
                </a:solidFill>
              </a:defRPr>
            </a:pPr>
            <a:r>
              <a:rPr sz="938" b="1">
                <a:solidFill>
                  <a:srgbClr val="173B64"/>
                </a:solidFill>
              </a:rPr>
              <a:t>• 需要保留页码和区域证据</a:t>
            </a:r>
          </a:p>
        </p:txBody>
      </p:sp>
    </p:spTree>
    <p:extLst>
      <p:ext uri="{BB962C8B-B14F-4D97-AF65-F5344CB8AC3E}">
        <p14:creationId xmlns:p14="http://schemas.microsoft.com/office/powerpoint/2010/main" val="17387208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CC9985-3A7A-4D28-BB70-08233A28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5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A289EC-FEFD-4E6D-8B5E-5599117E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5725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45D206-E0F6-4CF2-BCC9-382AD299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 FUND 易方达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09AEDF-CFBD-4549-B912-662D4726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9075"/>
            <a:ext cx="223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DCE7F4"/>
                </a:solidFill>
              </a:defRPr>
            </a:pPr>
            <a:r>
              <a:rPr sz="1050" b="1">
                <a:solidFill>
                  <a:srgbClr val="DCE7F4"/>
                </a:solidFill>
              </a:rPr>
              <a:t>项目问题与解决 · 提升价值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A0EC60-9EBC-4A21-B40F-ACD10D81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71D600-4A26-49E9-A33C-DEBF5EA5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F93AA"/>
                </a:solidFill>
              </a:defRPr>
            </a:pPr>
            <a:r>
              <a:rPr sz="750" b="1">
                <a:solidFill>
                  <a:srgbClr val="7F93AA"/>
                </a:solidFill>
              </a:rPr>
              <a:t>易方达基金 · 内部交流，请勿外传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746519-29D0-4931-8478-75AE312C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7225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F93AA"/>
                </a:solidFill>
              </a:defRPr>
            </a:pPr>
            <a:r>
              <a:rPr sz="900" b="1">
                <a:solidFill>
                  <a:srgbClr val="7F93AA"/>
                </a:solidFill>
              </a:rPr>
              <a:t>08 / 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A0676E-F0A0-4C4B-B009-4E62B752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3A78"/>
                </a:solidFill>
              </a:defRPr>
            </a:pPr>
            <a:r>
              <a:rPr sz="1200" b="1">
                <a:solidFill>
                  <a:srgbClr val="073A78"/>
                </a:solidFill>
              </a:rPr>
              <a:t>解决二 | 事件分类规则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5E022E-3961-4D68-96CF-6DA0A24E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62B58"/>
                </a:solidFill>
              </a:defRPr>
            </a:pPr>
            <a:r>
              <a:rPr sz="2700" b="1">
                <a:solidFill>
                  <a:srgbClr val="062B58"/>
                </a:solidFill>
              </a:rPr>
              <a:t>建立事件分类和申报筛选规则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2E59C8-4962-4FAA-B48B-24E6D70A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436425-E630-4BE3-88D0-852CE0DA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573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D41FE3-BF62-4B55-BB34-8D2381C3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549D"/>
                </a:solidFill>
              </a:defRPr>
            </a:pPr>
            <a:r>
              <a:rPr sz="1125" b="1">
                <a:solidFill>
                  <a:srgbClr val="07549D"/>
                </a:solidFill>
              </a:rPr>
              <a:t>Q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2EAFDA-FFBC-4AAF-9526-3591572A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943100"/>
            <a:ext cx="965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963"/>
                </a:solidFill>
              </a:defRPr>
            </a:pPr>
            <a:r>
              <a:rPr sz="1200" b="1">
                <a:solidFill>
                  <a:srgbClr val="163963"/>
                </a:solidFill>
              </a:rPr>
              <a:t>先完整抽取，再分类筛选，既避免漏报，也避免把资金流水误当成证券交易申报。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02C6C5-C9E2-441A-82DE-8DC1D8D9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35433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2DDA6E-1D0B-49FB-AC1D-71B339AF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3543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B48659-1145-467C-ABED-EFE0B1F0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910077-10ED-4765-8018-130F91EF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194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549D"/>
                </a:solidFill>
              </a:defRPr>
            </a:pPr>
            <a:r>
              <a:rPr sz="1050" b="1">
                <a:solidFill>
                  <a:srgbClr val="07549D"/>
                </a:solidFill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824A77-2EB7-4603-86C0-294F5201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14650"/>
            <a:ext cx="2609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2B58"/>
                </a:solidFill>
              </a:defRPr>
            </a:pPr>
            <a:r>
              <a:rPr sz="1350" b="1">
                <a:solidFill>
                  <a:srgbClr val="062B58"/>
                </a:solidFill>
              </a:rPr>
              <a:t>重点申报事件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A21269-0F5E-4B48-B9B2-450D278F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8135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4A73"/>
                </a:solidFill>
              </a:defRPr>
            </a:pPr>
            <a:r>
              <a:rPr sz="900" b="1">
                <a:solidFill>
                  <a:srgbClr val="244A73"/>
                </a:solidFill>
              </a:rPr>
              <a:t>买入、卖出、配股、打新、送股等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D1F3B9-ADEC-4946-8E08-3112B1C2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86050"/>
            <a:ext cx="35433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3FE206-38DF-4290-8B2D-8AECBD67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86050"/>
            <a:ext cx="3543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399131-9467-4E21-A8C4-C1E7CC68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14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1F9878-C8F6-4537-838B-333FFDD5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194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549D"/>
                </a:solidFill>
              </a:defRPr>
            </a:pPr>
            <a:r>
              <a:rPr sz="1050" b="1">
                <a:solidFill>
                  <a:srgbClr val="07549D"/>
                </a:solidFill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51066D-2C70-4B15-8714-1F77A876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14650"/>
            <a:ext cx="2609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2B58"/>
                </a:solidFill>
              </a:defRPr>
            </a:pPr>
            <a:r>
              <a:rPr sz="1350" b="1">
                <a:solidFill>
                  <a:srgbClr val="062B58"/>
                </a:solidFill>
              </a:rPr>
              <a:t>保留观察事件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46F9D9-CD0F-4D91-9D5A-FF381B08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8135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4A73"/>
                </a:solidFill>
              </a:defRPr>
            </a:pPr>
            <a:r>
              <a:rPr sz="900" b="1">
                <a:solidFill>
                  <a:srgbClr val="244A73"/>
                </a:solidFill>
              </a:rPr>
              <a:t>分红、派息、利息、资金变动等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BA9116-EE37-49D5-B1F1-637A5985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86050"/>
            <a:ext cx="35433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AA8427-AA7A-41E3-A6F2-53D308BFA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86050"/>
            <a:ext cx="3543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CB4125-ADFE-476E-B89A-B8D67E65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14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FD2556-CFA8-425C-B9DD-C22FC3D4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194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549D"/>
                </a:solidFill>
              </a:defRPr>
            </a:pPr>
            <a:r>
              <a:rPr sz="1050" b="1">
                <a:solidFill>
                  <a:srgbClr val="07549D"/>
                </a:solidFill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7C30BE-EA84-4860-84A0-AD08275A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14650"/>
            <a:ext cx="2609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2B58"/>
                </a:solidFill>
              </a:defRPr>
            </a:pPr>
            <a:r>
              <a:rPr sz="1350" b="1">
                <a:solidFill>
                  <a:srgbClr val="062B58"/>
                </a:solidFill>
              </a:rPr>
              <a:t>非申报流水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72A8DE-547F-4590-81F2-BDF3E3A9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81350"/>
            <a:ext cx="260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4A73"/>
                </a:solidFill>
              </a:defRPr>
            </a:pPr>
            <a:r>
              <a:rPr sz="900" b="1">
                <a:solidFill>
                  <a:srgbClr val="244A73"/>
                </a:solidFill>
              </a:rPr>
              <a:t>银证转账、利息归本等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BC8D46-38B6-482A-BA17-8F80A325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248602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73A78"/>
          </a:solidFill>
          <a:ln xmlns:a="http://schemas.openxmlformats.org/drawingml/2006/main" w="9525">
            <a:solidFill>
              <a:srgbClr val="073A7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5B93C0-A99E-4C97-8DA1-8BF6EA4C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67325"/>
            <a:ext cx="2371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完整抽取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3522FB-F136-46FF-9CC1-D69B7B7A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2292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758BA5"/>
                </a:solidFill>
              </a:defRPr>
            </a:pPr>
            <a:r>
              <a:rPr sz="1725" b="0">
                <a:solidFill>
                  <a:srgbClr val="758BA5"/>
                </a:solidFill>
              </a:rPr>
              <a:t>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BCDF5C-DFA8-4DCF-B57C-7C553C44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5162550"/>
            <a:ext cx="248602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73A78"/>
          </a:solidFill>
          <a:ln xmlns:a="http://schemas.openxmlformats.org/drawingml/2006/main" w="9525">
            <a:solidFill>
              <a:srgbClr val="073A7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F51362-DF2C-4C08-9BC2-0428BA13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5267325"/>
            <a:ext cx="2371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事件分类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365CC9-021E-446B-A8E3-B0F26929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52292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758BA5"/>
                </a:solidFill>
              </a:defRPr>
            </a:pPr>
            <a:r>
              <a:rPr sz="1725" b="0">
                <a:solidFill>
                  <a:srgbClr val="758BA5"/>
                </a:solidFill>
              </a:rPr>
              <a:t>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7C7ACD-EAE7-4890-8978-394497EC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162550"/>
            <a:ext cx="248602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73A78"/>
          </a:solidFill>
          <a:ln xmlns:a="http://schemas.openxmlformats.org/drawingml/2006/main" w="9525">
            <a:solidFill>
              <a:srgbClr val="073A7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BBB2588-CA5B-46F7-982E-41F6E667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67325"/>
            <a:ext cx="2371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判断持仓影响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DA7097C-A0B2-401E-A22E-CB437EF3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229225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758BA5"/>
                </a:solidFill>
              </a:defRPr>
            </a:pPr>
            <a:r>
              <a:rPr sz="1725" b="0">
                <a:solidFill>
                  <a:srgbClr val="758BA5"/>
                </a:solidFill>
              </a:rPr>
              <a:t>→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9BA7621-48F9-40C6-9223-83772263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162550"/>
            <a:ext cx="2486025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73A78"/>
          </a:solidFill>
          <a:ln xmlns:a="http://schemas.openxmlformats.org/drawingml/2006/main" w="9525">
            <a:solidFill>
              <a:srgbClr val="073A7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3C74400-686E-4817-86D8-71F87BAEE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267325"/>
            <a:ext cx="23717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生成最终表与完整表</a:t>
            </a:r>
          </a:p>
        </p:txBody>
      </p:sp>
    </p:spTree>
    <p:extLst>
      <p:ext uri="{BB962C8B-B14F-4D97-AF65-F5344CB8AC3E}">
        <p14:creationId xmlns:p14="http://schemas.microsoft.com/office/powerpoint/2010/main" val="1125125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011D81-7167-44A5-A859-C7B8C0A7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5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03B9AF-AC7D-44BE-B76C-F4AE0CBA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5725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F5A08E-D9B1-4D55-BDB3-93BCEF1B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 FUND 易方达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DE3798-8ADF-4BF9-AC89-4B6D0D44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9075"/>
            <a:ext cx="223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DCE7F4"/>
                </a:solidFill>
              </a:defRPr>
            </a:pPr>
            <a:r>
              <a:rPr sz="1050" b="1">
                <a:solidFill>
                  <a:srgbClr val="DCE7F4"/>
                </a:solidFill>
              </a:rPr>
              <a:t>项目问题与解决 · 提升价值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5DE739-1D48-4CF8-8554-9608333E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84E8A9-372E-4E14-B9BF-7D721871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F93AA"/>
                </a:solidFill>
              </a:defRPr>
            </a:pPr>
            <a:r>
              <a:rPr sz="750" b="1">
                <a:solidFill>
                  <a:srgbClr val="7F93AA"/>
                </a:solidFill>
              </a:rPr>
              <a:t>易方达基金 · 内部交流，请勿外传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4A9F1C-953A-40B5-B6C3-2CE3DF24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7225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F93AA"/>
                </a:solidFill>
              </a:defRPr>
            </a:pPr>
            <a:r>
              <a:rPr sz="900" b="1">
                <a:solidFill>
                  <a:srgbClr val="7F93AA"/>
                </a:solidFill>
              </a:rPr>
              <a:t>09 / 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EBBA0C-7E30-43F3-8604-8B748A88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3A78"/>
                </a:solidFill>
              </a:defRPr>
            </a:pPr>
            <a:r>
              <a:rPr sz="1200" b="1">
                <a:solidFill>
                  <a:srgbClr val="073A78"/>
                </a:solidFill>
              </a:rPr>
              <a:t>解决二 | Graph RAG 上下文增强层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5FA846-5E59-426F-B3EA-3F7603C7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2B58"/>
                </a:solidFill>
              </a:defRPr>
            </a:pPr>
            <a:r>
              <a:rPr sz="2400" b="1">
                <a:solidFill>
                  <a:srgbClr val="062B58"/>
                </a:solidFill>
              </a:rPr>
              <a:t>Graph RAG：让 AI 理解业务字段之间的关联关系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356BBA-EACD-4276-A42D-9624566D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8D2D24-4C52-47EA-A298-09E35DD5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573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60BAF0-2E68-43AB-B12C-FFD88660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549D"/>
                </a:solidFill>
              </a:defRPr>
            </a:pPr>
            <a:r>
              <a:rPr sz="1125" b="1">
                <a:solidFill>
                  <a:srgbClr val="07549D"/>
                </a:solidFill>
              </a:rPr>
              <a:t>Q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EAC645-2F3D-4D13-8CE4-4D84F704B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943100"/>
            <a:ext cx="965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963"/>
                </a:solidFill>
              </a:defRPr>
            </a:pPr>
            <a:r>
              <a:rPr sz="1200" b="1">
                <a:solidFill>
                  <a:srgbClr val="163963"/>
                </a:solidFill>
              </a:rPr>
              <a:t>使用 Graph RAG 让交易、持仓、分红、账户和证券代码在同一关系网络中被召回和解释。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43D60A-A8AA-46F5-97DA-D5C8340D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981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AD77E9-7847-45E1-8365-FA5ADE94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2B58"/>
                </a:solidFill>
              </a:defRPr>
            </a:pPr>
            <a:r>
              <a:rPr sz="900" b="1">
                <a:solidFill>
                  <a:srgbClr val="062B58"/>
                </a:solidFill>
              </a:rPr>
              <a:t>OCR / 表格结果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F34205-880A-4C04-BFAE-57FDCDB9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6860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758BA5"/>
                </a:solidFill>
              </a:defRPr>
            </a:pPr>
            <a:r>
              <a:rPr sz="1725" b="0">
                <a:solidFill>
                  <a:srgbClr val="758BA5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590101-DF04-442C-8A34-07C98A36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90800"/>
            <a:ext cx="1981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F2BF91-3655-4377-9E92-9671B57A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72415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2B58"/>
                </a:solidFill>
              </a:defRPr>
            </a:pPr>
            <a:r>
              <a:rPr sz="900" b="1">
                <a:solidFill>
                  <a:srgbClr val="062B58"/>
                </a:solidFill>
              </a:rPr>
              <a:t>Chunk / 向量化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093865-09D1-4644-B536-0CCA3084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6860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758BA5"/>
                </a:solidFill>
              </a:defRPr>
            </a:pPr>
            <a:r>
              <a:rPr sz="1725" b="0">
                <a:solidFill>
                  <a:srgbClr val="758BA5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F04E80-32C8-4EC2-907F-0B01ACA54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590800"/>
            <a:ext cx="1981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9F2341-AFD3-4147-BB61-2B7380B4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72415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2B58"/>
                </a:solidFill>
              </a:defRPr>
            </a:pPr>
            <a:r>
              <a:rPr sz="900" b="1">
                <a:solidFill>
                  <a:srgbClr val="062B58"/>
                </a:solidFill>
              </a:rPr>
              <a:t>相似度检索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0D8779-F0C2-4F7D-9011-1A7EA051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6860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758BA5"/>
                </a:solidFill>
              </a:defRPr>
            </a:pPr>
            <a:r>
              <a:rPr sz="1725" b="0">
                <a:solidFill>
                  <a:srgbClr val="758BA5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F9E4E1-9634-4B2E-9932-7A5EC416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90800"/>
            <a:ext cx="1981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23E029-BEC2-474A-9C7B-2A346B33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2415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2B58"/>
                </a:solidFill>
              </a:defRPr>
            </a:pPr>
            <a:r>
              <a:rPr sz="900" b="1">
                <a:solidFill>
                  <a:srgbClr val="062B58"/>
                </a:solidFill>
              </a:rPr>
              <a:t>图关系扩展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88FD8D-5757-496A-9F8B-BEE17AD0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6860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758BA5"/>
                </a:solidFill>
              </a:defRPr>
            </a:pPr>
            <a:r>
              <a:rPr sz="1725" b="0">
                <a:solidFill>
                  <a:srgbClr val="758BA5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F991AA-BDB3-4F10-B5DF-93EFA2C4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90800"/>
            <a:ext cx="1981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6B8D77-5D97-477F-BB7E-C37EE3CE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72415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2B58"/>
                </a:solidFill>
              </a:defRPr>
            </a:pPr>
            <a:r>
              <a:rPr sz="900" b="1">
                <a:solidFill>
                  <a:srgbClr val="062B58"/>
                </a:solidFill>
              </a:rPr>
              <a:t>LLM 抽取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EB83A2-587B-4286-994E-CEDA0940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5334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5B33EF-E692-4CFD-93C0-44E2FA68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2B58"/>
                </a:solidFill>
              </a:defRPr>
            </a:pPr>
            <a:r>
              <a:rPr sz="1275" b="1">
                <a:solidFill>
                  <a:srgbClr val="062B58"/>
                </a:solidFill>
              </a:rPr>
              <a:t>图结构扩展的实体关系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D48066-639F-49C7-8B75-37D33CFE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286250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CB2C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02876C-D26A-4816-B88A-A748B1C5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28625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CB2C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992A47-3DCD-4172-8CEE-7CCF73B8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8763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DFF3F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D51C1C-9F99-49FB-BFC0-CFD0D320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71950"/>
            <a:ext cx="1143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2B58"/>
                </a:solidFill>
              </a:defRPr>
            </a:pPr>
            <a:r>
              <a:rPr sz="900" b="1">
                <a:solidFill>
                  <a:srgbClr val="062B58"/>
                </a:solidFill>
              </a:rPr>
              <a:t>账户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7FD6F0C-E735-40FA-A1AF-32236ED9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95750"/>
            <a:ext cx="8763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DFF3F8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FDDE2A3-ECEF-42FE-9F60-9368C854A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171950"/>
            <a:ext cx="1143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2B58"/>
                </a:solidFill>
              </a:defRPr>
            </a:pPr>
            <a:r>
              <a:rPr sz="900" b="1">
                <a:solidFill>
                  <a:srgbClr val="062B58"/>
                </a:solidFill>
              </a:rPr>
              <a:t>证券代码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235DA9-E188-43CF-B68F-1D17A72D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95750"/>
            <a:ext cx="8763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2D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6032E3-678B-44FE-8C0A-1E132F4F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71950"/>
            <a:ext cx="1143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2B58"/>
                </a:solidFill>
              </a:defRPr>
            </a:pPr>
            <a:r>
              <a:rPr sz="900" b="1">
                <a:solidFill>
                  <a:srgbClr val="062B58"/>
                </a:solidFill>
              </a:rPr>
              <a:t>交易事件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5B9AD43-7140-4C57-8920-A392F61E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00600"/>
            <a:ext cx="8763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2D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21309A8-7E13-4B9D-BBD4-7492CECF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876800"/>
            <a:ext cx="1143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2B58"/>
                </a:solidFill>
              </a:defRPr>
            </a:pPr>
            <a:r>
              <a:rPr sz="900" b="1">
                <a:solidFill>
                  <a:srgbClr val="062B58"/>
                </a:solidFill>
              </a:rPr>
              <a:t>持仓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4C3FBF0-D185-481D-BE6C-A2EB195F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800600"/>
            <a:ext cx="12954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FF2D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66626B8-3EEB-414A-9828-DDBC5F9F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76800"/>
            <a:ext cx="1143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2B58"/>
                </a:solidFill>
              </a:defRPr>
            </a:pPr>
            <a:r>
              <a:rPr sz="900" b="1">
                <a:solidFill>
                  <a:srgbClr val="062B58"/>
                </a:solidFill>
              </a:rPr>
              <a:t>分红 / 利息事件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43DD772-B3BD-4A42-A08D-5F497B54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05400"/>
            <a:ext cx="49530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73A78"/>
          </a:solidFill>
          <a:ln xmlns:a="http://schemas.openxmlformats.org/drawingml/2006/main" w="9525">
            <a:solidFill>
              <a:srgbClr val="073A7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2B3C517-6ACA-4176-89FD-822D4AE1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00650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FFFFF"/>
                </a:solidFill>
              </a:defRPr>
            </a:pPr>
            <a:r>
              <a:rPr sz="638" b="1">
                <a:solidFill>
                  <a:srgbClr val="FFFFFF"/>
                </a:solidFill>
              </a:rPr>
              <a:t>Embedding：BAAI/bge-small-zh-v1.5；图结构在检索结果基础上，沿账户、证券代码、交易 / 分红 / 利息事件关系扩展上下文。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3B0E4B5-807F-4753-9D70-37289AAB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76600"/>
            <a:ext cx="54483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EAB51D2-8245-4351-BE75-E2C0B03B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861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2B58"/>
                </a:solidFill>
              </a:defRPr>
            </a:pPr>
            <a:r>
              <a:rPr sz="1275" b="1">
                <a:solidFill>
                  <a:srgbClr val="062B58"/>
                </a:solidFill>
              </a:rPr>
              <a:t>相比普通 RAG 的项目优势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95D8CE1-7685-4836-A57E-5A9B89C5A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243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2B58"/>
                </a:solidFill>
              </a:defRPr>
            </a:pPr>
            <a:r>
              <a:rPr sz="1125" b="1">
                <a:solidFill>
                  <a:srgbClr val="062B58"/>
                </a:solidFill>
              </a:rPr>
              <a:t>提高召回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E273FD4-C1FD-4BFE-BAA5-A38C398E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8481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F93AA"/>
                </a:solidFill>
              </a:defRPr>
            </a:pPr>
            <a:r>
              <a:rPr sz="825" b="1">
                <a:solidFill>
                  <a:srgbClr val="7F93AA"/>
                </a:solidFill>
              </a:rPr>
              <a:t>普通 RAG：只按文本相似度找片段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2ABE697-A06C-427C-986D-6DA47712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767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5DC310C-32DB-46A1-99EB-2EAC3F1E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24325"/>
            <a:ext cx="3333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7549D"/>
                </a:solidFill>
              </a:defRPr>
            </a:pPr>
            <a:r>
              <a:rPr sz="788" b="1">
                <a:solidFill>
                  <a:srgbClr val="07549D"/>
                </a:solidFill>
              </a:rPr>
              <a:t>Graph RAG：检索后沿实体关系补相关片段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7EA2416-2367-4B36-A781-41F542A7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7675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2B58"/>
                </a:solidFill>
              </a:defRPr>
            </a:pPr>
            <a:r>
              <a:rPr sz="1125" b="1">
                <a:solidFill>
                  <a:srgbClr val="062B58"/>
                </a:solidFill>
              </a:rPr>
              <a:t>增强关联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AEDC689-5E27-4D49-9C26-4A1DC0E7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4005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F93AA"/>
                </a:solidFill>
              </a:defRPr>
            </a:pPr>
            <a:r>
              <a:rPr sz="825" b="1">
                <a:solidFill>
                  <a:srgbClr val="7F93AA"/>
                </a:solidFill>
              </a:rPr>
              <a:t>普通 RAG：跨页信息容易断开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FB8BA9D-F909-4D07-962A-BDDFBD92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6291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61BEA23-44F9-4F0F-B903-01EE76C9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76775"/>
            <a:ext cx="3333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7549D"/>
                </a:solidFill>
              </a:defRPr>
            </a:pPr>
            <a:r>
              <a:rPr sz="788" b="1">
                <a:solidFill>
                  <a:srgbClr val="07549D"/>
                </a:solidFill>
              </a:rPr>
              <a:t>Graph RAG：把同账户、同证券、同事件连起来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4A5F83C-119C-4867-AC03-0F30B932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02920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2B58"/>
                </a:solidFill>
              </a:defRPr>
            </a:pPr>
            <a:r>
              <a:rPr sz="1125" b="1">
                <a:solidFill>
                  <a:srgbClr val="062B58"/>
                </a:solidFill>
              </a:rPr>
              <a:t>减少干扰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3F9487B-8B94-4700-9F77-A9963008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95300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F93AA"/>
                </a:solidFill>
              </a:defRPr>
            </a:pPr>
            <a:r>
              <a:rPr sz="825" b="1">
                <a:solidFill>
                  <a:srgbClr val="7F93AA"/>
                </a:solidFill>
              </a:rPr>
              <a:t>普通 RAG：Top-K 片段仍混入无关 OCR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A6EBA74-FBD8-4246-A77B-719AE444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1816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025EED6-BB8C-42A1-82D4-62C2DE47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29225"/>
            <a:ext cx="33337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7549D"/>
                </a:solidFill>
              </a:defRPr>
            </a:pPr>
            <a:r>
              <a:rPr sz="788" b="1">
                <a:solidFill>
                  <a:srgbClr val="07549D"/>
                </a:solidFill>
              </a:rPr>
              <a:t>Graph RAG：实体扩展后只保留相关局部上下文</a:t>
            </a:r>
          </a:p>
        </p:txBody>
      </p:sp>
    </p:spTree>
    <p:extLst>
      <p:ext uri="{BB962C8B-B14F-4D97-AF65-F5344CB8AC3E}">
        <p14:creationId xmlns:p14="http://schemas.microsoft.com/office/powerpoint/2010/main" val="16368463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07BDC5-2365-4B21-BB63-74E5B0A7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5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3E364A-D83D-4C9A-AAF3-869C0F4D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5725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C80077-4005-4675-9B3E-C01C9754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 FUND 易方达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3DF235-2BAE-4E45-AE5A-23D4986E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9075"/>
            <a:ext cx="223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DCE7F4"/>
                </a:solidFill>
              </a:defRPr>
            </a:pPr>
            <a:r>
              <a:rPr sz="1050" b="1">
                <a:solidFill>
                  <a:srgbClr val="DCE7F4"/>
                </a:solidFill>
              </a:rPr>
              <a:t>项目问题与解决 · 提升价值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99EB61-3371-4841-83E3-0F6BF780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1CE0D8-DDF8-407E-87EA-D2571619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F93AA"/>
                </a:solidFill>
              </a:defRPr>
            </a:pPr>
            <a:r>
              <a:rPr sz="750" b="1">
                <a:solidFill>
                  <a:srgbClr val="7F93AA"/>
                </a:solidFill>
              </a:rPr>
              <a:t>易方达基金 · 内部交流，请勿外传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F4C9D9-21CF-4B47-901C-E2160560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7225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F93AA"/>
                </a:solidFill>
              </a:defRPr>
            </a:pPr>
            <a:r>
              <a:rPr sz="900" b="1">
                <a:solidFill>
                  <a:srgbClr val="7F93AA"/>
                </a:solidFill>
              </a:rPr>
              <a:t>10 / 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EAF24F-D626-4D2B-822E-55BE0B73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3A78"/>
                </a:solidFill>
              </a:defRPr>
            </a:pPr>
            <a:r>
              <a:rPr sz="1200" b="1">
                <a:solidFill>
                  <a:srgbClr val="073A78"/>
                </a:solidFill>
              </a:rPr>
              <a:t>问题三 | AI 幻觉与误判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AA4D97-18C4-408D-ACCE-ADE7906E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62B58"/>
                </a:solidFill>
              </a:defRPr>
            </a:pPr>
            <a:r>
              <a:rPr sz="2700" b="1">
                <a:solidFill>
                  <a:srgbClr val="062B58"/>
                </a:solidFill>
              </a:rPr>
              <a:t>AI 幻觉和误判风险必须可控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4CAA30-CA75-48CA-83AE-9E0206E1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9338A-B4DA-4A07-B52F-5B2231D4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573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161775-472B-456E-9ED3-A9FB80EC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549D"/>
                </a:solidFill>
              </a:defRPr>
            </a:pPr>
            <a:r>
              <a:rPr sz="1125" b="1">
                <a:solidFill>
                  <a:srgbClr val="07549D"/>
                </a:solidFill>
              </a:rPr>
              <a:t>Q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73D5E7-B4E7-42B0-8BC8-5251FA8A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943100"/>
            <a:ext cx="965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963"/>
                </a:solidFill>
              </a:defRPr>
            </a:pPr>
            <a:r>
              <a:rPr sz="1200" b="1">
                <a:solidFill>
                  <a:srgbClr val="163963"/>
                </a:solidFill>
              </a:rPr>
              <a:t>对于合规申报系统，AI 不能只追求“看起来完整”，结果必须可复核、可追溯、可纠错。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B97814-88F6-4E21-A57D-D23B4639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35433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D8F1F9-5038-4986-BD81-27EE2AB9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3543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8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6C808A-9D27-48CA-9AF4-F35DB98B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8575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F93AA"/>
                </a:solidFill>
              </a:defRPr>
            </a:pPr>
            <a:r>
              <a:rPr sz="1050" b="1">
                <a:solidFill>
                  <a:srgbClr val="7F93AA"/>
                </a:solidFill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3EC1F1-F3EA-4DC5-92A1-01FFF89C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1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F5A745-F30C-4158-A96A-4ADF6B6F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7657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87817"/>
                </a:solidFill>
              </a:defRPr>
            </a:pPr>
            <a:r>
              <a:rPr sz="1050" b="1">
                <a:solidFill>
                  <a:srgbClr val="E87817"/>
                </a:solidFill>
              </a:rPr>
              <a:t>!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84B984-7F00-4F23-AD0D-B2DC4E8D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90850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2B58"/>
                </a:solidFill>
              </a:defRPr>
            </a:pPr>
            <a:r>
              <a:rPr sz="1125" b="1">
                <a:solidFill>
                  <a:srgbClr val="062B58"/>
                </a:solidFill>
              </a:rPr>
              <a:t>把红利、利息误认为买入或卖出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A45778-4F67-42A1-9CDB-610B190F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05100"/>
            <a:ext cx="35433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0B7299-25EE-47BD-819F-72F15EA3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05100"/>
            <a:ext cx="3543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8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50AFDB-F030-490B-8112-E327473D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8575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F93AA"/>
                </a:solidFill>
              </a:defRPr>
            </a:pPr>
            <a:r>
              <a:rPr sz="1050" b="1">
                <a:solidFill>
                  <a:srgbClr val="7F93AA"/>
                </a:solidFill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9044FC-E9F0-4349-AEE0-C8ED228C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71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64F455-4D00-49CD-844A-BF5600A6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7657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87817"/>
                </a:solidFill>
              </a:defRPr>
            </a:pPr>
            <a:r>
              <a:rPr sz="1050" b="1">
                <a:solidFill>
                  <a:srgbClr val="E87817"/>
                </a:solidFill>
              </a:rPr>
              <a:t>!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8569FF-7FFE-4C74-9C9F-9EF4836C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990850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2B58"/>
                </a:solidFill>
              </a:defRPr>
            </a:pPr>
            <a:r>
              <a:rPr sz="1125" b="1">
                <a:solidFill>
                  <a:srgbClr val="062B58"/>
                </a:solidFill>
              </a:rPr>
              <a:t>把银证转账误认为证券交易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368399-A0A6-44C3-A1FA-8923E38E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05100"/>
            <a:ext cx="35433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33F0BE-D593-420B-85BB-2538402B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05100"/>
            <a:ext cx="3543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8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81214B-92E0-4E8B-B204-CEEC7CE1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8575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F93AA"/>
                </a:solidFill>
              </a:defRPr>
            </a:pPr>
            <a:r>
              <a:rPr sz="1050" b="1">
                <a:solidFill>
                  <a:srgbClr val="7F93AA"/>
                </a:solidFill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D9A140-C9A6-4C52-ABE7-3595A67E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718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0CC87F-86E4-4ED6-873A-C19A8249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7657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87817"/>
                </a:solidFill>
              </a:defRPr>
            </a:pPr>
            <a:r>
              <a:rPr sz="1050" b="1">
                <a:solidFill>
                  <a:srgbClr val="E87817"/>
                </a:solidFill>
              </a:rPr>
              <a:t>!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959E90-1FC8-41D1-8AF2-6A379141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90850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2B58"/>
                </a:solidFill>
              </a:defRPr>
            </a:pPr>
            <a:r>
              <a:rPr sz="1125" b="1">
                <a:solidFill>
                  <a:srgbClr val="062B58"/>
                </a:solidFill>
              </a:rPr>
              <a:t>字段缺失时自行推断金额、价格或日期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1A084A-42EC-4E0C-BA6F-1CE17F39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35433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B124C1-BF50-49CC-8167-BEACF712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3543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8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C58248-D81C-4E1E-A57D-03D884AC2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0386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F93AA"/>
                </a:solidFill>
              </a:defRPr>
            </a:pPr>
            <a:r>
              <a:rPr sz="1050" b="1">
                <a:solidFill>
                  <a:srgbClr val="7F93AA"/>
                </a:solidFill>
              </a:rPr>
              <a:t>04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13FCAB-3D21-4E9D-A17F-EEB334A06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387D459-02D6-464E-A073-E46AF772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5767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87817"/>
                </a:solidFill>
              </a:defRPr>
            </a:pPr>
            <a:r>
              <a:rPr sz="1050" b="1">
                <a:solidFill>
                  <a:srgbClr val="E87817"/>
                </a:solidFill>
              </a:rPr>
              <a:t>!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FB379C-86CA-4B24-B354-3F1D4417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71950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2B58"/>
                </a:solidFill>
              </a:defRPr>
            </a:pPr>
            <a:r>
              <a:rPr sz="1125" b="1">
                <a:solidFill>
                  <a:srgbClr val="062B58"/>
                </a:solidFill>
              </a:rPr>
              <a:t>将相似业务类型混淆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437865-EAFE-4A15-8AD9-4DB39A44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86200"/>
            <a:ext cx="35433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7D61A4-BF8E-4A59-8893-FFAB399B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86200"/>
            <a:ext cx="3543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8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965375A-C2FB-4E38-94A5-26C92FEB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0386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F93AA"/>
                </a:solidFill>
              </a:defRPr>
            </a:pPr>
            <a:r>
              <a:rPr sz="1050" b="1">
                <a:solidFill>
                  <a:srgbClr val="7F93AA"/>
                </a:solidFill>
              </a:rPr>
              <a:t>05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82D14BA-F68A-4607-8C16-63B64406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52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015FB15-BA36-4C13-9C63-CF830A88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5767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87817"/>
                </a:solidFill>
              </a:defRPr>
            </a:pPr>
            <a:r>
              <a:rPr sz="1050" b="1">
                <a:solidFill>
                  <a:srgbClr val="E87817"/>
                </a:solidFill>
              </a:rPr>
              <a:t>!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70F3835-96B9-44CB-A4E1-04F31C0A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171950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2B58"/>
                </a:solidFill>
              </a:defRPr>
            </a:pPr>
            <a:r>
              <a:rPr sz="1125" b="1">
                <a:solidFill>
                  <a:srgbClr val="062B58"/>
                </a:solidFill>
              </a:rPr>
              <a:t>上下行表格信息错误关联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2C63740-87AA-4F89-A525-F26F8656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86200"/>
            <a:ext cx="35433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33C885E-BC02-4E44-9824-A688458A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86200"/>
            <a:ext cx="3543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8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59455B9-4337-4A41-B7CA-B4AF635A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038600"/>
            <a:ext cx="304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F93AA"/>
                </a:solidFill>
              </a:defRPr>
            </a:pPr>
            <a:r>
              <a:rPr sz="1050" b="1">
                <a:solidFill>
                  <a:srgbClr val="7F93AA"/>
                </a:solidFill>
              </a:rPr>
              <a:t>06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13E19B4-3B52-4FE3-8CB0-0353FC6E2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52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E83AB91-EBC4-47F1-A508-79489839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5767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87817"/>
                </a:solidFill>
              </a:defRPr>
            </a:pPr>
            <a:r>
              <a:rPr sz="1050" b="1">
                <a:solidFill>
                  <a:srgbClr val="E87817"/>
                </a:solidFill>
              </a:rPr>
              <a:t>!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9C55067-14D7-4497-A678-C220B2C5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171950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2B58"/>
                </a:solidFill>
              </a:defRPr>
            </a:pPr>
            <a:r>
              <a:rPr sz="1125" b="1">
                <a:solidFill>
                  <a:srgbClr val="062B58"/>
                </a:solidFill>
              </a:rPr>
              <a:t>对不确定内容给出过度确定结论</a:t>
            </a:r>
          </a:p>
        </p:txBody>
      </p:sp>
    </p:spTree>
    <p:extLst>
      <p:ext uri="{BB962C8B-B14F-4D97-AF65-F5344CB8AC3E}">
        <p14:creationId xmlns:p14="http://schemas.microsoft.com/office/powerpoint/2010/main" val="18133237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F4A7E1-FBFF-425C-A242-CEBEC2CF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5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A8A161-9420-4138-8549-C7C683E8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5725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A839C6-6258-4FEF-AA77-F80D8B14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 FUND 易方达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F1C252-E67D-4FE1-9F78-BF9A8EED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9075"/>
            <a:ext cx="223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DCE7F4"/>
                </a:solidFill>
              </a:defRPr>
            </a:pPr>
            <a:r>
              <a:rPr sz="1050" b="1">
                <a:solidFill>
                  <a:srgbClr val="DCE7F4"/>
                </a:solidFill>
              </a:rPr>
              <a:t>项目问题与解决 · 提升价值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15F4D5-1731-464C-B236-5A2C0467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016B09-B133-4436-ADF0-04A411A6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F93AA"/>
                </a:solidFill>
              </a:defRPr>
            </a:pPr>
            <a:r>
              <a:rPr sz="750" b="1">
                <a:solidFill>
                  <a:srgbClr val="7F93AA"/>
                </a:solidFill>
              </a:rPr>
              <a:t>易方达基金 · 内部交流，请勿外传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4FA778-9F60-4A40-AC67-711816DB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7225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F93AA"/>
                </a:solidFill>
              </a:defRPr>
            </a:pPr>
            <a:r>
              <a:rPr sz="900" b="1">
                <a:solidFill>
                  <a:srgbClr val="7F93AA"/>
                </a:solidFill>
              </a:rPr>
              <a:t>11 / 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D5D9D1-0EE3-4F79-9635-14CF0E74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3A78"/>
                </a:solidFill>
              </a:defRPr>
            </a:pPr>
            <a:r>
              <a:rPr sz="1200" b="1">
                <a:solidFill>
                  <a:srgbClr val="073A78"/>
                </a:solidFill>
              </a:rPr>
              <a:t>解决三 | 可追溯 / 可校验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CBA94A-61FC-44B5-9E7A-518E483A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62B58"/>
                </a:solidFill>
              </a:defRPr>
            </a:pPr>
            <a:r>
              <a:rPr sz="2700" b="1">
                <a:solidFill>
                  <a:srgbClr val="062B58"/>
                </a:solidFill>
              </a:rPr>
              <a:t>用链路追溯和代码规则，控制 AI 幻觉与误判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8A9F64-CA65-486F-BA3E-03D5CB474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1FD60E-45C9-46F8-9158-764C5137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573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32529B-6054-438F-9170-D8F96FC4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549D"/>
                </a:solidFill>
              </a:defRPr>
            </a:pPr>
            <a:r>
              <a:rPr sz="1125" b="1">
                <a:solidFill>
                  <a:srgbClr val="07549D"/>
                </a:solidFill>
              </a:rPr>
              <a:t>Q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7C7210-6112-4AA1-A0B2-93E13DE6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943100"/>
            <a:ext cx="965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963"/>
                </a:solidFill>
              </a:defRPr>
            </a:pPr>
            <a:r>
              <a:rPr sz="1200" b="1">
                <a:solidFill>
                  <a:srgbClr val="163963"/>
                </a:solidFill>
              </a:rPr>
              <a:t>AI 只生成初步抽取结果；最终进入申报版前，必须同时通过证据链可追溯和代码规则可校验。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4C5A70-42CD-4966-A58A-F3496B78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539115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E0D106-AB0F-4E83-82C2-4E2AECAE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5391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465FD3-BE60-43C2-A5A7-DC853837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B5F2DE-2DD2-407D-A325-5932879E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A8C8"/>
                </a:solidFill>
              </a:defRPr>
            </a:pPr>
            <a:r>
              <a:rPr sz="1050" b="1">
                <a:solidFill>
                  <a:srgbClr val="00A8C8"/>
                </a:solidFill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1C5D5B-5330-41A4-AAA5-E4FD826F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76550"/>
            <a:ext cx="4457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2B58"/>
                </a:solidFill>
              </a:defRPr>
            </a:pPr>
            <a:r>
              <a:rPr sz="1350" b="1">
                <a:solidFill>
                  <a:srgbClr val="062B58"/>
                </a:solidFill>
              </a:rPr>
              <a:t>链路追溯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9B59CD-964F-4F74-8C32-C1178DE9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43250"/>
            <a:ext cx="445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4A73"/>
                </a:solidFill>
              </a:defRPr>
            </a:pPr>
            <a:r>
              <a:rPr sz="900" b="1">
                <a:solidFill>
                  <a:srgbClr val="244A73"/>
                </a:solidFill>
              </a:rPr>
              <a:t>每个字段都能回到原始材料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A8AEC8-DFAA-41BD-9173-676D54F5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4933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3B64"/>
                </a:solidFill>
              </a:defRPr>
            </a:pPr>
            <a:r>
              <a:rPr sz="863" b="1">
                <a:solidFill>
                  <a:srgbClr val="173B64"/>
                </a:solidFill>
              </a:rPr>
              <a:t>• 保留原始文件、页码、表格区域或截图位置</a:t>
            </a:r>
          </a:p>
          <a:p xmlns:a="http://schemas.openxmlformats.org/drawingml/2006/main">
            <a:pPr algn="l">
              <a:defRPr sz="863" b="1">
                <a:solidFill>
                  <a:srgbClr val="173B64"/>
                </a:solidFill>
              </a:defRPr>
            </a:pPr>
            <a:r>
              <a:rPr sz="863" b="1">
                <a:solidFill>
                  <a:srgbClr val="173B64"/>
                </a:solidFill>
              </a:rPr>
              <a:t>• 记录 OCR / PDF / Table chunk 与抽取字段的对应关系</a:t>
            </a:r>
          </a:p>
          <a:p xmlns:a="http://schemas.openxmlformats.org/drawingml/2006/main">
            <a:pPr algn="l">
              <a:defRPr sz="863" b="1">
                <a:solidFill>
                  <a:srgbClr val="173B64"/>
                </a:solidFill>
              </a:defRPr>
            </a:pPr>
            <a:r>
              <a:rPr sz="863" b="1">
                <a:solidFill>
                  <a:srgbClr val="173B64"/>
                </a:solidFill>
              </a:rPr>
              <a:t>• 关键字段必须有来源证据</a:t>
            </a:r>
          </a:p>
          <a:p xmlns:a="http://schemas.openxmlformats.org/drawingml/2006/main">
            <a:pPr algn="l">
              <a:defRPr sz="863" b="1">
                <a:solidFill>
                  <a:srgbClr val="173B64"/>
                </a:solidFill>
              </a:defRPr>
            </a:pPr>
            <a:r>
              <a:rPr sz="863" b="1">
                <a:solidFill>
                  <a:srgbClr val="173B64"/>
                </a:solidFill>
              </a:rPr>
              <a:t>• 复核人员可从结果反查到证据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424336-67BA-49B0-9E3C-1D4FE160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539115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078802-8758-4548-AA61-75C68CE5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5391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C1946E-9487-48E1-8F55-86DB3F31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76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A82544-3FA9-4805-A790-9D2EAA34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813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A8C8"/>
                </a:solidFill>
              </a:defRPr>
            </a:pPr>
            <a:r>
              <a:rPr sz="1050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FBB675-740A-4827-9F47-B9086185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76550"/>
            <a:ext cx="4457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2B58"/>
                </a:solidFill>
              </a:defRPr>
            </a:pPr>
            <a:r>
              <a:rPr sz="1350" b="1">
                <a:solidFill>
                  <a:srgbClr val="062B58"/>
                </a:solidFill>
              </a:rPr>
              <a:t>规则校验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F66D72-FAE9-4EE6-8629-835F141E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143250"/>
            <a:ext cx="445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4A73"/>
                </a:solidFill>
              </a:defRPr>
            </a:pPr>
            <a:r>
              <a:rPr sz="900" b="1">
                <a:solidFill>
                  <a:srgbClr val="244A73"/>
                </a:solidFill>
              </a:rPr>
              <a:t>用代码规则约束 AI 输出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71F537-A02F-48A1-8B8E-23A6BC8A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24250"/>
            <a:ext cx="4933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3B64"/>
                </a:solidFill>
              </a:defRPr>
            </a:pPr>
            <a:r>
              <a:rPr sz="863" b="1">
                <a:solidFill>
                  <a:srgbClr val="173B64"/>
                </a:solidFill>
              </a:rPr>
              <a:t>• 字段类型校验：日期、金额、证券代码、交易方向</a:t>
            </a:r>
          </a:p>
          <a:p xmlns:a="http://schemas.openxmlformats.org/drawingml/2006/main">
            <a:pPr algn="l">
              <a:defRPr sz="863" b="1">
                <a:solidFill>
                  <a:srgbClr val="173B64"/>
                </a:solidFill>
              </a:defRPr>
            </a:pPr>
            <a:r>
              <a:rPr sz="863" b="1">
                <a:solidFill>
                  <a:srgbClr val="173B64"/>
                </a:solidFill>
              </a:rPr>
              <a:t>• 业务枚举归一：买入 / 卖出 / 分红 / 非申报流水</a:t>
            </a:r>
          </a:p>
          <a:p xmlns:a="http://schemas.openxmlformats.org/drawingml/2006/main">
            <a:pPr algn="l">
              <a:defRPr sz="863" b="1">
                <a:solidFill>
                  <a:srgbClr val="173B64"/>
                </a:solidFill>
              </a:defRPr>
            </a:pPr>
            <a:r>
              <a:rPr sz="863" b="1">
                <a:solidFill>
                  <a:srgbClr val="173B64"/>
                </a:solidFill>
              </a:rPr>
              <a:t>• 不确定或冲突结果不进最终版</a:t>
            </a:r>
          </a:p>
          <a:p xmlns:a="http://schemas.openxmlformats.org/drawingml/2006/main">
            <a:pPr algn="l">
              <a:defRPr sz="863" b="1">
                <a:solidFill>
                  <a:srgbClr val="173B64"/>
                </a:solidFill>
              </a:defRPr>
            </a:pPr>
            <a:r>
              <a:rPr sz="863" b="1">
                <a:solidFill>
                  <a:srgbClr val="173B64"/>
                </a:solidFill>
              </a:rPr>
              <a:t>• 异常进入问题清单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8E44D4-E63F-4EF6-BEF8-1AEFC3BA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92024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73A78"/>
          </a:solidFill>
          <a:ln xmlns:a="http://schemas.openxmlformats.org/drawingml/2006/main" w="9525">
            <a:solidFill>
              <a:srgbClr val="073A7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0D515D-916E-4A1C-BEEE-F9675941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67300"/>
            <a:ext cx="180594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AI 初抽取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1F51C9-F97B-48A7-B458-00134BD3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6515" y="50292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758BA5"/>
                </a:solidFill>
              </a:defRPr>
            </a:pPr>
            <a:r>
              <a:rPr sz="1725" b="0">
                <a:solidFill>
                  <a:srgbClr val="758BA5"/>
                </a:solidFill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C806FF-2089-4648-BD93-338FD63F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740" y="4972050"/>
            <a:ext cx="192024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73A78"/>
          </a:solidFill>
          <a:ln xmlns:a="http://schemas.openxmlformats.org/drawingml/2006/main" w="9525">
            <a:solidFill>
              <a:srgbClr val="073A7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2B39E2-9383-4A3E-94A6-AE09F0D4F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890" y="5067300"/>
            <a:ext cx="180594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字段标准化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5D287E-512E-4D9D-BE47-952FD3F3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9655" y="50292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758BA5"/>
                </a:solidFill>
              </a:defRPr>
            </a:pPr>
            <a:r>
              <a:rPr sz="1725" b="0">
                <a:solidFill>
                  <a:srgbClr val="758BA5"/>
                </a:solidFill>
              </a:rPr>
              <a:t>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00C512-0E06-41F3-BC84-379E65AB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880" y="4972050"/>
            <a:ext cx="192024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73A78"/>
          </a:solidFill>
          <a:ln xmlns:a="http://schemas.openxmlformats.org/drawingml/2006/main" w="9525">
            <a:solidFill>
              <a:srgbClr val="073A7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E8D735-E266-498D-8B7F-9E37CF81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030" y="5067300"/>
            <a:ext cx="180594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规则校验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091CFD-FB46-4BCE-824F-721F5709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2795" y="50292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758BA5"/>
                </a:solidFill>
              </a:defRPr>
            </a:pPr>
            <a:r>
              <a:rPr sz="1725" b="0">
                <a:solidFill>
                  <a:srgbClr val="758BA5"/>
                </a:solidFill>
              </a:rPr>
              <a:t>→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A2CA324-F6F7-4B8E-913E-45F60331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9020" y="4972050"/>
            <a:ext cx="192024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73A78"/>
          </a:solidFill>
          <a:ln xmlns:a="http://schemas.openxmlformats.org/drawingml/2006/main" w="9525">
            <a:solidFill>
              <a:srgbClr val="073A7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4B8AAE-5ED2-4473-BC7D-D27DBBB0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6170" y="5067300"/>
            <a:ext cx="180594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证据挂接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9117C21-ACE9-40A9-B210-9DA29D9D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5935" y="50292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758BA5"/>
                </a:solidFill>
              </a:defRPr>
            </a:pPr>
            <a:r>
              <a:rPr sz="1725" b="0">
                <a:solidFill>
                  <a:srgbClr val="758BA5"/>
                </a:solidFill>
              </a:rPr>
              <a:t>→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2CF0BCA-5C74-4543-82C7-88CCBE96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4972050"/>
            <a:ext cx="192024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73A78"/>
          </a:solidFill>
          <a:ln xmlns:a="http://schemas.openxmlformats.org/drawingml/2006/main" w="9525">
            <a:solidFill>
              <a:srgbClr val="073A7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2E6226B-4597-4C6C-AEE4-3D6B8DE5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9310" y="5067300"/>
            <a:ext cx="180594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结果分流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2CB32FA-7BB0-4CE0-B200-936A731A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972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52CD781-6E45-458A-9D74-99CF62DB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10287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62B58"/>
                </a:solidFill>
              </a:defRPr>
            </a:pPr>
            <a:r>
              <a:rPr sz="938" b="1">
                <a:solidFill>
                  <a:srgbClr val="062B58"/>
                </a:solidFill>
              </a:rPr>
              <a:t>AI 的不确定性不会被包装成结论，而是转化为可追溯证据、可执行规则和可复核问题项。</a:t>
            </a:r>
          </a:p>
        </p:txBody>
      </p:sp>
    </p:spTree>
    <p:extLst>
      <p:ext uri="{BB962C8B-B14F-4D97-AF65-F5344CB8AC3E}">
        <p14:creationId xmlns:p14="http://schemas.microsoft.com/office/powerpoint/2010/main" val="2744957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D3F55D-8FB8-4BEC-A9ED-B4B39926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5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3A75AA-A08A-43DE-9D17-A768EC28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5725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5663FF-A4F5-4353-BB69-0C2871FC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 FUND 易方达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0D1078-723C-4805-82ED-694981F7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9075"/>
            <a:ext cx="223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DCE7F4"/>
                </a:solidFill>
              </a:defRPr>
            </a:pPr>
            <a:r>
              <a:rPr sz="1050" b="1">
                <a:solidFill>
                  <a:srgbClr val="DCE7F4"/>
                </a:solidFill>
              </a:rPr>
              <a:t>项目问题与解决 · 提升价值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E6CE20-8A0A-48BD-9694-C75616D0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8AC6CF-32F1-41AB-92C4-FD67135F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F93AA"/>
                </a:solidFill>
              </a:defRPr>
            </a:pPr>
            <a:r>
              <a:rPr sz="750" b="1">
                <a:solidFill>
                  <a:srgbClr val="7F93AA"/>
                </a:solidFill>
              </a:rPr>
              <a:t>易方达基金 · 内部交流，请勿外传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522CFD-AC55-4D49-9A57-C3656B42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7225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F93AA"/>
                </a:solidFill>
              </a:defRPr>
            </a:pPr>
            <a:r>
              <a:rPr sz="900" b="1">
                <a:solidFill>
                  <a:srgbClr val="7F93AA"/>
                </a:solidFill>
              </a:rPr>
              <a:t>12 / 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2F26B1-4957-4D42-A1C2-DCC00B0C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3A78"/>
                </a:solidFill>
              </a:defRPr>
            </a:pPr>
            <a:r>
              <a:rPr sz="1200" b="1">
                <a:solidFill>
                  <a:srgbClr val="073A78"/>
                </a:solidFill>
              </a:rPr>
              <a:t>问题四 | 长材料处理复杂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2C6607-6E72-4CCF-A32E-7C01808A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62B58"/>
                </a:solidFill>
              </a:defRPr>
            </a:pPr>
            <a:r>
              <a:rPr sz="2700" b="1">
                <a:solidFill>
                  <a:srgbClr val="062B58"/>
                </a:solidFill>
              </a:rPr>
              <a:t>处理时间较长，长材料处理复杂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524BD6-43BF-4BA9-BDF9-A2D4E6AB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D33133-952A-474D-A4DA-C5765EF0D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573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EAAB53-71B9-465C-9E67-3B47B082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549D"/>
                </a:solidFill>
              </a:defRPr>
            </a:pPr>
            <a:r>
              <a:rPr sz="1125" b="1">
                <a:solidFill>
                  <a:srgbClr val="07549D"/>
                </a:solidFill>
              </a:rPr>
              <a:t>Q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3E4C3F-7B08-407A-8765-9F4C88E8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943100"/>
            <a:ext cx="965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963"/>
                </a:solidFill>
              </a:defRPr>
            </a:pPr>
            <a:r>
              <a:rPr sz="1200" b="1">
                <a:solidFill>
                  <a:srgbClr val="163963"/>
                </a:solidFill>
              </a:rPr>
              <a:t>长材料既不能整份一次性交给 AI，也不能简单拆分后各自为政。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855312-D04B-4CBA-8DF9-F1C212F6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53911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9E7583-A802-4572-BBE3-2E302866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5391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40F7BD-1FFA-4BA6-8C71-79FE1A69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8668E1-F318-4D33-999F-C67AE8A2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194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A8C8"/>
                </a:solidFill>
              </a:defRPr>
            </a:pPr>
            <a:r>
              <a:rPr sz="1050" b="1">
                <a:solidFill>
                  <a:srgbClr val="00A8C8"/>
                </a:solidFill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D285F0-FB10-4724-8108-CF3BF8484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14650"/>
            <a:ext cx="4457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2B58"/>
                </a:solidFill>
              </a:defRPr>
            </a:pPr>
            <a:r>
              <a:rPr sz="1350" b="1">
                <a:solidFill>
                  <a:srgbClr val="062B58"/>
                </a:solidFill>
              </a:rPr>
              <a:t>整份材料一次性交给 AI 的风险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59451F-8037-483B-8D68-6AAF38E5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4933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B64"/>
                </a:solidFill>
              </a:defRPr>
            </a:pPr>
            <a:r>
              <a:rPr sz="975" b="1">
                <a:solidFill>
                  <a:srgbClr val="173B64"/>
                </a:solidFill>
              </a:rPr>
              <a:t>• 超出上下文限制</a:t>
            </a:r>
          </a:p>
          <a:p xmlns:a="http://schemas.openxmlformats.org/drawingml/2006/main">
            <a:pPr algn="l">
              <a:defRPr sz="975" b="1">
                <a:solidFill>
                  <a:srgbClr val="173B64"/>
                </a:solidFill>
              </a:defRPr>
            </a:pPr>
            <a:r>
              <a:rPr sz="975" b="1">
                <a:solidFill>
                  <a:srgbClr val="173B64"/>
                </a:solidFill>
              </a:rPr>
              <a:t>• 响应时间过长</a:t>
            </a:r>
          </a:p>
          <a:p xmlns:a="http://schemas.openxmlformats.org/drawingml/2006/main">
            <a:pPr algn="l">
              <a:defRPr sz="975" b="1">
                <a:solidFill>
                  <a:srgbClr val="173B64"/>
                </a:solidFill>
              </a:defRPr>
            </a:pPr>
            <a:r>
              <a:rPr sz="975" b="1">
                <a:solidFill>
                  <a:srgbClr val="173B64"/>
                </a:solidFill>
              </a:rPr>
              <a:t>• LLM 输出被截断</a:t>
            </a:r>
          </a:p>
          <a:p xmlns:a="http://schemas.openxmlformats.org/drawingml/2006/main">
            <a:pPr algn="l">
              <a:defRPr sz="975" b="1">
                <a:solidFill>
                  <a:srgbClr val="173B64"/>
                </a:solidFill>
              </a:defRPr>
            </a:pPr>
            <a:r>
              <a:rPr sz="975" b="1">
                <a:solidFill>
                  <a:srgbClr val="173B64"/>
                </a:solidFill>
              </a:rPr>
              <a:t>• 信息密度太大，AI 幻觉率提升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742C8E-89BC-47F7-99B6-9DF84C08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86050"/>
            <a:ext cx="53911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97292C-CF1E-4B9E-8973-C3D577DD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86050"/>
            <a:ext cx="5391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DBE543-1359-4A67-8C93-5721C8A2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14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909271-BA81-47F0-971C-6A2EFD0B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194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A8C8"/>
                </a:solidFill>
              </a:defRPr>
            </a:pPr>
            <a:r>
              <a:rPr sz="1050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DFBE45-E09F-457B-AE6E-193E8ECD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14650"/>
            <a:ext cx="4457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2B58"/>
                </a:solidFill>
              </a:defRPr>
            </a:pPr>
            <a:r>
              <a:rPr sz="1350" b="1">
                <a:solidFill>
                  <a:srgbClr val="062B58"/>
                </a:solidFill>
              </a:rPr>
              <a:t>简单拆分处理的新问题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13EBE5-51E3-4F28-890D-9A3F3EDD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562350"/>
            <a:ext cx="4933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3B64"/>
                </a:solidFill>
              </a:defRPr>
            </a:pPr>
            <a:r>
              <a:rPr sz="975" b="1">
                <a:solidFill>
                  <a:srgbClr val="173B64"/>
                </a:solidFill>
              </a:rPr>
              <a:t>• 跨页持仓关系丢失</a:t>
            </a:r>
          </a:p>
          <a:p xmlns:a="http://schemas.openxmlformats.org/drawingml/2006/main">
            <a:pPr algn="l">
              <a:defRPr sz="975" b="1">
                <a:solidFill>
                  <a:srgbClr val="173B64"/>
                </a:solidFill>
              </a:defRPr>
            </a:pPr>
            <a:r>
              <a:rPr sz="975" b="1">
                <a:solidFill>
                  <a:srgbClr val="173B64"/>
                </a:solidFill>
              </a:rPr>
              <a:t>• 同一交易被重复识别</a:t>
            </a:r>
          </a:p>
          <a:p xmlns:a="http://schemas.openxmlformats.org/drawingml/2006/main">
            <a:pPr algn="l">
              <a:defRPr sz="975" b="1">
                <a:solidFill>
                  <a:srgbClr val="173B64"/>
                </a:solidFill>
              </a:defRPr>
            </a:pPr>
            <a:r>
              <a:rPr sz="975" b="1">
                <a:solidFill>
                  <a:srgbClr val="173B64"/>
                </a:solidFill>
              </a:rPr>
              <a:t>• 文件结论无法统一</a:t>
            </a:r>
          </a:p>
          <a:p xmlns:a="http://schemas.openxmlformats.org/drawingml/2006/main">
            <a:pPr algn="l">
              <a:defRPr sz="975" b="1">
                <a:solidFill>
                  <a:srgbClr val="173B64"/>
                </a:solidFill>
              </a:defRPr>
            </a:pPr>
            <a:r>
              <a:rPr sz="975" b="1">
                <a:solidFill>
                  <a:srgbClr val="173B64"/>
                </a:solidFill>
              </a:rPr>
              <a:t>• 最终结果难以合并</a:t>
            </a:r>
          </a:p>
        </p:txBody>
      </p:sp>
    </p:spTree>
    <p:extLst>
      <p:ext uri="{BB962C8B-B14F-4D97-AF65-F5344CB8AC3E}">
        <p14:creationId xmlns:p14="http://schemas.microsoft.com/office/powerpoint/2010/main" val="121624709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98D816-9386-498D-A9E1-5B03EACB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5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1EA9E2-369A-492E-8299-063F7DD8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5725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4040A2-CCF9-4F3E-AE4A-CFD5D2B0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 FUND 易方达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6CCB59-8443-496A-81FF-0310FB71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9075"/>
            <a:ext cx="223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DCE7F4"/>
                </a:solidFill>
              </a:defRPr>
            </a:pPr>
            <a:r>
              <a:rPr sz="1050" b="1">
                <a:solidFill>
                  <a:srgbClr val="DCE7F4"/>
                </a:solidFill>
              </a:rPr>
              <a:t>项目问题与解决 · 提升价值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91FE54-0611-478A-969F-AF2894F9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2B2A59-213A-4C8E-8FB4-0DC249E8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F93AA"/>
                </a:solidFill>
              </a:defRPr>
            </a:pPr>
            <a:r>
              <a:rPr sz="750" b="1">
                <a:solidFill>
                  <a:srgbClr val="7F93AA"/>
                </a:solidFill>
              </a:rPr>
              <a:t>易方达基金 · 内部交流，请勿外传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E3C16A-DE40-4A96-AA36-88C50486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7225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F93AA"/>
                </a:solidFill>
              </a:defRPr>
            </a:pPr>
            <a:r>
              <a:rPr sz="900" b="1">
                <a:solidFill>
                  <a:srgbClr val="7F93AA"/>
                </a:solidFill>
              </a:rPr>
              <a:t>13 / 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521910-D0EB-42DA-9195-14E91749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3A78"/>
                </a:solidFill>
              </a:defRPr>
            </a:pPr>
            <a:r>
              <a:rPr sz="1200" b="1">
                <a:solidFill>
                  <a:srgbClr val="073A78"/>
                </a:solidFill>
              </a:rPr>
              <a:t>解决四 | 并行处理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3555EA-928B-47C1-B63D-9775A4C8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62B58"/>
                </a:solidFill>
              </a:defRPr>
            </a:pPr>
            <a:r>
              <a:rPr sz="2700" b="1">
                <a:solidFill>
                  <a:srgbClr val="062B58"/>
                </a:solidFill>
              </a:rPr>
              <a:t>长文件并行处理：材料拆分、去重、截断兜底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CBE2E0-E4E2-4AFF-9086-74C42ED2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BD6CEA-FE26-4E17-806B-3BF66DE7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573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90B708-B771-4DBD-9983-89D1CBA5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549D"/>
                </a:solidFill>
              </a:defRPr>
            </a:pPr>
            <a:r>
              <a:rPr sz="1125" b="1">
                <a:solidFill>
                  <a:srgbClr val="07549D"/>
                </a:solidFill>
              </a:rPr>
              <a:t>Q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04CE1B-876E-4A40-A5EA-C8FDBAF4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943100"/>
            <a:ext cx="965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963"/>
                </a:solidFill>
              </a:defRPr>
            </a:pPr>
            <a:r>
              <a:rPr sz="1200" b="1">
                <a:solidFill>
                  <a:srgbClr val="163963"/>
                </a:solidFill>
              </a:rPr>
              <a:t>按页 / 表格区域切分成任务队列；OCR、表格解析、LLM 抽取并行执行，再由合并层去重、校验和补偿。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0CEAA2-D73B-41EA-8A9F-4E0D4013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6065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3B081B-70DA-4D79-85B8-89180607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149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2B58"/>
                </a:solidFill>
              </a:defRPr>
            </a:pPr>
            <a:r>
              <a:rPr sz="900" b="1">
                <a:solidFill>
                  <a:srgbClr val="062B58"/>
                </a:solidFill>
              </a:rPr>
              <a:t>文件切分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F3AB15-0330-4171-9ABE-9AB62305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3775" y="26860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758BA5"/>
                </a:solidFill>
              </a:defRPr>
            </a:pPr>
            <a:r>
              <a:rPr sz="1725" b="0">
                <a:solidFill>
                  <a:srgbClr val="758BA5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33DDF2-7C67-4598-A826-AA28DEB0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2850" y="2590800"/>
            <a:ext cx="16065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C687DC-B1CB-4F12-B9FC-C898900C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000" y="2724150"/>
            <a:ext cx="149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2B58"/>
                </a:solidFill>
              </a:defRPr>
            </a:pPr>
            <a:r>
              <a:rPr sz="900" b="1">
                <a:solidFill>
                  <a:srgbClr val="062B58"/>
                </a:solidFill>
              </a:rPr>
              <a:t>任务入队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CA6294-3136-45D8-86A5-891121C2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7025" y="26860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758BA5"/>
                </a:solidFill>
              </a:defRPr>
            </a:pPr>
            <a:r>
              <a:rPr sz="1725" b="0">
                <a:solidFill>
                  <a:srgbClr val="758BA5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B33049-7A1E-421F-9FA7-8EA184FDD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590800"/>
            <a:ext cx="16065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264D98-B575-4C57-A3E1-C487DD5E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2724150"/>
            <a:ext cx="149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2B58"/>
                </a:solidFill>
              </a:defRPr>
            </a:pPr>
            <a:r>
              <a:rPr sz="900" b="1">
                <a:solidFill>
                  <a:srgbClr val="062B58"/>
                </a:solidFill>
              </a:rPr>
              <a:t>并发抽取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12C326-D760-4752-86C3-962CB0DC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6860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758BA5"/>
                </a:solidFill>
              </a:defRPr>
            </a:pPr>
            <a:r>
              <a:rPr sz="1725" b="0">
                <a:solidFill>
                  <a:srgbClr val="758BA5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BD99E5-512C-4836-B029-48476BC2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90800"/>
            <a:ext cx="16065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133273-1E2C-4035-AE70-D17C4B08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24150"/>
            <a:ext cx="149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2B58"/>
                </a:solidFill>
              </a:defRPr>
            </a:pPr>
            <a:r>
              <a:rPr sz="900" b="1">
                <a:solidFill>
                  <a:srgbClr val="062B58"/>
                </a:solidFill>
              </a:rPr>
              <a:t>统一合并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6AA818-1FFD-4EA1-864E-9272C626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3525" y="26860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758BA5"/>
                </a:solidFill>
              </a:defRPr>
            </a:pPr>
            <a:r>
              <a:rPr sz="1725" b="0">
                <a:solidFill>
                  <a:srgbClr val="758BA5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DB0614-E227-4F69-B8A7-A446201B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590800"/>
            <a:ext cx="16065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E9ABC5-2E43-4C7E-88D5-801D5CDC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9750" y="2724150"/>
            <a:ext cx="149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2B58"/>
                </a:solidFill>
              </a:defRPr>
            </a:pPr>
            <a:r>
              <a:rPr sz="900" b="1">
                <a:solidFill>
                  <a:srgbClr val="062B58"/>
                </a:solidFill>
              </a:rPr>
              <a:t>去重兜底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CFD703-D6EE-417C-85E4-1603CDD0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6775" y="2686050"/>
            <a:ext cx="171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758BA5"/>
                </a:solidFill>
              </a:defRPr>
            </a:pPr>
            <a:r>
              <a:rPr sz="1725" b="0">
                <a:solidFill>
                  <a:srgbClr val="758BA5"/>
                </a:solidFill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1AF3FF-7E97-418B-9582-39285275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5850" y="2590800"/>
            <a:ext cx="16065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CDFBB3-0C41-42EA-8414-341672D9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3000" y="2724150"/>
            <a:ext cx="149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2B58"/>
                </a:solidFill>
              </a:defRPr>
            </a:pPr>
            <a:r>
              <a:rPr sz="900" b="1">
                <a:solidFill>
                  <a:srgbClr val="062B58"/>
                </a:solidFill>
              </a:rPr>
              <a:t>最终输出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22B7FB-7506-4F03-8A10-99EDA0B9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35433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F980D6-41D8-43E7-A3C2-5F10BCA2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3543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73FCA5-3DC6-4D06-92CF-5D556D55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B5090E-45DE-4792-9C41-D254D867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2427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549D"/>
                </a:solidFill>
              </a:defRPr>
            </a:pPr>
            <a:r>
              <a:rPr sz="1050" b="1">
                <a:solidFill>
                  <a:srgbClr val="07549D"/>
                </a:solidFill>
              </a:rPr>
              <a:t>01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E13E10-5E4B-40E4-B40B-9499FF1C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0"/>
            <a:ext cx="2609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2B58"/>
                </a:solidFill>
              </a:defRPr>
            </a:pPr>
            <a:r>
              <a:rPr sz="1350" b="1">
                <a:solidFill>
                  <a:srgbClr val="062B58"/>
                </a:solidFill>
              </a:rPr>
              <a:t>提速方式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78D198-B380-4DB2-A78E-B3609793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67200"/>
            <a:ext cx="3086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3B64"/>
                </a:solidFill>
              </a:defRPr>
            </a:pPr>
            <a:r>
              <a:rPr sz="825" b="1">
                <a:solidFill>
                  <a:srgbClr val="173B64"/>
                </a:solidFill>
              </a:rPr>
              <a:t>• OCR / PDF / Table 解析按页并发</a:t>
            </a:r>
          </a:p>
          <a:p xmlns:a="http://schemas.openxmlformats.org/drawingml/2006/main">
            <a:pPr algn="l">
              <a:defRPr sz="825" b="1">
                <a:solidFill>
                  <a:srgbClr val="173B64"/>
                </a:solidFill>
              </a:defRPr>
            </a:pPr>
            <a:r>
              <a:rPr sz="825" b="1">
                <a:solidFill>
                  <a:srgbClr val="173B64"/>
                </a:solidFill>
              </a:rPr>
              <a:t>• LLM 抽取按 chunk 并发，限制并发数</a:t>
            </a:r>
          </a:p>
          <a:p xmlns:a="http://schemas.openxmlformats.org/drawingml/2006/main">
            <a:pPr algn="l">
              <a:defRPr sz="825" b="1">
                <a:solidFill>
                  <a:srgbClr val="173B64"/>
                </a:solidFill>
              </a:defRPr>
            </a:pPr>
            <a:r>
              <a:rPr sz="825" b="1">
                <a:solidFill>
                  <a:srgbClr val="173B64"/>
                </a:solidFill>
              </a:rPr>
              <a:t>• 已解析文件做缓存，重复上传不重新 OCR</a:t>
            </a:r>
          </a:p>
          <a:p xmlns:a="http://schemas.openxmlformats.org/drawingml/2006/main">
            <a:pPr algn="l">
              <a:defRPr sz="825" b="1">
                <a:solidFill>
                  <a:srgbClr val="173B64"/>
                </a:solidFill>
              </a:defRPr>
            </a:pPr>
            <a:r>
              <a:rPr sz="825" b="1">
                <a:solidFill>
                  <a:srgbClr val="173B64"/>
                </a:solidFill>
              </a:rPr>
              <a:t>• 只把相关片段送入抽取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312E67-D6A7-43AD-A2B6-18EA76F2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90900"/>
            <a:ext cx="35433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2FDBB60-0E51-4E6B-987D-9BDB61F7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90900"/>
            <a:ext cx="3543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AAE87FA-7907-4E6E-AD16-246CDFD6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19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C246D7B-FA45-4866-94BF-A412DF0C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2427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549D"/>
                </a:solidFill>
              </a:defRPr>
            </a:pPr>
            <a:r>
              <a:rPr sz="1050" b="1">
                <a:solidFill>
                  <a:srgbClr val="07549D"/>
                </a:solidFill>
              </a:rPr>
              <a:t>02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F70AA94-8C4B-4804-9384-BFB3CEA8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19500"/>
            <a:ext cx="2609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2B58"/>
                </a:solidFill>
              </a:defRPr>
            </a:pPr>
            <a:r>
              <a:rPr sz="1350" b="1">
                <a:solidFill>
                  <a:srgbClr val="062B58"/>
                </a:solidFill>
              </a:rPr>
              <a:t>重叠区域设计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8D8D59F-C935-43D2-9756-B8854FD9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267200"/>
            <a:ext cx="3086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3B64"/>
                </a:solidFill>
              </a:defRPr>
            </a:pPr>
            <a:r>
              <a:rPr sz="825" b="1">
                <a:solidFill>
                  <a:srgbClr val="173B64"/>
                </a:solidFill>
              </a:rPr>
              <a:t>• 每个分块包含相邻区域的重叠部分</a:t>
            </a:r>
          </a:p>
          <a:p xmlns:a="http://schemas.openxmlformats.org/drawingml/2006/main">
            <a:pPr algn="l">
              <a:defRPr sz="825" b="1">
                <a:solidFill>
                  <a:srgbClr val="173B64"/>
                </a:solidFill>
              </a:defRPr>
            </a:pPr>
            <a:r>
              <a:rPr sz="825" b="1">
                <a:solidFill>
                  <a:srgbClr val="173B64"/>
                </a:solidFill>
              </a:rPr>
              <a:t>• 保护同一笔交易不被截断</a:t>
            </a:r>
          </a:p>
          <a:p xmlns:a="http://schemas.openxmlformats.org/drawingml/2006/main">
            <a:pPr algn="l">
              <a:defRPr sz="825" b="1">
                <a:solidFill>
                  <a:srgbClr val="173B64"/>
                </a:solidFill>
              </a:defRPr>
            </a:pPr>
            <a:r>
              <a:rPr sz="825" b="1">
                <a:solidFill>
                  <a:srgbClr val="173B64"/>
                </a:solidFill>
              </a:rPr>
              <a:t>• 预估输出长度，超限自动二次切分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425F29A-291F-4C67-82F6-1CBD917E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90900"/>
            <a:ext cx="35433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C8A6F24-157B-4EF5-97AD-6A32EFAD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90900"/>
            <a:ext cx="3543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A162A82-046D-4FD1-B1AC-A16F59AE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19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A57FC43-2916-4701-87F6-D270B828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2427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549D"/>
                </a:solidFill>
              </a:defRPr>
            </a:pPr>
            <a:r>
              <a:rPr sz="1050" b="1">
                <a:solidFill>
                  <a:srgbClr val="07549D"/>
                </a:solidFill>
              </a:rPr>
              <a:t>03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BB10F55-55C6-40E8-A9C7-0F097A48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19500"/>
            <a:ext cx="2609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2B58"/>
                </a:solidFill>
              </a:defRPr>
            </a:pPr>
            <a:r>
              <a:rPr sz="1350" b="1">
                <a:solidFill>
                  <a:srgbClr val="062B58"/>
                </a:solidFill>
              </a:rPr>
              <a:t>去重合并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29B1AE9-9927-4C26-8E14-43FEB42F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67200"/>
            <a:ext cx="3086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3B64"/>
                </a:solidFill>
              </a:defRPr>
            </a:pPr>
            <a:r>
              <a:rPr sz="825" b="1">
                <a:solidFill>
                  <a:srgbClr val="173B64"/>
                </a:solidFill>
              </a:rPr>
              <a:t>• 交易按账户 + 证券代码 + 日期 + 方向 + 金额近似匹配</a:t>
            </a:r>
          </a:p>
          <a:p xmlns:a="http://schemas.openxmlformats.org/drawingml/2006/main">
            <a:pPr algn="l">
              <a:defRPr sz="825" b="1">
                <a:solidFill>
                  <a:srgbClr val="173B64"/>
                </a:solidFill>
              </a:defRPr>
            </a:pPr>
            <a:r>
              <a:rPr sz="825" b="1">
                <a:solidFill>
                  <a:srgbClr val="173B64"/>
                </a:solidFill>
              </a:rPr>
              <a:t>• 持仓按账户 + 证券代码 + 截止日期归并</a:t>
            </a:r>
          </a:p>
          <a:p xmlns:a="http://schemas.openxmlformats.org/drawingml/2006/main">
            <a:pPr algn="l">
              <a:defRPr sz="825" b="1">
                <a:solidFill>
                  <a:srgbClr val="173B64"/>
                </a:solidFill>
              </a:defRPr>
            </a:pPr>
            <a:r>
              <a:rPr sz="825" b="1">
                <a:solidFill>
                  <a:srgbClr val="173B64"/>
                </a:solidFill>
              </a:rPr>
              <a:t>• 同一证据多次命中只保留一条</a:t>
            </a:r>
          </a:p>
          <a:p xmlns:a="http://schemas.openxmlformats.org/drawingml/2006/main">
            <a:pPr algn="l">
              <a:defRPr sz="825" b="1">
                <a:solidFill>
                  <a:srgbClr val="173B64"/>
                </a:solidFill>
              </a:defRPr>
            </a:pPr>
            <a:r>
              <a:rPr sz="825" b="1">
                <a:solidFill>
                  <a:srgbClr val="173B64"/>
                </a:solidFill>
              </a:rPr>
              <a:t>• 冲突结果进入复核清单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18C8F5A-6E00-4D8C-90BC-FB3E4257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1AAC355-9220-4D42-96C2-DBE9DDD1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2B58"/>
                </a:solidFill>
              </a:defRPr>
            </a:pPr>
            <a:r>
              <a:rPr sz="1125" b="1">
                <a:solidFill>
                  <a:srgbClr val="062B58"/>
                </a:solidFill>
              </a:rPr>
              <a:t>长材料处理耗时降低约 50%，速度提升一倍以上。</a:t>
            </a:r>
          </a:p>
        </p:txBody>
      </p:sp>
    </p:spTree>
    <p:extLst>
      <p:ext uri="{BB962C8B-B14F-4D97-AF65-F5344CB8AC3E}">
        <p14:creationId xmlns:p14="http://schemas.microsoft.com/office/powerpoint/2010/main" val="115438776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C74C2F-AD7D-4851-8E7B-84FDB25D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5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E42C59-AC1F-412A-B26D-D9F52F9A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5725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EBF5B6-654A-4B7E-9B8D-BB98B3D7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 FUND 易方达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5FF6A5-7B30-46E6-9255-5042D8B7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9075"/>
            <a:ext cx="223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DCE7F4"/>
                </a:solidFill>
              </a:defRPr>
            </a:pPr>
            <a:r>
              <a:rPr sz="1050" b="1">
                <a:solidFill>
                  <a:srgbClr val="DCE7F4"/>
                </a:solidFill>
              </a:rPr>
              <a:t>项目演示 · 提升价值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86B7C6-F8CC-4F9E-A7AF-3B8A0547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6545B4-419B-4436-9ECC-72E812B2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F93AA"/>
                </a:solidFill>
              </a:defRPr>
            </a:pPr>
            <a:r>
              <a:rPr sz="750" b="1">
                <a:solidFill>
                  <a:srgbClr val="7F93AA"/>
                </a:solidFill>
              </a:rPr>
              <a:t>易方达基金 · 内部交流，请勿外传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6651D6-622D-415B-9AF8-52BB7BB4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7225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F93AA"/>
                </a:solidFill>
              </a:defRPr>
            </a:pPr>
            <a:r>
              <a:rPr sz="900" b="1">
                <a:solidFill>
                  <a:srgbClr val="7F93AA"/>
                </a:solidFill>
              </a:rPr>
              <a:t>14 / 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FA5642-D357-485D-B476-C25623D2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3A78"/>
                </a:solidFill>
              </a:defRPr>
            </a:pPr>
            <a:r>
              <a:rPr sz="1200" b="1">
                <a:solidFill>
                  <a:srgbClr val="073A78"/>
                </a:solidFill>
              </a:rPr>
              <a:t>演示一 | 复核工作台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63413B-12D9-4B1C-8471-FF39DA33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62B58"/>
                </a:solidFill>
              </a:defRPr>
            </a:pPr>
            <a:r>
              <a:rPr sz="2700" b="1">
                <a:solidFill>
                  <a:srgbClr val="062B58"/>
                </a:solidFill>
              </a:rPr>
              <a:t>智能申报合规助手演示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1A6D85-5016-48E6-A491-3E096127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4F7878-7DE0-4E2D-AA31-11A3912F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573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518AE1-670D-459A-8CCD-78E953FF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549D"/>
                </a:solidFill>
              </a:defRPr>
            </a:pPr>
            <a:r>
              <a:rPr sz="1125" b="1">
                <a:solidFill>
                  <a:srgbClr val="07549D"/>
                </a:solidFill>
              </a:rPr>
              <a:t>Q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A5C37B-AE62-4407-9237-AFC9B405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943100"/>
            <a:ext cx="965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963"/>
                </a:solidFill>
              </a:defRPr>
            </a:pPr>
            <a:r>
              <a:rPr sz="1200" b="1">
                <a:solidFill>
                  <a:srgbClr val="163963"/>
                </a:solidFill>
              </a:rPr>
              <a:t>从材料上传到识别抽取、问题复核、导出留痕，演示核心工作流。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A5AEA4-8B37-4D28-A4D4-032B5974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10972800" cy="3009900"/>
          </a:xfrm>
          <a:prstGeom xmlns:a="http://schemas.openxmlformats.org/drawingml/2006/main" prst="roundRect">
            <a:avLst>
              <a:gd name="adj" fmla="val 3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4C5D16-487D-4CF4-BA05-B433393E3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10972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1D8B39-CBC0-487C-8AB4-B6E55AD1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24955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978E56-EEBC-47CB-B4C0-0BEE9142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2495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355EBC-CE28-4158-A5C3-084D7F0D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05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081FE8-707C-4555-8C1B-74A1B68F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0997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549D"/>
                </a:solidFill>
              </a:defRPr>
            </a:pPr>
            <a:r>
              <a:rPr sz="1050" b="1">
                <a:solidFill>
                  <a:srgbClr val="07549D"/>
                </a:solidFill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ECD0F9-1548-4BAF-94B2-E60605E0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505200"/>
            <a:ext cx="1562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2B58"/>
                </a:solidFill>
              </a:defRPr>
            </a:pPr>
            <a:r>
              <a:rPr sz="1350" b="1">
                <a:solidFill>
                  <a:srgbClr val="062B58"/>
                </a:solidFill>
              </a:rPr>
              <a:t>材料接入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44F89A-9C44-43E7-9624-DEFE39EC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0"/>
            <a:ext cx="2038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4C6E"/>
                </a:solidFill>
              </a:defRPr>
            </a:pPr>
            <a:r>
              <a:rPr sz="1050" b="1">
                <a:solidFill>
                  <a:srgbClr val="2D4C6E"/>
                </a:solidFill>
              </a:rPr>
              <a:t>批量上传 PDF、图片、截图或压缩包，系统自动生成任务并归档。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CED6C9-F7ED-4EFF-9E7D-F61807BC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76600"/>
            <a:ext cx="24955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41EA40-1CCB-4790-839D-2D60D484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76600"/>
            <a:ext cx="2495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E54594-7351-4856-8794-09551618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505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6F8635-98D6-4633-A84D-CAD9AFD5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60997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549D"/>
                </a:solidFill>
              </a:defRPr>
            </a:pPr>
            <a:r>
              <a:rPr sz="1050" b="1">
                <a:solidFill>
                  <a:srgbClr val="07549D"/>
                </a:solidFill>
              </a:rPr>
              <a:t>02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30363C-A036-4233-9CCB-35421A04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505200"/>
            <a:ext cx="1562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2B58"/>
                </a:solidFill>
              </a:defRPr>
            </a:pPr>
            <a:r>
              <a:rPr sz="1350" b="1">
                <a:solidFill>
                  <a:srgbClr val="062B58"/>
                </a:solidFill>
              </a:rPr>
              <a:t>识别抽取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595821-96CF-41F6-B88E-D8C25B8A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95750"/>
            <a:ext cx="2038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4C6E"/>
                </a:solidFill>
              </a:defRPr>
            </a:pPr>
            <a:r>
              <a:rPr sz="1050" b="1">
                <a:solidFill>
                  <a:srgbClr val="2D4C6E"/>
                </a:solidFill>
              </a:rPr>
              <a:t>解析身份、账户、持仓、交易和证明类材料，生成候选结果。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4A485C-A07B-4BCE-99F1-20A14884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76600"/>
            <a:ext cx="24955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A470E1-8DDF-44EA-8384-3F111ADC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76600"/>
            <a:ext cx="2495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66EF86-BEC1-4ABD-A49D-34C777CD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05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FCFD51-9553-4F61-B1DF-7BE7FA9E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0997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549D"/>
                </a:solidFill>
              </a:defRPr>
            </a:pPr>
            <a:r>
              <a:rPr sz="1050" b="1">
                <a:solidFill>
                  <a:srgbClr val="07549D"/>
                </a:solidFill>
              </a:rPr>
              <a:t>03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C0BAD6-84BB-4B4D-804B-307C3B75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05200"/>
            <a:ext cx="1562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2B58"/>
                </a:solidFill>
              </a:defRPr>
            </a:pPr>
            <a:r>
              <a:rPr sz="1350" b="1">
                <a:solidFill>
                  <a:srgbClr val="062B58"/>
                </a:solidFill>
              </a:rPr>
              <a:t>人工复核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90CF7C-6AEC-4772-9A03-469950E0C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95750"/>
            <a:ext cx="2038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4C6E"/>
                </a:solidFill>
              </a:defRPr>
            </a:pPr>
            <a:r>
              <a:rPr sz="1050" b="1">
                <a:solidFill>
                  <a:srgbClr val="2D4C6E"/>
                </a:solidFill>
              </a:rPr>
              <a:t>围绕问题项修正字段、确认合规结论，并回看证据位置。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EBA8C8-8400-4A44-9548-4CF8BF86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276600"/>
            <a:ext cx="24955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F9CE6B-C232-4310-967F-FF45C0C4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276600"/>
            <a:ext cx="2495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23544F-3487-4D00-B5A0-37519C2D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052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2F8EBA3-54A2-4EFD-8A01-912A1F21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0997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549D"/>
                </a:solidFill>
              </a:defRPr>
            </a:pPr>
            <a:r>
              <a:rPr sz="1050" b="1">
                <a:solidFill>
                  <a:srgbClr val="07549D"/>
                </a:solidFill>
              </a:rPr>
              <a:t>04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404D348-4C2A-44A0-A802-4195EFB5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505200"/>
            <a:ext cx="1562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2B58"/>
                </a:solidFill>
              </a:defRPr>
            </a:pPr>
            <a:r>
              <a:rPr sz="1350" b="1">
                <a:solidFill>
                  <a:srgbClr val="062B58"/>
                </a:solidFill>
              </a:rPr>
              <a:t>导出留痕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4E4B61C-BBAE-4248-B60B-CCFBA554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95750"/>
            <a:ext cx="20383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4C6E"/>
                </a:solidFill>
              </a:defRPr>
            </a:pPr>
            <a:r>
              <a:rPr sz="1050" b="1">
                <a:solidFill>
                  <a:srgbClr val="2D4C6E"/>
                </a:solidFill>
              </a:rPr>
              <a:t>输出最终表、完整表、持仓表、问题清单及系统回传记录。</a:t>
            </a:r>
          </a:p>
        </p:txBody>
      </p:sp>
    </p:spTree>
    <p:extLst>
      <p:ext uri="{BB962C8B-B14F-4D97-AF65-F5344CB8AC3E}">
        <p14:creationId xmlns:p14="http://schemas.microsoft.com/office/powerpoint/2010/main" val="16406145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DC8085-BB1F-4611-844B-801E150C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5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281BD5-2D22-4CFF-AE06-1AC82A84D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5725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C89982-EE72-4754-9297-C04E386B9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 FUND 易方达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503F58-35D1-476F-9C23-A87A4641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9075"/>
            <a:ext cx="223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DCE7F4"/>
                </a:solidFill>
              </a:defRPr>
            </a:pPr>
            <a:r>
              <a:rPr sz="1050" b="1">
                <a:solidFill>
                  <a:srgbClr val="DCE7F4"/>
                </a:solidFill>
              </a:rPr>
              <a:t>项目拓展性 · 提升价值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D5D80E-2794-4694-BBE2-030C10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84D7E7-20B9-4A3D-AE85-CCD29CE4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F93AA"/>
                </a:solidFill>
              </a:defRPr>
            </a:pPr>
            <a:r>
              <a:rPr sz="750" b="1">
                <a:solidFill>
                  <a:srgbClr val="7F93AA"/>
                </a:solidFill>
              </a:rPr>
              <a:t>易方达基金 · 内部交流，请勿外传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2A7F00-2376-441F-AC7A-F38A49FD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7225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F93AA"/>
                </a:solidFill>
              </a:defRPr>
            </a:pPr>
            <a:r>
              <a:rPr sz="900" b="1">
                <a:solidFill>
                  <a:srgbClr val="7F93AA"/>
                </a:solidFill>
              </a:rPr>
              <a:t>15 / 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5A66F8-99B6-480E-B022-F13DF553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3A78"/>
                </a:solidFill>
              </a:defRPr>
            </a:pPr>
            <a:r>
              <a:rPr sz="1200" b="1">
                <a:solidFill>
                  <a:srgbClr val="073A78"/>
                </a:solidFill>
              </a:rPr>
              <a:t>拓展一 | 泛化能力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D328FD-126C-4FE5-BD02-3D3A1FA5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62B58"/>
                </a:solidFill>
              </a:defRPr>
            </a:pPr>
            <a:r>
              <a:rPr sz="2700" b="1">
                <a:solidFill>
                  <a:srgbClr val="062B58"/>
                </a:solidFill>
              </a:rPr>
              <a:t>多来源材料识别能力拓展：泛化能力与识别准确率提高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E3A30E-C0D5-4293-AB9C-6ADDC51B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B09545-1AE5-4923-BAF5-03BB6104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573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E59B38-25DA-43FB-9AD7-E5C89225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549D"/>
                </a:solidFill>
              </a:defRPr>
            </a:pPr>
            <a:r>
              <a:rPr sz="1125" b="1">
                <a:solidFill>
                  <a:srgbClr val="07549D"/>
                </a:solidFill>
              </a:rPr>
              <a:t>Q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A11FC7-5AF9-4229-A031-A9158DC9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943100"/>
            <a:ext cx="965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963"/>
                </a:solidFill>
              </a:defRPr>
            </a:pPr>
            <a:r>
              <a:rPr sz="1200" b="1">
                <a:solidFill>
                  <a:srgbClr val="163963"/>
                </a:solidFill>
              </a:rPr>
              <a:t>增强 Graph RAG，并强化 LLM 与 PDF 解析、OCR、表格抽取结果之间的协同，支持更多券商材料接入。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CE1ECE-AB64-4924-B21F-D293F37F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53911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8CC5E6-719E-4385-A53C-7E3AE45E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5391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CB7BF1-62F6-476B-BADA-68B4CA89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38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89FF91-55EC-4D2C-B34B-908713FE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432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A8C8"/>
                </a:solidFill>
              </a:defRPr>
            </a:pPr>
            <a:r>
              <a:rPr sz="1050" b="1">
                <a:solidFill>
                  <a:srgbClr val="00A8C8"/>
                </a:solidFill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FC3986-F379-4F2E-A5CE-ED405F09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38450"/>
            <a:ext cx="4457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2B58"/>
                </a:solidFill>
              </a:defRPr>
            </a:pPr>
            <a:r>
              <a:rPr sz="1350" b="1">
                <a:solidFill>
                  <a:srgbClr val="062B58"/>
                </a:solidFill>
              </a:rPr>
              <a:t>主线一：多券商材料泛化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297F6B-0B99-4A67-90A7-C67C68B0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49339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3B64"/>
                </a:solidFill>
              </a:defRPr>
            </a:pPr>
            <a:r>
              <a:rPr sz="863" b="1">
                <a:solidFill>
                  <a:srgbClr val="173B64"/>
                </a:solidFill>
              </a:rPr>
              <a:t>• 建立多券商字段别名、交易类型表达、表格结构和证据位置关系</a:t>
            </a:r>
          </a:p>
          <a:p xmlns:a="http://schemas.openxmlformats.org/drawingml/2006/main">
            <a:pPr algn="l">
              <a:defRPr sz="863" b="1">
                <a:solidFill>
                  <a:srgbClr val="173B64"/>
                </a:solidFill>
              </a:defRPr>
            </a:pPr>
            <a:r>
              <a:rPr sz="863" b="1">
                <a:solidFill>
                  <a:srgbClr val="173B64"/>
                </a:solidFill>
              </a:rPr>
              <a:t>• 识别不同券商材料中不同表达背后的同一业务含义</a:t>
            </a:r>
          </a:p>
          <a:p xmlns:a="http://schemas.openxmlformats.org/drawingml/2006/main">
            <a:pPr algn="l">
              <a:defRPr sz="863" b="1">
                <a:solidFill>
                  <a:srgbClr val="173B64"/>
                </a:solidFill>
              </a:defRPr>
            </a:pPr>
            <a:r>
              <a:rPr sz="863" b="1">
                <a:solidFill>
                  <a:srgbClr val="173B64"/>
                </a:solidFill>
              </a:rPr>
              <a:t>• 新券商材料接入时，减少完全依赖人工重新适配</a:t>
            </a:r>
          </a:p>
          <a:p xmlns:a="http://schemas.openxmlformats.org/drawingml/2006/main">
            <a:pPr algn="l">
              <a:defRPr sz="863" b="1">
                <a:solidFill>
                  <a:srgbClr val="173B64"/>
                </a:solidFill>
              </a:defRPr>
            </a:pPr>
            <a:r>
              <a:rPr sz="863" b="1">
                <a:solidFill>
                  <a:srgbClr val="173B64"/>
                </a:solidFill>
              </a:rPr>
              <a:t>• Graph RAG 解决券商格式和业务表达不一致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A7E175-2F0C-4622-B232-11DBABBE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09850"/>
            <a:ext cx="53911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DB0907-058F-4F33-85BB-76826BAE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09850"/>
            <a:ext cx="5391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8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C27367-1F9E-43D3-9F52-05B94019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38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7303AB-E1AC-4FE5-AAB9-88CA3A04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432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87817"/>
                </a:solidFill>
              </a:defRPr>
            </a:pPr>
            <a:r>
              <a:rPr sz="1050" b="1">
                <a:solidFill>
                  <a:srgbClr val="E87817"/>
                </a:solidFill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20E94C-55ED-4408-8AD2-8704575B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38450"/>
            <a:ext cx="4457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2B58"/>
                </a:solidFill>
              </a:defRPr>
            </a:pPr>
            <a:r>
              <a:rPr sz="1350" b="1">
                <a:solidFill>
                  <a:srgbClr val="062B58"/>
                </a:solidFill>
              </a:rPr>
              <a:t>主线二：解析与模型协同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8E0D93-E5C6-4D43-85F6-1139CA99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86150"/>
            <a:ext cx="49339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73B64"/>
                </a:solidFill>
              </a:defRPr>
            </a:pPr>
            <a:r>
              <a:rPr sz="863" b="1">
                <a:solidFill>
                  <a:srgbClr val="173B64"/>
                </a:solidFill>
              </a:rPr>
              <a:t>• PDF 解析、OCR、表格抽取先保留行列结构、页码、区域和上下文</a:t>
            </a:r>
          </a:p>
          <a:p xmlns:a="http://schemas.openxmlformats.org/drawingml/2006/main">
            <a:pPr algn="l">
              <a:defRPr sz="863" b="1">
                <a:solidFill>
                  <a:srgbClr val="173B64"/>
                </a:solidFill>
              </a:defRPr>
            </a:pPr>
            <a:r>
              <a:rPr sz="863" b="1">
                <a:solidFill>
                  <a:srgbClr val="173B64"/>
                </a:solidFill>
              </a:rPr>
              <a:t>• LLM 处理整理后的结构化输入，而不是混乱原始文件</a:t>
            </a:r>
          </a:p>
          <a:p xmlns:a="http://schemas.openxmlformats.org/drawingml/2006/main">
            <a:pPr algn="l">
              <a:defRPr sz="863" b="1">
                <a:solidFill>
                  <a:srgbClr val="173B64"/>
                </a:solidFill>
              </a:defRPr>
            </a:pPr>
            <a:r>
              <a:rPr sz="863" b="1">
                <a:solidFill>
                  <a:srgbClr val="173B64"/>
                </a:solidFill>
              </a:rPr>
              <a:t>• 低置信 OCR、跨页表格、字段缺失、异常格式进入复核</a:t>
            </a:r>
          </a:p>
          <a:p xmlns:a="http://schemas.openxmlformats.org/drawingml/2006/main">
            <a:pPr algn="l">
              <a:defRPr sz="863" b="1">
                <a:solidFill>
                  <a:srgbClr val="173B64"/>
                </a:solidFill>
              </a:defRPr>
            </a:pPr>
            <a:r>
              <a:rPr sz="863" b="1">
                <a:solidFill>
                  <a:srgbClr val="173B64"/>
                </a:solidFill>
              </a:rPr>
              <a:t>• 解析协同解决复杂材料输入质量不稳定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C16C1C-3D05-4F1B-9421-851CEC39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2B58"/>
                </a:solidFill>
              </a:defRPr>
            </a:pPr>
            <a:r>
              <a:rPr sz="1350" b="1">
                <a:solidFill>
                  <a:srgbClr val="062B58"/>
                </a:solidFill>
              </a:rPr>
              <a:t>目标效果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FEA986-6398-4D25-93EA-57D2B023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9A6B31-88A9-4ABC-9568-C70BBBD2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00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2EA441-251A-4014-91A2-AD414B54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054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549D"/>
                </a:solidFill>
              </a:defRPr>
            </a:pPr>
            <a:r>
              <a:rPr sz="1125" b="1">
                <a:solidFill>
                  <a:srgbClr val="07549D"/>
                </a:solidFill>
              </a:rPr>
              <a:t>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4EE6B0-4354-4D19-BBC7-60F6F843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619750"/>
            <a:ext cx="2009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2B58"/>
                </a:solidFill>
              </a:defRPr>
            </a:pPr>
            <a:r>
              <a:rPr sz="1125" b="1">
                <a:solidFill>
                  <a:srgbClr val="062B58"/>
                </a:solidFill>
              </a:rPr>
              <a:t>多券商接入更快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B4C356-0CA7-4C54-A4D5-F856E4E5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867400"/>
            <a:ext cx="2009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4B647E"/>
                </a:solidFill>
              </a:defRPr>
            </a:pPr>
            <a:r>
              <a:rPr sz="863" b="1">
                <a:solidFill>
                  <a:srgbClr val="4B647E"/>
                </a:solidFill>
              </a:rPr>
              <a:t>复用业务语义关系，减少重复适配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3603B1-2671-4EF5-B3A3-A6240AA3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556260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1A1EAC-AF83-4D76-BF7C-D6229701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5600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306F7F-AA99-481E-BD0B-D024BBCE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57054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549D"/>
                </a:solidFill>
              </a:defRPr>
            </a:pPr>
            <a:r>
              <a:rPr sz="1125" b="1">
                <a:solidFill>
                  <a:srgbClr val="07549D"/>
                </a:solidFill>
              </a:rPr>
              <a:t>✓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36AADF-BD21-4169-A00E-8DF663A0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619750"/>
            <a:ext cx="2009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2B58"/>
                </a:solidFill>
              </a:defRPr>
            </a:pPr>
            <a:r>
              <a:rPr sz="1125" b="1">
                <a:solidFill>
                  <a:srgbClr val="062B58"/>
                </a:solidFill>
              </a:rPr>
              <a:t>复杂材料识别更准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842354-F43F-4215-81AB-9DAB6B83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867400"/>
            <a:ext cx="2009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4B647E"/>
                </a:solidFill>
              </a:defRPr>
            </a:pPr>
            <a:r>
              <a:rPr sz="863" b="1">
                <a:solidFill>
                  <a:srgbClr val="4B647E"/>
                </a:solidFill>
              </a:rPr>
              <a:t>减少 OCR 错漏、表格错位和跨页丢失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2946B3-B068-4E8C-8DCE-6C262097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6260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12638D-F9D9-4089-9D6B-3B7A3908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600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883EFFF-A59C-4E2B-9370-AC2A4823C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7054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549D"/>
                </a:solidFill>
              </a:defRPr>
            </a:pPr>
            <a:r>
              <a:rPr sz="1125" b="1">
                <a:solidFill>
                  <a:srgbClr val="07549D"/>
                </a:solidFill>
              </a:rPr>
              <a:t>✓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22E9240-01A2-4609-A61E-82F5B293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619750"/>
            <a:ext cx="2009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2B58"/>
                </a:solidFill>
              </a:defRPr>
            </a:pPr>
            <a:r>
              <a:rPr sz="1125" b="1">
                <a:solidFill>
                  <a:srgbClr val="062B58"/>
                </a:solidFill>
              </a:rPr>
              <a:t>抽取结果更可追溯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D6B776F-5CA7-4C2D-A677-E284A872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867400"/>
            <a:ext cx="2009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4B647E"/>
                </a:solidFill>
              </a:defRPr>
            </a:pPr>
            <a:r>
              <a:rPr sz="863" b="1">
                <a:solidFill>
                  <a:srgbClr val="4B647E"/>
                </a:solidFill>
              </a:rPr>
              <a:t>字段回到页码、区域和原始证据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CB60DDF-3A9E-424E-9443-579CB39F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556260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58DE2A8-E299-432A-80E1-BB04D7BE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5600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462EB0B-93B8-433D-A12A-45E4B46A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57054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549D"/>
                </a:solidFill>
              </a:defRPr>
            </a:pPr>
            <a:r>
              <a:rPr sz="1125" b="1">
                <a:solidFill>
                  <a:srgbClr val="07549D"/>
                </a:solidFill>
              </a:rPr>
              <a:t>✓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63A9073-8A74-49B6-A1C2-E49E9629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619750"/>
            <a:ext cx="2009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2B58"/>
                </a:solidFill>
              </a:defRPr>
            </a:pPr>
            <a:r>
              <a:rPr sz="1125" b="1">
                <a:solidFill>
                  <a:srgbClr val="062B58"/>
                </a:solidFill>
              </a:rPr>
              <a:t>泛化能力可持续沉淀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DE2637B-9C3A-46B5-A099-CE9AACAE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867400"/>
            <a:ext cx="20097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4B647E"/>
                </a:solidFill>
              </a:defRPr>
            </a:pPr>
            <a:r>
              <a:rPr sz="863" b="1">
                <a:solidFill>
                  <a:srgbClr val="4B647E"/>
                </a:solidFill>
              </a:rPr>
              <a:t>新材料反哺图谱和解析策略</a:t>
            </a:r>
          </a:p>
        </p:txBody>
      </p:sp>
    </p:spTree>
    <p:extLst>
      <p:ext uri="{BB962C8B-B14F-4D97-AF65-F5344CB8AC3E}">
        <p14:creationId xmlns:p14="http://schemas.microsoft.com/office/powerpoint/2010/main" val="675727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5DD6D2-4FA1-41ED-ACFD-483B1D7F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5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18DC6B-D589-4392-A796-2F18C71C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5725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830F0E-20CD-4EAC-8003-025CD46A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 FUND 易方达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3CAE02-B5C5-4D9A-93C5-4A351B5A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9075"/>
            <a:ext cx="223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DCE7F4"/>
                </a:solidFill>
              </a:defRPr>
            </a:pPr>
            <a:r>
              <a:rPr sz="1050" b="1">
                <a:solidFill>
                  <a:srgbClr val="DCE7F4"/>
                </a:solidFill>
              </a:rPr>
              <a:t>项目拓展性 · 提升价值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AE2CA0-19AD-4C17-81B9-EDE31CC0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724560-FE35-4BA8-98D6-BF93DFF1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F93AA"/>
                </a:solidFill>
              </a:defRPr>
            </a:pPr>
            <a:r>
              <a:rPr sz="750" b="1">
                <a:solidFill>
                  <a:srgbClr val="7F93AA"/>
                </a:solidFill>
              </a:rPr>
              <a:t>易方达基金 · 内部交流，请勿外传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C782EF-3F79-4C61-8F36-A646DB8F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7225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F93AA"/>
                </a:solidFill>
              </a:defRPr>
            </a:pPr>
            <a:r>
              <a:rPr sz="900" b="1">
                <a:solidFill>
                  <a:srgbClr val="7F93AA"/>
                </a:solidFill>
              </a:rPr>
              <a:t>16 / 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209A8B-6B21-49FD-B659-6CF1355F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3A78"/>
                </a:solidFill>
              </a:defRPr>
            </a:pPr>
            <a:r>
              <a:rPr sz="1200" b="1">
                <a:solidFill>
                  <a:srgbClr val="073A78"/>
                </a:solidFill>
              </a:rPr>
              <a:t>拓展二 | 规则知识化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B75D08-4E65-4E20-AF47-52FB128B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62B58"/>
                </a:solidFill>
              </a:defRPr>
            </a:pPr>
            <a:r>
              <a:rPr sz="2700" b="1">
                <a:solidFill>
                  <a:srgbClr val="062B58"/>
                </a:solidFill>
              </a:rPr>
              <a:t>合规规则知识化拓展：支撑规则校验与“问小易”问答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02E52A-663A-4F0C-8341-1284D9C2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752048-BDB8-4051-B78E-DFFE97FC0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573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6457FF-D974-4ADB-BFFC-B0149167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549D"/>
                </a:solidFill>
              </a:defRPr>
            </a:pPr>
            <a:r>
              <a:rPr sz="1125" b="1">
                <a:solidFill>
                  <a:srgbClr val="07549D"/>
                </a:solidFill>
              </a:rPr>
              <a:t>Q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A88DE1-30E9-453D-A01B-8163844C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943100"/>
            <a:ext cx="965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963"/>
                </a:solidFill>
              </a:defRPr>
            </a:pPr>
            <a:r>
              <a:rPr sz="1200" b="1">
                <a:solidFill>
                  <a:srgbClr val="163963"/>
                </a:solidFill>
              </a:rPr>
              <a:t>建设可检索、可维护、可追溯的合规知识库，将制度条款、业务口径、材料要求、复核经验和常见问题沉淀为可调用知识资产。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6DD129-1115-4AB7-B1F3-B2B70CD5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53911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AA8E10-AD75-4ADA-9F69-EE7B2595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5391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33A86D-1383-4C09-9A76-220201B8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38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AE8A0D-266A-470A-ACED-63BD39B9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432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A8C8"/>
                </a:solidFill>
              </a:defRPr>
            </a:pPr>
            <a:r>
              <a:rPr sz="1050" b="1">
                <a:solidFill>
                  <a:srgbClr val="00A8C8"/>
                </a:solidFill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C1BF20-E630-4549-BF4C-1BB2D318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38450"/>
            <a:ext cx="4457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2B58"/>
                </a:solidFill>
              </a:defRPr>
            </a:pPr>
            <a:r>
              <a:rPr sz="1350" b="1">
                <a:solidFill>
                  <a:srgbClr val="062B58"/>
                </a:solidFill>
              </a:rPr>
              <a:t>目标一：增强合规规则校验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6415C9-F115-4759-80B0-363C988B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4933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3B64"/>
                </a:solidFill>
              </a:defRPr>
            </a:pPr>
            <a:r>
              <a:rPr sz="900" b="1">
                <a:solidFill>
                  <a:srgbClr val="173B64"/>
                </a:solidFill>
              </a:rPr>
              <a:t>• 抽取结果形成后，调用知识库中的制度条款、材料要求和校验口径</a:t>
            </a:r>
          </a:p>
          <a:p xmlns:a="http://schemas.openxmlformats.org/drawingml/2006/main">
            <a:pPr algn="l">
              <a:defRPr sz="900" b="1">
                <a:solidFill>
                  <a:srgbClr val="173B64"/>
                </a:solidFill>
              </a:defRPr>
            </a:pPr>
            <a:r>
              <a:rPr sz="900" b="1">
                <a:solidFill>
                  <a:srgbClr val="173B64"/>
                </a:solidFill>
              </a:rPr>
              <a:t>• 辅助判断字段缺失、材料支撑不足、交易是否属于申报范围</a:t>
            </a:r>
          </a:p>
          <a:p xmlns:a="http://schemas.openxmlformats.org/drawingml/2006/main">
            <a:pPr algn="l">
              <a:defRPr sz="900" b="1">
                <a:solidFill>
                  <a:srgbClr val="173B64"/>
                </a:solidFill>
              </a:defRPr>
            </a:pPr>
            <a:r>
              <a:rPr sz="900" b="1">
                <a:solidFill>
                  <a:srgbClr val="173B64"/>
                </a:solidFill>
              </a:rPr>
              <a:t>• 输出规则依据、适用口径和需要人工确认的问题项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1551CE-D7A1-4D8E-A490-37480202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09850"/>
            <a:ext cx="53911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2C2C70-7266-4600-9F85-3862AA8D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09850"/>
            <a:ext cx="5391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4AF675-B157-4D37-BC62-D863F2D9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38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9F1FD3-4C4A-4BB8-BD31-22125620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432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A8C8"/>
                </a:solidFill>
              </a:defRPr>
            </a:pPr>
            <a:r>
              <a:rPr sz="1050" b="1">
                <a:solidFill>
                  <a:srgbClr val="00A8C8"/>
                </a:solidFill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1047A0-AB15-4956-8C9E-88FDB24E1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38450"/>
            <a:ext cx="44577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2B58"/>
                </a:solidFill>
              </a:defRPr>
            </a:pPr>
            <a:r>
              <a:rPr sz="1350" b="1">
                <a:solidFill>
                  <a:srgbClr val="062B58"/>
                </a:solidFill>
              </a:rPr>
              <a:t>目标二：增强“问小易”合规问答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79AD75-8DAD-40FD-A3C0-A494AC3F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86150"/>
            <a:ext cx="4933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3B64"/>
                </a:solidFill>
              </a:defRPr>
            </a:pPr>
            <a:r>
              <a:rPr sz="900" b="1">
                <a:solidFill>
                  <a:srgbClr val="173B64"/>
                </a:solidFill>
              </a:rPr>
              <a:t>• 员工和复核人员可自然语言查询申报范围、材料要求和流程口径</a:t>
            </a:r>
          </a:p>
          <a:p xmlns:a="http://schemas.openxmlformats.org/drawingml/2006/main">
            <a:pPr algn="l">
              <a:defRPr sz="900" b="1">
                <a:solidFill>
                  <a:srgbClr val="173B64"/>
                </a:solidFill>
              </a:defRPr>
            </a:pPr>
            <a:r>
              <a:rPr sz="900" b="1">
                <a:solidFill>
                  <a:srgbClr val="173B64"/>
                </a:solidFill>
              </a:rPr>
              <a:t>• 回答附带依据来源、适用范围和人工复核提示</a:t>
            </a:r>
          </a:p>
          <a:p xmlns:a="http://schemas.openxmlformats.org/drawingml/2006/main">
            <a:pPr algn="l">
              <a:defRPr sz="900" b="1">
                <a:solidFill>
                  <a:srgbClr val="173B64"/>
                </a:solidFill>
              </a:defRPr>
            </a:pPr>
            <a:r>
              <a:rPr sz="900" b="1">
                <a:solidFill>
                  <a:srgbClr val="173B64"/>
                </a:solidFill>
              </a:rPr>
              <a:t>• 常见问题和复核经验持续沉淀，形成可维护知识资产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F9C735-90CC-43C4-A5E2-B964CF39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67350"/>
            <a:ext cx="27559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73A78"/>
          </a:solidFill>
          <a:ln xmlns:a="http://schemas.openxmlformats.org/drawingml/2006/main" w="9525">
            <a:solidFill>
              <a:srgbClr val="073A7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4E92D7-1AE1-4C8A-B43B-A6F3E880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562600"/>
            <a:ext cx="264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规则口径结构化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9BF2AB-E9C1-4781-9873-B34E4812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1825" y="55245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758BA5"/>
                </a:solidFill>
              </a:defRPr>
            </a:pPr>
            <a:r>
              <a:rPr sz="1725" b="0">
                <a:solidFill>
                  <a:srgbClr val="758BA5"/>
                </a:solidFill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8DF2C7-D878-4842-B0C7-78575E24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050" y="5467350"/>
            <a:ext cx="27559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73A78"/>
          </a:solidFill>
          <a:ln xmlns:a="http://schemas.openxmlformats.org/drawingml/2006/main" w="9525">
            <a:solidFill>
              <a:srgbClr val="073A7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4A2094-BBB2-4233-BA74-330B34A6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200" y="5562600"/>
            <a:ext cx="264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系统调用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523A06-C39C-4656-A3CD-7A6C87C7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0625" y="5524500"/>
            <a:ext cx="209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758BA5"/>
                </a:solidFill>
              </a:defRPr>
            </a:pPr>
            <a:r>
              <a:rPr sz="1725" b="0">
                <a:solidFill>
                  <a:srgbClr val="758BA5"/>
                </a:solidFill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B0E237-5977-4098-93FD-7C23F68F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6850" y="5467350"/>
            <a:ext cx="27559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73A78"/>
          </a:solidFill>
          <a:ln xmlns:a="http://schemas.openxmlformats.org/drawingml/2006/main" w="9525">
            <a:solidFill>
              <a:srgbClr val="073A7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72D5E2-B144-45FC-BB52-18445BD3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5562600"/>
            <a:ext cx="264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依据留痕</a:t>
            </a:r>
          </a:p>
        </p:txBody>
      </p:sp>
    </p:spTree>
    <p:extLst>
      <p:ext uri="{BB962C8B-B14F-4D97-AF65-F5344CB8AC3E}">
        <p14:creationId xmlns:p14="http://schemas.microsoft.com/office/powerpoint/2010/main" val="63191535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DF5CDC-D957-411F-B01F-C976940F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B5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B846C5-925D-41AF-9384-997F4BEF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5725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2EF15E-94E8-41D9-AF11-3BB82132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E FUND 易方达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F5DDAE-BEAC-4B38-AA91-5EB497A0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9075"/>
            <a:ext cx="2238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DCE7F4"/>
                </a:solidFill>
              </a:defRPr>
            </a:pPr>
            <a:r>
              <a:rPr sz="1050" b="1">
                <a:solidFill>
                  <a:srgbClr val="DCE7F4"/>
                </a:solidFill>
              </a:rPr>
              <a:t>项目拓展性 · 提升价值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14C9EB-C21D-41C8-BB49-F713DFE3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56D653-41C4-4B59-B2D8-38FB917B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F93AA"/>
                </a:solidFill>
              </a:defRPr>
            </a:pPr>
            <a:r>
              <a:rPr sz="750" b="1">
                <a:solidFill>
                  <a:srgbClr val="7F93AA"/>
                </a:solidFill>
              </a:rPr>
              <a:t>易方达基金 · 内部交流，请勿外传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B0992D-5942-494F-B545-38BD841F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57225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F93AA"/>
                </a:solidFill>
              </a:defRPr>
            </a:pPr>
            <a:r>
              <a:rPr sz="900" b="1">
                <a:solidFill>
                  <a:srgbClr val="7F93AA"/>
                </a:solidFill>
              </a:rPr>
              <a:t>17 / 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5B1635-5F33-41EE-A8A8-AA84EF34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3A78"/>
                </a:solidFill>
              </a:defRPr>
            </a:pPr>
            <a:r>
              <a:rPr sz="1200" b="1">
                <a:solidFill>
                  <a:srgbClr val="073A78"/>
                </a:solidFill>
              </a:rPr>
              <a:t>拓展三 | 内控审计复核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684145-FF56-4B43-BF67-927CA8BC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62B58"/>
                </a:solidFill>
              </a:defRPr>
            </a:pPr>
            <a:r>
              <a:rPr sz="2400" b="1">
                <a:solidFill>
                  <a:srgbClr val="062B58"/>
                </a:solidFill>
              </a:rPr>
              <a:t>合规材料复核场景拓展：面向内控与审计材料的初筛归类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7449A1-43B8-415C-96C4-75A3E84B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E9BCDD-DDB1-44DE-8B6D-46FDC35F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573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758BF0-ED12-43EF-9371-42D022EE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549D"/>
                </a:solidFill>
              </a:defRPr>
            </a:pPr>
            <a:r>
              <a:rPr sz="1125" b="1">
                <a:solidFill>
                  <a:srgbClr val="07549D"/>
                </a:solidFill>
              </a:rPr>
              <a:t>Q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D86D30-FE5F-47F0-9473-434363FB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943100"/>
            <a:ext cx="965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3963"/>
                </a:solidFill>
              </a:defRPr>
            </a:pPr>
            <a:r>
              <a:rPr sz="1200" b="1">
                <a:solidFill>
                  <a:srgbClr val="163963"/>
                </a:solidFill>
              </a:rPr>
              <a:t>将材料理解、规则判断、证据链管理能力迁移到内控检查、审计支持、稽核材料整理等复核环节。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4F9E60-C9C7-4446-B0F3-738EBDE5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2643188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A412C9-986E-46E8-AE8D-09E99EB9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264318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B3048C-BF60-4262-ADD0-82973C5D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AFBE86-CF94-411B-868D-9F97A210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3847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549D"/>
                </a:solidFill>
              </a:defRPr>
            </a:pPr>
            <a:r>
              <a:rPr sz="1050" b="1">
                <a:solidFill>
                  <a:srgbClr val="07549D"/>
                </a:solidFill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AA1AF6-A97A-4B46-AADD-C5D44837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33700"/>
            <a:ext cx="1709738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2B58"/>
                </a:solidFill>
              </a:defRPr>
            </a:pPr>
            <a:r>
              <a:rPr sz="1350" b="1">
                <a:solidFill>
                  <a:srgbClr val="062B58"/>
                </a:solidFill>
              </a:rPr>
              <a:t>材料接入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D07765-A777-4B4E-8EDB-01056D15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24250"/>
            <a:ext cx="218598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4C6E"/>
                </a:solidFill>
              </a:defRPr>
            </a:pPr>
            <a:r>
              <a:rPr sz="1050" b="1">
                <a:solidFill>
                  <a:srgbClr val="2D4C6E"/>
                </a:solidFill>
              </a:rPr>
              <a:t>制度 / 附件 / 底稿按项目和流程进入系统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2FA8EA-1340-4091-B8CB-3C9983AA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705100"/>
            <a:ext cx="2643188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9C0EBB-DC6C-419B-B4D2-4DFB13F6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705100"/>
            <a:ext cx="264318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6ED7F3-C75A-4F0C-8A99-CE0E326F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29337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3431BF-3089-4316-8869-EFA99266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588" y="303847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549D"/>
                </a:solidFill>
              </a:defRPr>
            </a:pPr>
            <a:r>
              <a:rPr sz="1050" b="1">
                <a:solidFill>
                  <a:srgbClr val="07549D"/>
                </a:solidFill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3C7712-0144-42E6-B837-339583D6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0038" y="2933700"/>
            <a:ext cx="1709738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2B58"/>
                </a:solidFill>
              </a:defRPr>
            </a:pPr>
            <a:r>
              <a:rPr sz="1350" b="1">
                <a:solidFill>
                  <a:srgbClr val="062B58"/>
                </a:solidFill>
              </a:rPr>
              <a:t>内控初筛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28DA6A-8449-4967-AE5F-D34B0AA5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4738" y="3524250"/>
            <a:ext cx="218598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4C6E"/>
                </a:solidFill>
              </a:defRPr>
            </a:pPr>
            <a:r>
              <a:rPr sz="1050" b="1">
                <a:solidFill>
                  <a:srgbClr val="2D4C6E"/>
                </a:solidFill>
              </a:rPr>
              <a:t>识别材料类型和关键字段，提示缺失、版本、签章异常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A99F1F-D7D9-45FF-8DC7-BD2A07DD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05100"/>
            <a:ext cx="2643188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CDAA39-2B0C-4AD3-B83C-83AA0EA7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705100"/>
            <a:ext cx="264318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83C47F-13ED-4D61-A7E2-04E5A323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337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0DCB58-FC98-49A6-A784-5C683245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3847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549D"/>
                </a:solidFill>
              </a:defRPr>
            </a:pPr>
            <a:r>
              <a:rPr sz="1050" b="1">
                <a:solidFill>
                  <a:srgbClr val="07549D"/>
                </a:solidFill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2C34D3-7839-4648-BFFD-DB0DC3B9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933700"/>
            <a:ext cx="1709738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2B58"/>
                </a:solidFill>
              </a:defRPr>
            </a:pPr>
            <a:r>
              <a:rPr sz="1350" b="1">
                <a:solidFill>
                  <a:srgbClr val="062B58"/>
                </a:solidFill>
              </a:rPr>
              <a:t>审计归类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A7F713-60F4-4134-83AB-5166D607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524250"/>
            <a:ext cx="218598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4C6E"/>
                </a:solidFill>
              </a:defRPr>
            </a:pPr>
            <a:r>
              <a:rPr sz="1050" b="1">
                <a:solidFill>
                  <a:srgbClr val="2D4C6E"/>
                </a:solidFill>
              </a:rPr>
              <a:t>按期间、机构、业务类型归档，抽取事实和证据位置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B18DAA-8FFA-4DB4-97D2-620CE240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213" y="2705100"/>
            <a:ext cx="2643188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E40F11-5CA6-4248-BE15-E73B3A75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213" y="2705100"/>
            <a:ext cx="2643188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9E8832-7CCA-4356-817C-8DF27147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663" y="29337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7CD5C7-FE6F-409B-86F8-1A3943CC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663" y="303847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549D"/>
                </a:solidFill>
              </a:defRPr>
            </a:pPr>
            <a:r>
              <a:rPr sz="1050" b="1">
                <a:solidFill>
                  <a:srgbClr val="07549D"/>
                </a:solidFill>
              </a:rPr>
              <a:t>04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49E4112-D7A3-4A00-B12F-D3480810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3113" y="2933700"/>
            <a:ext cx="1709738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2B58"/>
                </a:solidFill>
              </a:defRPr>
            </a:pPr>
            <a:r>
              <a:rPr sz="1350" b="1">
                <a:solidFill>
                  <a:srgbClr val="062B58"/>
                </a:solidFill>
              </a:rPr>
              <a:t>人工确认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78E85C-CFD3-4A97-A2C6-D559F6F9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7813" y="3524250"/>
            <a:ext cx="2185988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4C6E"/>
                </a:solidFill>
              </a:defRPr>
            </a:pPr>
            <a:r>
              <a:rPr sz="1050" b="1">
                <a:solidFill>
                  <a:srgbClr val="2D4C6E"/>
                </a:solidFill>
              </a:rPr>
              <a:t>高风险和冲突事项入清单，复核结论反向沉淀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716DC9-62C9-4344-816F-B143FC52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9728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F802DAE-855F-499E-8D8E-6184AE94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81550"/>
            <a:ext cx="1036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2B58"/>
                </a:solidFill>
              </a:defRPr>
            </a:pPr>
            <a:r>
              <a:rPr sz="975" b="1">
                <a:solidFill>
                  <a:srgbClr val="062B58"/>
                </a:solidFill>
              </a:rPr>
              <a:t>适合材料密集、规则明确、需要证据索引的复核环节；系统负责初筛、归类、提示和索引，不替代内控或审计人员作出最终判断。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FEB72A6-FCC5-45FC-8C0D-87CEB19F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2614613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8D17BB0-4569-4122-A9B9-2186B4BA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3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E6304D4-6B71-461C-B856-FE5E074D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38800"/>
            <a:ext cx="23860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2B58"/>
                </a:solidFill>
              </a:defRPr>
            </a:pPr>
            <a:r>
              <a:rPr sz="975" b="1">
                <a:solidFill>
                  <a:srgbClr val="062B58"/>
                </a:solidFill>
              </a:rPr>
              <a:t>降低整理成本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50465B3-2077-482A-8AA5-203F5F35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5524500"/>
            <a:ext cx="2614613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F4B602F-6B7B-44C6-939F-B1A645BA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5524500"/>
            <a:ext cx="3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05679DB-0A1F-4934-AEBF-9786D75C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013" y="5638800"/>
            <a:ext cx="23860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2B58"/>
                </a:solidFill>
              </a:defRPr>
            </a:pPr>
            <a:r>
              <a:rPr sz="975" b="1">
                <a:solidFill>
                  <a:srgbClr val="062B58"/>
                </a:solidFill>
              </a:rPr>
              <a:t>提高初筛一致性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0DBA1C4-8AC0-42EF-A1B8-7AC510E9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5524500"/>
            <a:ext cx="2614613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E0BA7FE-2ACF-4EC1-BA9D-179E91BC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5524500"/>
            <a:ext cx="3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5E40AA6-115D-4B33-90CD-CF1B5515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638800"/>
            <a:ext cx="23860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2B58"/>
                </a:solidFill>
              </a:defRPr>
            </a:pPr>
            <a:r>
              <a:rPr sz="975" b="1">
                <a:solidFill>
                  <a:srgbClr val="062B58"/>
                </a:solidFill>
              </a:rPr>
              <a:t>强化证据管理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29694F6-7DB3-4B03-91F7-CD2F65FB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5524500"/>
            <a:ext cx="2614613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5656DCC-B9CD-47B4-99EF-6D3C4551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5524500"/>
            <a:ext cx="3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6D83C44-E016-46D5-95D1-5D10633C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5638800"/>
            <a:ext cx="2386013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2B58"/>
                </a:solidFill>
              </a:defRPr>
            </a:pPr>
            <a:r>
              <a:rPr sz="975" b="1">
                <a:solidFill>
                  <a:srgbClr val="062B58"/>
                </a:solidFill>
              </a:rPr>
              <a:t>形成可迁移能力底座</a:t>
            </a:r>
          </a:p>
        </p:txBody>
      </p:sp>
    </p:spTree>
    <p:extLst>
      <p:ext uri="{BB962C8B-B14F-4D97-AF65-F5344CB8AC3E}">
        <p14:creationId xmlns:p14="http://schemas.microsoft.com/office/powerpoint/2010/main" val="10356836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2026-06-24T02:17:46.2310000Z</dcterms:created>
  <dcterms:modified xsi:type="dcterms:W3CDTF">2026-06-24T02:17:46.2310000Z</dcterms:modified>
</coreProperties>
</file>